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34"/>
  </p:notesMasterIdLst>
  <p:handoutMasterIdLst>
    <p:handoutMasterId r:id="rId35"/>
  </p:handoutMasterIdLst>
  <p:sldIdLst>
    <p:sldId id="256" r:id="rId2"/>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9" autoAdjust="0"/>
    <p:restoredTop sz="95153"/>
  </p:normalViewPr>
  <p:slideViewPr>
    <p:cSldViewPr snapToGrid="0" snapToObjects="1">
      <p:cViewPr>
        <p:scale>
          <a:sx n="110" d="100"/>
          <a:sy n="110" d="100"/>
        </p:scale>
        <p:origin x="536" y="568"/>
      </p:cViewPr>
      <p:guideLst/>
    </p:cSldViewPr>
  </p:slideViewPr>
  <p:notesTextViewPr>
    <p:cViewPr>
      <p:scale>
        <a:sx n="1" d="1"/>
        <a:sy n="1" d="1"/>
      </p:scale>
      <p:origin x="0" y="0"/>
    </p:cViewPr>
  </p:notesTextViewPr>
  <p:notesViewPr>
    <p:cSldViewPr snapToGrid="0" snapToObjects="1">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F1 on the LEVIR-CD test set (%)</a:t>
            </a:r>
          </a:p>
        </c:rich>
      </c:tx>
      <c:layout/>
      <c:overlay val="0"/>
    </c:title>
    <c:autoTitleDeleted val="0"/>
    <c:plotArea>
      <c:barChart>
        <c:barDir val="bar"/>
        <c:grouping val="clustered"/>
        <c:ser>
          <c:idx val="0"/>
          <c:order val="0"/>
          <c:tx>
            <c:strRef>
              <c:f>Sheet1!$B$1</c:f>
              <c:strCache>
                <c:ptCount val="1"/>
                <c:pt idx="0">
                  <c:v>F1 (%)</c:v>
                </c:pt>
              </c:strCache>
            </c:strRef>
          </c:tx>
          <c:spPr>
            <a:solidFill>
              <a:srgbClr val="B8BEC6"/>
            </a:solidFill>
          </c:spPr>
          <c:dPt>
            <c:idx val="6"/>
            <c:spPr>
              <a:solidFill>
                <a:srgbClr val="C00000"/>
              </a:solidFill>
            </c:spPr>
          </c:dPt>
          <c:cat>
            <c:strRef>
              <c:f>Sheet1!$A$2:$A$8</c:f>
              <c:strCache>
                <c:ptCount val="7"/>
                <c:pt idx="0">
                  <c:v>FC-EF</c:v>
                </c:pt>
                <c:pt idx="1">
                  <c:v>FC-Siam-diff</c:v>
                </c:pt>
                <c:pt idx="2">
                  <c:v>STANet</c:v>
                </c:pt>
                <c:pt idx="3">
                  <c:v>SNUNet</c:v>
                </c:pt>
                <c:pt idx="4">
                  <c:v>BIT</c:v>
                </c:pt>
                <c:pt idx="5">
                  <c:v>ChangeFormer</c:v>
                </c:pt>
                <c:pt idx="6">
                  <c:v>Ours (v2)</c:v>
                </c:pt>
              </c:strCache>
            </c:strRef>
          </c:cat>
          <c:val>
            <c:numRef>
              <c:f>Sheet1!$B$2:$B$8</c:f>
              <c:numCache>
                <c:formatCode>General</c:formatCode>
                <c:ptCount val="7"/>
                <c:pt idx="0">
                  <c:v>83.4</c:v>
                </c:pt>
                <c:pt idx="1">
                  <c:v>86.31</c:v>
                </c:pt>
                <c:pt idx="2">
                  <c:v>87.26</c:v>
                </c:pt>
                <c:pt idx="3">
                  <c:v>88.16</c:v>
                </c:pt>
                <c:pt idx="4">
                  <c:v>89.31</c:v>
                </c:pt>
                <c:pt idx="5">
                  <c:v>90.4</c:v>
                </c:pt>
                <c:pt idx="6">
                  <c:v>91.17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94.0"/>
          <c:min val="80.0"/>
        </c:scaling>
        <c:delete val="0"/>
        <c:axPos val="b"/>
        <c:majorGridlines>
          <c:spPr>
            <a:ln>
              <a:solidFill>
                <a:srgbClr val="D9DCE1"/>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5F66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Learning curves (RGB + Canny model)</a:t>
            </a:r>
          </a:p>
        </c:rich>
      </c:tx>
      <c:layout/>
      <c:overlay val="0"/>
    </c:title>
    <c:autoTitleDeleted val="0"/>
    <c:plotArea>
      <c:lineChart>
        <c:grouping val="standard"/>
        <c:varyColors val="0"/>
        <c:ser>
          <c:idx val="0"/>
          <c:order val="0"/>
          <c:tx>
            <c:strRef>
              <c:f>Sheet1!$B$1</c:f>
              <c:strCache>
                <c:ptCount val="1"/>
                <c:pt idx="0">
                  <c:v>Validation F1</c:v>
                </c:pt>
              </c:strCache>
            </c:strRef>
          </c:tx>
          <c:spPr>
            <a:ln w="28575">
              <a:solidFill>
                <a:srgbClr val="C00000"/>
              </a:solidFill>
            </a:ln>
          </c:spPr>
          <c:marker>
            <c:symbol val="none"/>
          </c:marker>
          <c:cat>
            <c:numRef>
              <c:f>Sheet1!$A$2:$A$48</c:f>
              <c:numCache>
                <c:formatCode>General</c:formatCode>
                <c:ptCount val="4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numCache>
            </c:numRef>
          </c:cat>
          <c:val>
            <c:numRef>
              <c:f>Sheet1!$B$2:$B$48</c:f>
              <c:numCache>
                <c:formatCode>General</c:formatCode>
                <c:ptCount val="47"/>
                <c:pt idx="0">
                  <c:v>0.7972</c:v>
                </c:pt>
                <c:pt idx="1">
                  <c:v>0.8624</c:v>
                </c:pt>
                <c:pt idx="2">
                  <c:v>0.8513</c:v>
                </c:pt>
                <c:pt idx="3">
                  <c:v>0.8726</c:v>
                </c:pt>
                <c:pt idx="4">
                  <c:v>0.8737</c:v>
                </c:pt>
                <c:pt idx="5">
                  <c:v>0.881</c:v>
                </c:pt>
                <c:pt idx="6">
                  <c:v>0.884</c:v>
                </c:pt>
                <c:pt idx="7">
                  <c:v>0.8852</c:v>
                </c:pt>
                <c:pt idx="8">
                  <c:v>0.8906</c:v>
                </c:pt>
                <c:pt idx="9">
                  <c:v>0.8854</c:v>
                </c:pt>
                <c:pt idx="10">
                  <c:v>0.8863</c:v>
                </c:pt>
                <c:pt idx="11">
                  <c:v>0.8891</c:v>
                </c:pt>
                <c:pt idx="12">
                  <c:v>0.8972</c:v>
                </c:pt>
                <c:pt idx="13">
                  <c:v>0.8875</c:v>
                </c:pt>
                <c:pt idx="14">
                  <c:v>0.8861</c:v>
                </c:pt>
                <c:pt idx="15">
                  <c:v>0.8932</c:v>
                </c:pt>
                <c:pt idx="16">
                  <c:v>0.8997</c:v>
                </c:pt>
                <c:pt idx="17">
                  <c:v>0.8984</c:v>
                </c:pt>
                <c:pt idx="18">
                  <c:v>0.9008</c:v>
                </c:pt>
                <c:pt idx="19">
                  <c:v>0.8972</c:v>
                </c:pt>
                <c:pt idx="20">
                  <c:v>0.9061</c:v>
                </c:pt>
                <c:pt idx="21">
                  <c:v>0.9014</c:v>
                </c:pt>
                <c:pt idx="22">
                  <c:v>0.8968</c:v>
                </c:pt>
                <c:pt idx="23">
                  <c:v>0.8988</c:v>
                </c:pt>
                <c:pt idx="24">
                  <c:v>0.901</c:v>
                </c:pt>
                <c:pt idx="25">
                  <c:v>0.9033</c:v>
                </c:pt>
                <c:pt idx="26">
                  <c:v>0.9023</c:v>
                </c:pt>
                <c:pt idx="27">
                  <c:v>0.9025</c:v>
                </c:pt>
                <c:pt idx="28">
                  <c:v>0.9055</c:v>
                </c:pt>
                <c:pt idx="29">
                  <c:v>0.9034</c:v>
                </c:pt>
                <c:pt idx="30">
                  <c:v>0.9101</c:v>
                </c:pt>
                <c:pt idx="31">
                  <c:v>0.9107</c:v>
                </c:pt>
                <c:pt idx="32">
                  <c:v>0.9042</c:v>
                </c:pt>
                <c:pt idx="33">
                  <c:v>0.9062</c:v>
                </c:pt>
                <c:pt idx="34">
                  <c:v>0.9065</c:v>
                </c:pt>
                <c:pt idx="35">
                  <c:v>0.9063</c:v>
                </c:pt>
                <c:pt idx="36">
                  <c:v>0.9071</c:v>
                </c:pt>
                <c:pt idx="37">
                  <c:v>0.9081</c:v>
                </c:pt>
                <c:pt idx="38">
                  <c:v>0.9084</c:v>
                </c:pt>
                <c:pt idx="39">
                  <c:v>0.9067</c:v>
                </c:pt>
                <c:pt idx="40">
                  <c:v>0.907</c:v>
                </c:pt>
                <c:pt idx="41">
                  <c:v>0.9086</c:v>
                </c:pt>
                <c:pt idx="42">
                  <c:v>0.9075</c:v>
                </c:pt>
                <c:pt idx="43">
                  <c:v>0.9082</c:v>
                </c:pt>
                <c:pt idx="44">
                  <c:v>0.9084</c:v>
                </c:pt>
                <c:pt idx="45">
                  <c:v>0.9084</c:v>
                </c:pt>
                <c:pt idx="46">
                  <c:v>0.909</c:v>
                </c:pt>
              </c:numCache>
            </c:numRef>
          </c:val>
          <c:smooth val="0"/>
        </c:ser>
        <c:ser>
          <c:idx val="1"/>
          <c:order val="1"/>
          <c:tx>
            <c:strRef>
              <c:f>Sheet1!$C$1</c:f>
              <c:strCache>
                <c:ptCount val="1"/>
                <c:pt idx="0">
                  <c:v>Training loss</c:v>
                </c:pt>
              </c:strCache>
            </c:strRef>
          </c:tx>
          <c:spPr>
            <a:ln w="28575">
              <a:solidFill>
                <a:srgbClr val="262B33"/>
              </a:solidFill>
            </a:ln>
          </c:spPr>
          <c:marker>
            <c:symbol val="none"/>
          </c:marker>
          <c:cat>
            <c:numRef>
              <c:f>Sheet1!$A$2:$A$48</c:f>
              <c:numCache>
                <c:formatCode>General</c:formatCode>
                <c:ptCount val="4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numCache>
            </c:numRef>
          </c:cat>
          <c:val>
            <c:numRef>
              <c:f>Sheet1!$C$2:$C$48</c:f>
              <c:numCache>
                <c:formatCode>General</c:formatCode>
                <c:ptCount val="47"/>
                <c:pt idx="0">
                  <c:v>1.275</c:v>
                </c:pt>
                <c:pt idx="1">
                  <c:v>1.0189</c:v>
                </c:pt>
                <c:pt idx="2">
                  <c:v>0.8587</c:v>
                </c:pt>
                <c:pt idx="3">
                  <c:v>0.7342</c:v>
                </c:pt>
                <c:pt idx="4">
                  <c:v>0.6393</c:v>
                </c:pt>
                <c:pt idx="5">
                  <c:v>0.5356</c:v>
                </c:pt>
                <c:pt idx="6">
                  <c:v>0.4789</c:v>
                </c:pt>
                <c:pt idx="7">
                  <c:v>0.4251</c:v>
                </c:pt>
                <c:pt idx="8">
                  <c:v>0.386</c:v>
                </c:pt>
                <c:pt idx="9">
                  <c:v>0.3593</c:v>
                </c:pt>
                <c:pt idx="10">
                  <c:v>0.3338</c:v>
                </c:pt>
                <c:pt idx="11">
                  <c:v>0.3161</c:v>
                </c:pt>
                <c:pt idx="12">
                  <c:v>0.3071</c:v>
                </c:pt>
                <c:pt idx="13">
                  <c:v>0.2872</c:v>
                </c:pt>
                <c:pt idx="14">
                  <c:v>0.2583</c:v>
                </c:pt>
                <c:pt idx="15">
                  <c:v>0.2509</c:v>
                </c:pt>
                <c:pt idx="16">
                  <c:v>0.256</c:v>
                </c:pt>
                <c:pt idx="17">
                  <c:v>0.2392</c:v>
                </c:pt>
                <c:pt idx="18">
                  <c:v>0.2288</c:v>
                </c:pt>
                <c:pt idx="19">
                  <c:v>0.2281</c:v>
                </c:pt>
                <c:pt idx="20">
                  <c:v>0.2341</c:v>
                </c:pt>
                <c:pt idx="21">
                  <c:v>0.2144</c:v>
                </c:pt>
                <c:pt idx="22">
                  <c:v>0.1992</c:v>
                </c:pt>
                <c:pt idx="23">
                  <c:v>0.2172</c:v>
                </c:pt>
                <c:pt idx="24">
                  <c:v>0.2139</c:v>
                </c:pt>
                <c:pt idx="25">
                  <c:v>0.214</c:v>
                </c:pt>
                <c:pt idx="26">
                  <c:v>0.199</c:v>
                </c:pt>
                <c:pt idx="27">
                  <c:v>0.1823</c:v>
                </c:pt>
                <c:pt idx="28">
                  <c:v>0.2062</c:v>
                </c:pt>
                <c:pt idx="29">
                  <c:v>0.1869</c:v>
                </c:pt>
                <c:pt idx="30">
                  <c:v>0.2046</c:v>
                </c:pt>
                <c:pt idx="31">
                  <c:v>0.1908</c:v>
                </c:pt>
                <c:pt idx="32">
                  <c:v>0.1949</c:v>
                </c:pt>
                <c:pt idx="33">
                  <c:v>0.1775</c:v>
                </c:pt>
                <c:pt idx="34">
                  <c:v>0.1818</c:v>
                </c:pt>
                <c:pt idx="35">
                  <c:v>0.1772</c:v>
                </c:pt>
                <c:pt idx="36">
                  <c:v>0.1816</c:v>
                </c:pt>
                <c:pt idx="37">
                  <c:v>0.172</c:v>
                </c:pt>
                <c:pt idx="38">
                  <c:v>0.1833</c:v>
                </c:pt>
                <c:pt idx="39">
                  <c:v>0.199</c:v>
                </c:pt>
                <c:pt idx="40">
                  <c:v>0.182</c:v>
                </c:pt>
                <c:pt idx="41">
                  <c:v>0.1799</c:v>
                </c:pt>
                <c:pt idx="42">
                  <c:v>0.1729</c:v>
                </c:pt>
                <c:pt idx="43">
                  <c:v>0.178</c:v>
                </c:pt>
                <c:pt idx="44">
                  <c:v>0.1704</c:v>
                </c:pt>
                <c:pt idx="45">
                  <c:v>0.1759</c:v>
                </c:pt>
                <c:pt idx="46">
                  <c:v>0.1729</c:v>
                </c:pt>
              </c:numCache>
            </c:numRef>
          </c:val>
          <c:smooth val="0"/>
        </c:ser>
        <c:marker val="1"/>
        <c:smooth val="0"/>
        <c:axId val="2118791784"/>
        <c:axId val="2140495176"/>
      </c:lineChart>
      <c:catAx>
        <c:axId val="2118791784"/>
        <c:scaling>
          <c:orientation val="minMax"/>
        </c:scaling>
        <c:delete val="0"/>
        <c:axPos val="b"/>
        <c:title>
          <c:tx>
            <c:rich>
              <a:bodyPr/>
              <a:lstStyle/>
              <a:p>
                <a:r>
                  <a:rPr sz="1100"/>
                  <a:t>Epoch</a:t>
                </a:r>
              </a:p>
            </c:rich>
          </c:tx>
          <c:layout/>
          <c:overlay val="0"/>
        </c:title>
        <c:majorTickMark val="out"/>
        <c:minorTickMark val="none"/>
        <c:tickLblPos val="nextTo"/>
        <c:txPr>
          <a:bodyPr/>
          <a:lstStyle/>
          <a:p>
            <a:pPr>
              <a:defRPr sz="1000"/>
            </a:pPr>
          </a:p>
        </c:txPr>
        <c:crossAx val="2140495176"/>
        <c:crosses val="autoZero"/>
        <c:auto val="1"/>
        <c:lblAlgn val="ctr"/>
        <c:lblOffset val="100"/>
        <c:noMultiLvlLbl val="0"/>
        <c:tickLblSkip val="5"/>
        <c:tickMarkSkip val="5"/>
      </c:catAx>
      <c:valAx>
        <c:axId val="2140495176"/>
        <c:scaling>
          <c:max val="1.4"/>
          <c:min val="0.0"/>
        </c:scaling>
        <c:delete val="0"/>
        <c:axPos val="l"/>
        <c:majorGridlines>
          <c:spPr>
            <a:ln>
              <a:solidFill>
                <a:srgbClr val="D9DCE1"/>
              </a:solidFill>
            </a:ln>
          </c:spPr>
        </c:majorGridlines>
        <c:majorTickMark val="out"/>
        <c:minorTickMark val="none"/>
        <c:tickLblPos val="nextTo"/>
        <c:txPr>
          <a:bodyPr/>
          <a:lstStyle/>
          <a:p>
            <a:pPr>
              <a:defRPr sz="10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5F667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0F265C-9DF2-E8FB-C281-49A95720C62B}"/>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C688A12-072E-E9DD-75D8-792036B5CAB6}"/>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A85F0298-9D9B-42EE-9FBC-5BF5BA8C94E8}" type="datetimeFigureOut">
              <a:rPr lang="en-GB" smtClean="0"/>
              <a:t>29/09/2026</a:t>
            </a:fld>
            <a:endParaRPr lang="en-GB"/>
          </a:p>
        </p:txBody>
      </p:sp>
      <p:sp>
        <p:nvSpPr>
          <p:cNvPr id="4" name="Footer Placeholder 3">
            <a:extLst>
              <a:ext uri="{FF2B5EF4-FFF2-40B4-BE49-F238E27FC236}">
                <a16:creationId xmlns:a16="http://schemas.microsoft.com/office/drawing/2014/main" id="{A4286D79-EFC6-014D-40F3-68F8FB024E05}"/>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0CA9D36-8240-DBBB-128E-9E573BE9AC2B}"/>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83C436C1-A97E-48B9-A38A-E4B8449736C9}" type="slidenum">
              <a:rPr lang="en-GB" smtClean="0"/>
              <a:t>‹#›</a:t>
            </a:fld>
            <a:endParaRPr lang="en-GB"/>
          </a:p>
        </p:txBody>
      </p:sp>
    </p:spTree>
    <p:extLst>
      <p:ext uri="{BB962C8B-B14F-4D97-AF65-F5344CB8AC3E}">
        <p14:creationId xmlns:p14="http://schemas.microsoft.com/office/powerpoint/2010/main" val="1291430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76F15EC-E103-EA4C-8F3D-F70BFBFE368F}" type="datetimeFigureOut">
              <a:rPr lang="en-BD" smtClean="0"/>
              <a:t>9/29/26</a:t>
            </a:fld>
            <a:endParaRPr lang="en-BD"/>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915D39E-BF79-5044-9B9C-292D64001D90}" type="slidenum">
              <a:rPr lang="en-BD" smtClean="0"/>
              <a:t>‹#›</a:t>
            </a:fld>
            <a:endParaRPr lang="en-BD"/>
          </a:p>
        </p:txBody>
      </p:sp>
    </p:spTree>
    <p:extLst>
      <p:ext uri="{BB962C8B-B14F-4D97-AF65-F5344CB8AC3E}">
        <p14:creationId xmlns:p14="http://schemas.microsoft.com/office/powerpoint/2010/main" val="130034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21 s]</a:t>
            </a:r>
          </a:p>
          <a:p/>
          <a:p>
            <a:r>
              <a:t>Assalamu Alaikum. We are Group 04 from Section B2 of EEE 312, Digital Signal Processing One Laboratory. Our project is Digital Signal Processing and Deep Learning-Based Urban Change Detection Using Satellite Imagery. I am Fahim Shahriyar, and my teammates are Mustasin Rahman, Md. Ahasan Habib Kawsar and Md. Kawsar Ahmed.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13 s]</a:t>
            </a:r>
          </a:p>
          <a:p/>
          <a:p>
            <a:r>
              <a:t>We will first summarise the project and the problem, then explain our design, show the working software, evaluate it against the program outcomes, and finish with teamwork, future work and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36 s]</a:t>
            </a:r>
          </a:p>
          <a:p/>
          <a:p>
            <a:r>
              <a:t>Our system takes two satellite images of the same place, taken years apart, and marks every pixel where a new building has appeared. A Gaussian filter and the Canny edge detector extract structural edges, which we add to the colour image as a fourth channel. A Siamese neural network with attention then compares the two dates. On 128 unseen test images of the LEVIR-CD dataset, it reaches an F1-score of 91.2 percent and an IoU of 83.8 percent, and it runs in a desktop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34 s]</a:t>
            </a:r>
          </a:p>
          <a:p/>
          <a:p>
            <a:r>
              <a:t>Cities like Dhaka grow faster than manual surveys can map them. Planners need to know where new buildings appear: unauthorised construction, encroachment on wetlands, or damage after a disaster. The task is hard for three reasons: shadows, seasons and sensor colour change the image even when nothing is built; only about 4.6 percent of pixels actually change; and a house is only ten to twenty pixels wide. On the right, an empty field has become a row of warehouses.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[Fahim Shahriyar (2206114) · about 33 s]</a:t>
            </a:r>
          </a:p>
          <a:p/>
          <a:p>
            <a:r>
              <a:t>Early methods simply subtracted the two images, which is very sensitive to lighting. Siamese networks pass both images through the same encoder; STANet added attention and published LEVIR-CD, and transformers such as BIT and ChangeFormer pushed F1 above 89 percent. Our aim was a lighter design that trains on a laptop and adds an explicit DSP edge channel. The chart compares our test F1 with published results; our inference settings differ slightly, so it is an indicative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30 s]</a:t>
            </a:r>
          </a:p>
          <a:p/>
          <a:p>
            <a:r>
              <a:t>I am Mustasin Rahman, and I will explain the design. This is the complete pipeline. The before and after images first pass through our DSP front-end, shown in red: grayscale conversion, Gaussian smoothing and Canny edge detection. The edge map is stacked with the colour channels and standardised. The dark blocks are the deep-learning stages: a shared ResNet-34 encoder, attention-based fusion, and a U-Net decoder that produces the change 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36 s]</a:t>
            </a:r>
          </a:p>
          <a:p/>
          <a:p>
            <a:r>
              <a:t>Here is each DSP stage on a real image. We convolve the grayscale image with a five-by-five Gaussian kernel, sigma equal to one; this low-pass filter removes noise that would create false edges. Canny then computes Sobel gradients, thins edges by non-maximum suppression, and applies hysteresis thresholds of 50 and 150. Finally, every channel is standardised to zero mean and unit variance. This was critical: in our first version the edge channel was 255 times weaker than the colour channels, so the network ignored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35 s]</a:t>
            </a:r>
          </a:p>
          <a:p/>
          <a:p>
            <a:r>
              <a:t>I am Md. Ahasan Habib Kawsar, and I will explain the network. Both four-channel images pass through the same pre-trained ResNet-34 encoder, giving features at five scales, and at every scale a fusion block compares the two dates. The decoder rebuilds a full-resolution change map. An edge head predicts the outlines of changed buildings and feeds them into the decoder, which sharpens boundaries. Large images are predicted as overlapping 256-pixel tiles, so the network always works at the original half-metre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27 s]</a:t>
            </a:r>
          </a:p>
          <a:p/>
          <a:p>
            <a:r>
              <a:t>The attention module places both dates side by side, so every pixel can attend to every pixel of both images. The fusion block keeps the before features, the after features and their absolute difference. The loss adds binary cross-entropy, Dice loss for the class imbalance, and a class-balanced edge loss. We evaluate with precision, recall, F1 and IoU over all test pixels.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26 s]</a:t>
            </a:r>
          </a:p>
          <a:p/>
          <a:p>
            <a:r>
              <a:t>We train on random 256-pixel crops of the full-resolution images, so small buildings keep their detail. Both dates are flipped and rotated together, while brightness and colour are changed separately, so lighting differences are not learned as change. Training ran on a MacBook GPU; validation F1 reached 0.91 at epoch 32. The threshold, 0.41, was chosen on the validation set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44 s]</a:t>
            </a:r>
          </a:p>
          <a:p/>
          <a:p>
            <a:r>
              <a:t>I am Md. Kawsar Ahmed, and I will show the software. This is our PyQt5 desktop application. We load the before image, the after image and, optionally, the ground truth, and press Run Inference. The model runs in a background thread, so the window never freezes. The bottom row shows the change probability, the final mask, and the detected buildings in red on the after image. When I move the threshold slider, the mask and the metrics update instantly. For this test image, F1 is 95.8 percent and IoU is 91.9 percent. Post-processing removes small noise and straightens building outlines into polygons.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24 s]</a:t>
            </a:r>
          </a:p>
          <a:p/>
          <a:p>
            <a:r>
              <a:t>Here are three more test results. From left to right: before, after, ground truth, probability, prediction, and an error map, where white is correct, red is a false alarm and cyan is a miss. The outlines are sharp, and even closely spaced houses in a new housing estate are separated, with F1 between 0.92 and 0.98.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25 s]</a:t>
            </a:r>
          </a:p>
          <a:p/>
          <a:p>
            <a:r>
              <a:t>On all 128 test images, the final model reaches 91.8 percent precision, 90.6 percent recall, 91.2 percent F1 and 83.8 percent IoU; that is 14 F1 points and 21 IoU points above our first version. False alarms and misses are balanced, and the validation threshold is almost exactly the best test threshold, so the result is not over-tuned.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24 s]</a:t>
            </a:r>
          </a:p>
          <a:p/>
          <a:p>
            <a:r>
              <a:t>Our design is novel in four ways: a standardised DSP edge channel fused with colour inside a pre-trained encoder; attention and difference-based fusion at every scale; an edge-guided decoder supervised with a Sobel operator; and native-resolution deployment in a real-time application. Finding and fixing three silent bugs in our first version added 14 F1 points.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36 s]</a:t>
            </a:r>
          </a:p>
          <a:p/>
          <a:p>
            <a:r>
              <a:t>For public health and safety, the system can flag unauthorised construction in flood-prone or earthquake-risk areas, and map damage quickly after a disaster. Because a missed building could hide a hazard, the output is decision support, and a human always verifies it. Environmentally, it monitors encroachment on wetlands and farmland without field trips. For society, it can support city planners, and the threshold slider lets users choose between fewer false alarms and fewer misses. It must not be used to target informal settlements.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Ahasan Habib Kawsar (2206119) · about 26 s]</a:t>
            </a:r>
          </a:p>
          <a:p/>
          <a:p>
            <a:r>
              <a:t>A controlled test showed that our old attention module changed an image's output by 0.24 depending on the other images in its batch; now the difference is zero. Theory predicts IoU equals F1 over two minus F1, which gives 0.8377; we measured 0.8378. In our worst test image, tiny mobile homes are missed and re-roofed buildings are mistaken for new ones.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30 s]</a:t>
            </a:r>
          </a:p>
          <a:p/>
          <a:p>
            <a:r>
              <a:t>Our tools have limits. Training on a laptop GPU restricted the batch size to four and took about five hours. LEVIR-CD contains only buildings in American cities at half-metre resolution, so dense Bangladeshi areas are a domain shift. Canny thresholds are fixed, objects smaller than about two metres are unreliable, and badly aligned image pairs cause false alarms. We reduced these effects with native-resolution tiling, test-time augmentation and a validation-selected threshold.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[Mustasin Rahman (2206104) · about 26 s]</a:t>
            </a:r>
          </a:p>
          <a:p/>
          <a:p>
            <a:r>
              <a:t>On ethics: we used the public LEVIR-CD dataset under its licence and cite every source. High-resolution imagery can reveal private property, so the intended use is planning and disaster response, not surveillance. We never used the test set for tuning, and we report our earlier bugs and failure cases openly. Our use of AI coding assistance is disclosed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23 s]</a:t>
            </a:r>
          </a:p>
          <a:p/>
          <a:p>
            <a:r>
              <a:t>Each member led one part. Mustasin prepared the data and the DSP pre-processing, Fahim led the literature review and the error analysis, Ahasan designed and trained the network, and I built the GUI and the inference pipeline. We met weekly, shared one code folder, and every module was reviewed by a second member.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11 s]</a:t>
            </a:r>
          </a:p>
          <a:p/>
          <a:p>
            <a:r>
              <a:t>Our code, the trained model and a user manual are available on GitHub, and this video is on YouTube. The links are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21 s]</a:t>
            </a:r>
          </a:p>
          <a:p/>
          <a:p>
            <a:r>
              <a:t>First, we will finish the RGB-only comparison to measure exactly how much the edge channel adds. We also want to label image pairs from Dhaka and Purbachal, detect roads and demolition as separate classes, try transformer backbones and longer image time series, and turn the tool into a GIS plug-in.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 Kawsar Ahmed (2206122) · about 3 s]</a:t>
            </a:r>
          </a:p>
          <a:p/>
          <a:p>
            <a:r>
              <a:t>These are our references.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GB" dirty="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1" name="Footer Placeholder 20"/>
          <p:cNvSpPr>
            <a:spLocks noGrp="1"/>
          </p:cNvSpPr>
          <p:nvPr>
            <p:ph type="ftr" sz="quarter" idx="11"/>
          </p:nvPr>
        </p:nvSpPr>
        <p:spPr>
          <a:xfrm>
            <a:off x="1453896" y="5211060"/>
            <a:ext cx="5905500" cy="228600"/>
          </a:xfrm>
          <a:prstGeom prst="rect">
            <a:avLst/>
          </a:prstGeom>
        </p:spPr>
        <p:txBody>
          <a:bodyPr/>
          <a:lstStyle>
            <a:lvl1pPr algn="l">
              <a:defRPr>
                <a:solidFill>
                  <a:schemeClr val="tx1">
                    <a:lumMod val="75000"/>
                    <a:lumOff val="25000"/>
                  </a:schemeClr>
                </a:solidFill>
              </a:defRPr>
            </a:lvl1pPr>
          </a:lstStyle>
          <a:p>
            <a:r>
              <a:rPr lang="en-GB"/>
              <a:t>Title of the Project</a:t>
            </a:r>
            <a:endParaRPr lang="en-BD"/>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E9C29D53-9981-884B-B5B6-B5743DF81FD1}" type="slidenum">
              <a:rPr lang="en-BD" smtClean="0"/>
              <a:t>‹#›</a:t>
            </a:fld>
            <a:endParaRPr lang="en-BD"/>
          </a:p>
        </p:txBody>
      </p:sp>
      <p:sp>
        <p:nvSpPr>
          <p:cNvPr id="23" name="Rectangle 22">
            <a:extLst>
              <a:ext uri="{FF2B5EF4-FFF2-40B4-BE49-F238E27FC236}">
                <a16:creationId xmlns:a16="http://schemas.microsoft.com/office/drawing/2014/main" id="{ACC9C879-EF2D-BA4E-B6A9-D4377737278E}"/>
              </a:ext>
            </a:extLst>
          </p:cNvPr>
          <p:cNvSpPr/>
          <p:nvPr userDrawn="1"/>
        </p:nvSpPr>
        <p:spPr>
          <a:xfrm>
            <a:off x="0" y="0"/>
            <a:ext cx="12192000" cy="15622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dirty="0">
                <a:latin typeface="Arial" panose="020B0604020202020204" pitchFamily="34" charset="0"/>
                <a:cs typeface="Arial" panose="020B0604020202020204" pitchFamily="34" charset="0"/>
              </a:rPr>
              <a:t>EEE </a:t>
            </a:r>
            <a:r>
              <a:rPr lang="en-US" sz="2400" dirty="0">
                <a:latin typeface="Arial" panose="020B0604020202020204" pitchFamily="34" charset="0"/>
                <a:cs typeface="Arial" panose="020B0604020202020204" pitchFamily="34" charset="0"/>
              </a:rPr>
              <a:t>312</a:t>
            </a:r>
            <a:r>
              <a:rPr lang="en-BD" sz="2400" dirty="0">
                <a:latin typeface="Arial" panose="020B0604020202020204" pitchFamily="34" charset="0"/>
                <a:cs typeface="Arial" panose="020B0604020202020204" pitchFamily="34" charset="0"/>
              </a:rPr>
              <a:t> – </a:t>
            </a:r>
            <a:r>
              <a:rPr lang="en-US" sz="2400" dirty="0">
                <a:latin typeface="Arial" panose="020B0604020202020204" pitchFamily="34" charset="0"/>
                <a:cs typeface="Arial" panose="020B0604020202020204" pitchFamily="34" charset="0"/>
              </a:rPr>
              <a:t>Digital Signal Processing I</a:t>
            </a:r>
            <a:r>
              <a:rPr lang="en-BD" sz="2400" dirty="0">
                <a:latin typeface="Arial" panose="020B0604020202020204" pitchFamily="34" charset="0"/>
                <a:cs typeface="Arial" panose="020B0604020202020204" pitchFamily="34" charset="0"/>
              </a:rPr>
              <a:t> Laboratory</a:t>
            </a:r>
          </a:p>
          <a:p>
            <a:pPr marL="0" marR="0" lvl="0" indent="0" algn="ctr" defTabSz="457200" rtl="0" eaLnBrk="1" fontAlgn="auto" latinLnBrk="0" hangingPunct="1">
              <a:lnSpc>
                <a:spcPct val="100000"/>
              </a:lnSpc>
              <a:spcBef>
                <a:spcPts val="0"/>
              </a:spcBef>
              <a:spcAft>
                <a:spcPts val="0"/>
              </a:spcAft>
              <a:buClrTx/>
              <a:buSzTx/>
              <a:buFontTx/>
              <a:buNone/>
              <a:tabLst/>
              <a:defRPr/>
            </a:pPr>
            <a:r>
              <a:rPr lang="en-BD" sz="2800" dirty="0">
                <a:latin typeface="Arial" panose="020B0604020202020204" pitchFamily="34" charset="0"/>
                <a:cs typeface="Arial" panose="020B0604020202020204" pitchFamily="34" charset="0"/>
              </a:rPr>
              <a:t>January 202</a:t>
            </a:r>
            <a:r>
              <a:rPr lang="en-US" sz="2800" dirty="0">
                <a:latin typeface="Arial" panose="020B0604020202020204" pitchFamily="34" charset="0"/>
                <a:cs typeface="Arial" panose="020B0604020202020204" pitchFamily="34" charset="0"/>
              </a:rPr>
              <a:t>6 </a:t>
            </a:r>
            <a:r>
              <a:rPr lang="en-BD" sz="2800" dirty="0">
                <a:latin typeface="Arial" panose="020B0604020202020204" pitchFamily="34" charset="0"/>
                <a:cs typeface="Arial" panose="020B0604020202020204" pitchFamily="34" charset="0"/>
              </a:rPr>
              <a:t>Level-</a:t>
            </a:r>
            <a:r>
              <a:rPr lang="en-US" sz="2800" dirty="0">
                <a:latin typeface="Arial" panose="020B0604020202020204" pitchFamily="34" charset="0"/>
                <a:cs typeface="Arial" panose="020B0604020202020204" pitchFamily="34" charset="0"/>
              </a:rPr>
              <a:t>3</a:t>
            </a:r>
            <a:r>
              <a:rPr lang="en-BD" sz="2800" dirty="0">
                <a:latin typeface="Arial" panose="020B0604020202020204" pitchFamily="34" charset="0"/>
                <a:cs typeface="Arial" panose="020B0604020202020204" pitchFamily="34" charset="0"/>
              </a:rPr>
              <a:t> Term-I Section </a:t>
            </a:r>
            <a:r>
              <a:rPr lang="en-US" sz="2800" dirty="0">
                <a:latin typeface="Arial" panose="020B0604020202020204" pitchFamily="34" charset="0"/>
                <a:cs typeface="Arial" panose="020B0604020202020204" pitchFamily="34" charset="0"/>
              </a:rPr>
              <a:t>B2</a:t>
            </a:r>
            <a:endParaRPr lang="en-BD" sz="2800" dirty="0">
              <a:latin typeface="Arial" panose="020B0604020202020204" pitchFamily="34" charset="0"/>
              <a:cs typeface="Arial" panose="020B0604020202020204" pitchFamily="34" charset="0"/>
            </a:endParaRPr>
          </a:p>
          <a:p>
            <a:pPr algn="ctr"/>
            <a:r>
              <a:rPr lang="en-BD" sz="3600" dirty="0">
                <a:latin typeface="Arial" panose="020B0604020202020204" pitchFamily="34" charset="0"/>
                <a:cs typeface="Arial" panose="020B0604020202020204" pitchFamily="34" charset="0"/>
              </a:rPr>
              <a:t>Project Demonstration</a:t>
            </a:r>
          </a:p>
        </p:txBody>
      </p:sp>
      <p:sp>
        <p:nvSpPr>
          <p:cNvPr id="24" name="Rectangle 23">
            <a:extLst>
              <a:ext uri="{FF2B5EF4-FFF2-40B4-BE49-F238E27FC236}">
                <a16:creationId xmlns:a16="http://schemas.microsoft.com/office/drawing/2014/main" id="{A799C6A4-662A-4C47-AB70-4A7A449F40AE}"/>
              </a:ext>
            </a:extLst>
          </p:cNvPr>
          <p:cNvSpPr/>
          <p:nvPr userDrawn="1"/>
        </p:nvSpPr>
        <p:spPr>
          <a:xfrm>
            <a:off x="0" y="5968657"/>
            <a:ext cx="12192000" cy="889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865755" algn="ctr"/>
                <a:tab pos="5731510" algn="r"/>
              </a:tabLst>
            </a:pP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Bangladesh University of Engineering and Technology</a:t>
            </a:r>
            <a:endParaRPr lang="en-GB" sz="1800" dirty="0">
              <a:effectLst/>
              <a:latin typeface="Arial" panose="020B0604020202020204" pitchFamily="34" charset="0"/>
              <a:ea typeface="Times New Roman" panose="02020603050405020304" pitchFamily="18" charset="0"/>
              <a:cs typeface="Arial" panose="020B0604020202020204" pitchFamily="34" charset="0"/>
            </a:endParaRPr>
          </a:p>
          <a:p>
            <a:pPr algn="ctr"/>
            <a:r>
              <a:rPr lang="en-US" sz="1800" cap="small" spc="160" dirty="0">
                <a:effectLst/>
                <a:latin typeface="Arial" panose="020B0604020202020204" pitchFamily="34" charset="0"/>
                <a:ea typeface="Times New Roman" panose="02020603050405020304" pitchFamily="18" charset="0"/>
                <a:cs typeface="Arial" panose="020B0604020202020204" pitchFamily="34" charset="0"/>
              </a:rPr>
              <a:t>Department of Electrical and Electronic Engineering</a:t>
            </a:r>
            <a:endParaRPr lang="en-BD" sz="2400" dirty="0">
              <a:latin typeface="Arial" panose="020B0604020202020204" pitchFamily="34" charset="0"/>
              <a:cs typeface="Arial" panose="020B0604020202020204" pitchFamily="34" charset="0"/>
            </a:endParaRPr>
          </a:p>
        </p:txBody>
      </p:sp>
      <p:pic>
        <p:nvPicPr>
          <p:cNvPr id="9" name="Graphic 8">
            <a:extLst>
              <a:ext uri="{FF2B5EF4-FFF2-40B4-BE49-F238E27FC236}">
                <a16:creationId xmlns:a16="http://schemas.microsoft.com/office/drawing/2014/main" id="{89B5FDC4-269D-0A46-8DED-E482158D83E5}"/>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84048"/>
          <a:stretch/>
        </p:blipFill>
        <p:spPr>
          <a:xfrm>
            <a:off x="1682496" y="6046044"/>
            <a:ext cx="793630" cy="734567"/>
          </a:xfrm>
          <a:prstGeom prst="rect">
            <a:avLst/>
          </a:prstGeom>
        </p:spPr>
      </p:pic>
    </p:spTree>
    <p:extLst>
      <p:ext uri="{BB962C8B-B14F-4D97-AF65-F5344CB8AC3E}">
        <p14:creationId xmlns:p14="http://schemas.microsoft.com/office/powerpoint/2010/main" val="446892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C9649038-E67C-F32D-3A4E-49766B9CE12F}"/>
              </a:ext>
            </a:extLst>
          </p:cNvPr>
          <p:cNvSpPr>
            <a:spLocks noGrp="1"/>
          </p:cNvSpPr>
          <p:nvPr>
            <p:ph type="dt" sz="half" idx="10"/>
          </p:nvPr>
        </p:nvSpPr>
        <p:spPr/>
        <p:txBody>
          <a:bodyPr/>
          <a:lstStyle/>
          <a:p>
            <a:r>
              <a:rPr lang="en-US"/>
              <a:t>EEE 416 (2022) – Final Project Group A.XY</a:t>
            </a:r>
            <a:endParaRPr lang="en-BD" dirty="0"/>
          </a:p>
        </p:txBody>
      </p:sp>
      <p:sp>
        <p:nvSpPr>
          <p:cNvPr id="5" name="Footer Placeholder 4">
            <a:extLst>
              <a:ext uri="{FF2B5EF4-FFF2-40B4-BE49-F238E27FC236}">
                <a16:creationId xmlns:a16="http://schemas.microsoft.com/office/drawing/2014/main" id="{D54079AD-4F4B-2A08-E54B-560665B9ABE1}"/>
              </a:ext>
            </a:extLst>
          </p:cNvPr>
          <p:cNvSpPr>
            <a:spLocks noGrp="1"/>
          </p:cNvSpPr>
          <p:nvPr>
            <p:ph type="ftr" sz="quarter" idx="11"/>
          </p:nvPr>
        </p:nvSpPr>
        <p:spPr/>
        <p:txBody>
          <a:bodyPr/>
          <a:lstStyle/>
          <a:p>
            <a:pPr algn="ctr"/>
            <a:r>
              <a:rPr lang="en-BD"/>
              <a:t>Title of the Project</a:t>
            </a:r>
            <a:endParaRPr lang="en-BD" dirty="0"/>
          </a:p>
        </p:txBody>
      </p:sp>
      <p:sp>
        <p:nvSpPr>
          <p:cNvPr id="6" name="Slide Number Placeholder 5">
            <a:extLst>
              <a:ext uri="{FF2B5EF4-FFF2-40B4-BE49-F238E27FC236}">
                <a16:creationId xmlns:a16="http://schemas.microsoft.com/office/drawing/2014/main" id="{B2FBC4AE-B903-2951-368D-1CD59AE1F142}"/>
              </a:ext>
            </a:extLst>
          </p:cNvPr>
          <p:cNvSpPr>
            <a:spLocks noGrp="1"/>
          </p:cNvSpPr>
          <p:nvPr>
            <p:ph type="sldNum" sz="quarter" idx="12"/>
          </p:nvPr>
        </p:nvSpPr>
        <p:spPr/>
        <p:txBody>
          <a:bodyPr/>
          <a:lstStyle/>
          <a:p>
            <a:fld id="{E9C29D53-9981-884B-B5B6-B5743DF81FD1}" type="slidenum">
              <a:rPr lang="en-BD" smtClean="0"/>
              <a:pPr/>
              <a:t>‹#›</a:t>
            </a:fld>
            <a:endParaRPr lang="en-BD" dirty="0"/>
          </a:p>
        </p:txBody>
      </p:sp>
    </p:spTree>
    <p:extLst>
      <p:ext uri="{BB962C8B-B14F-4D97-AF65-F5344CB8AC3E}">
        <p14:creationId xmlns:p14="http://schemas.microsoft.com/office/powerpoint/2010/main" val="321943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Slide Number Placeholder 6"/>
          <p:cNvSpPr>
            <a:spLocks noGrp="1"/>
          </p:cNvSpPr>
          <p:nvPr>
            <p:ph type="sldNum" sz="quarter" idx="12"/>
          </p:nvPr>
        </p:nvSpPr>
        <p:spPr/>
        <p:txBody>
          <a:bodyPr/>
          <a:lstStyle/>
          <a:p>
            <a:fld id="{E9C29D53-9981-884B-B5B6-B5743DF81FD1}" type="slidenum">
              <a:rPr lang="en-BD" smtClean="0"/>
              <a:t>‹#›</a:t>
            </a:fld>
            <a:endParaRPr lang="en-BD"/>
          </a:p>
        </p:txBody>
      </p:sp>
      <p:sp>
        <p:nvSpPr>
          <p:cNvPr id="9" name="Date Placeholder 5">
            <a:extLst>
              <a:ext uri="{FF2B5EF4-FFF2-40B4-BE49-F238E27FC236}">
                <a16:creationId xmlns:a16="http://schemas.microsoft.com/office/drawing/2014/main" id="{7A532869-E847-B04C-9454-B1BBC68D6D5E}"/>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0" name="Footer Placeholder 6">
            <a:extLst>
              <a:ext uri="{FF2B5EF4-FFF2-40B4-BE49-F238E27FC236}">
                <a16:creationId xmlns:a16="http://schemas.microsoft.com/office/drawing/2014/main" id="{39C3B094-71D1-654C-855E-07B8BFC1B41C}"/>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4237455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Slide Number Placeholder 8"/>
          <p:cNvSpPr>
            <a:spLocks noGrp="1"/>
          </p:cNvSpPr>
          <p:nvPr>
            <p:ph type="sldNum" sz="quarter" idx="12"/>
          </p:nvPr>
        </p:nvSpPr>
        <p:spPr/>
        <p:txBody>
          <a:bodyPr/>
          <a:lstStyle/>
          <a:p>
            <a:fld id="{E9C29D53-9981-884B-B5B6-B5743DF81FD1}" type="slidenum">
              <a:rPr lang="en-BD" smtClean="0"/>
              <a:t>‹#›</a:t>
            </a:fld>
            <a:endParaRPr lang="en-BD"/>
          </a:p>
        </p:txBody>
      </p:sp>
      <p:sp>
        <p:nvSpPr>
          <p:cNvPr id="10" name="Date Placeholder 5">
            <a:extLst>
              <a:ext uri="{FF2B5EF4-FFF2-40B4-BE49-F238E27FC236}">
                <a16:creationId xmlns:a16="http://schemas.microsoft.com/office/drawing/2014/main" id="{3AA596F9-6385-224E-8B6A-509678335D14}"/>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11" name="Footer Placeholder 6">
            <a:extLst>
              <a:ext uri="{FF2B5EF4-FFF2-40B4-BE49-F238E27FC236}">
                <a16:creationId xmlns:a16="http://schemas.microsoft.com/office/drawing/2014/main" id="{1CB05F73-B36B-5A48-81EA-E76B135758B3}"/>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3184022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Slide Number Placeholder 4"/>
          <p:cNvSpPr>
            <a:spLocks noGrp="1"/>
          </p:cNvSpPr>
          <p:nvPr>
            <p:ph type="sldNum" sz="quarter" idx="12"/>
          </p:nvPr>
        </p:nvSpPr>
        <p:spPr/>
        <p:txBody>
          <a:bodyPr/>
          <a:lstStyle/>
          <a:p>
            <a:fld id="{E9C29D53-9981-884B-B5B6-B5743DF81FD1}" type="slidenum">
              <a:rPr lang="en-BD" smtClean="0"/>
              <a:t>‹#›</a:t>
            </a:fld>
            <a:endParaRPr lang="en-BD"/>
          </a:p>
        </p:txBody>
      </p:sp>
      <p:sp>
        <p:nvSpPr>
          <p:cNvPr id="6" name="Date Placeholder 5">
            <a:extLst>
              <a:ext uri="{FF2B5EF4-FFF2-40B4-BE49-F238E27FC236}">
                <a16:creationId xmlns:a16="http://schemas.microsoft.com/office/drawing/2014/main" id="{24A8BE3A-860F-304A-9628-0D1C6721E98C}"/>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7" name="Footer Placeholder 6">
            <a:extLst>
              <a:ext uri="{FF2B5EF4-FFF2-40B4-BE49-F238E27FC236}">
                <a16:creationId xmlns:a16="http://schemas.microsoft.com/office/drawing/2014/main" id="{78BF763A-9E9F-6745-958E-87128C40B814}"/>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144822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9C29D53-9981-884B-B5B6-B5743DF81FD1}" type="slidenum">
              <a:rPr lang="en-BD" smtClean="0"/>
              <a:t>‹#›</a:t>
            </a:fld>
            <a:endParaRPr lang="en-BD"/>
          </a:p>
        </p:txBody>
      </p:sp>
      <p:sp>
        <p:nvSpPr>
          <p:cNvPr id="5" name="Date Placeholder 5">
            <a:extLst>
              <a:ext uri="{FF2B5EF4-FFF2-40B4-BE49-F238E27FC236}">
                <a16:creationId xmlns:a16="http://schemas.microsoft.com/office/drawing/2014/main" id="{7E522AF0-01E9-C04B-A4BD-1E790BA6B079}"/>
              </a:ext>
            </a:extLst>
          </p:cNvPr>
          <p:cNvSpPr>
            <a:spLocks noGrp="1"/>
          </p:cNvSpPr>
          <p:nvPr>
            <p:ph type="dt" sz="half" idx="10"/>
          </p:nvPr>
        </p:nvSpPr>
        <p:spPr>
          <a:xfrm>
            <a:off x="432486" y="6501637"/>
            <a:ext cx="4825314" cy="375412"/>
          </a:xfrm>
        </p:spPr>
        <p:txBody>
          <a:bodyPr/>
          <a:lstStyle/>
          <a:p>
            <a:r>
              <a:rPr lang="en-US"/>
              <a:t>EEE 416 (2022) – Final Project Group A.XY</a:t>
            </a:r>
            <a:endParaRPr lang="en-BD" dirty="0"/>
          </a:p>
        </p:txBody>
      </p:sp>
      <p:sp>
        <p:nvSpPr>
          <p:cNvPr id="6" name="Footer Placeholder 6">
            <a:extLst>
              <a:ext uri="{FF2B5EF4-FFF2-40B4-BE49-F238E27FC236}">
                <a16:creationId xmlns:a16="http://schemas.microsoft.com/office/drawing/2014/main" id="{6FE88DDB-FE65-5846-A692-EED395E9C200}"/>
              </a:ext>
            </a:extLst>
          </p:cNvPr>
          <p:cNvSpPr>
            <a:spLocks noGrp="1"/>
          </p:cNvSpPr>
          <p:nvPr>
            <p:ph type="ftr" sz="quarter" idx="11"/>
          </p:nvPr>
        </p:nvSpPr>
        <p:spPr>
          <a:xfrm>
            <a:off x="5257800" y="6482588"/>
            <a:ext cx="6153150" cy="375412"/>
          </a:xfrm>
        </p:spPr>
        <p:txBody>
          <a:bodyPr/>
          <a:lstStyle/>
          <a:p>
            <a:r>
              <a:rPr lang="en-BD" dirty="0"/>
              <a:t>Title of the Project</a:t>
            </a:r>
          </a:p>
        </p:txBody>
      </p:sp>
    </p:spTree>
    <p:extLst>
      <p:ext uri="{BB962C8B-B14F-4D97-AF65-F5344CB8AC3E}">
        <p14:creationId xmlns:p14="http://schemas.microsoft.com/office/powerpoint/2010/main" val="39704782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52ED7D-C8C9-FC45-9D41-2B197068D5F8}"/>
              </a:ext>
            </a:extLst>
          </p:cNvPr>
          <p:cNvSpPr/>
          <p:nvPr userDrawn="1"/>
        </p:nvSpPr>
        <p:spPr>
          <a:xfrm>
            <a:off x="1" y="6457189"/>
            <a:ext cx="12192000" cy="41316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D"/>
          </a:p>
        </p:txBody>
      </p:sp>
      <p:sp>
        <p:nvSpPr>
          <p:cNvPr id="2" name="Title Placeholder 1"/>
          <p:cNvSpPr>
            <a:spLocks noGrp="1"/>
          </p:cNvSpPr>
          <p:nvPr>
            <p:ph type="title"/>
          </p:nvPr>
        </p:nvSpPr>
        <p:spPr>
          <a:xfrm>
            <a:off x="1066800" y="459714"/>
            <a:ext cx="10058400" cy="729006"/>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1066800" y="1493520"/>
            <a:ext cx="10058400" cy="454152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p:cNvSpPr>
            <a:spLocks noGrp="1"/>
          </p:cNvSpPr>
          <p:nvPr>
            <p:ph type="sldNum" sz="quarter" idx="4"/>
          </p:nvPr>
        </p:nvSpPr>
        <p:spPr>
          <a:xfrm>
            <a:off x="11410950" y="6501638"/>
            <a:ext cx="521970" cy="308530"/>
          </a:xfrm>
          <a:prstGeom prst="rect">
            <a:avLst/>
          </a:prstGeom>
        </p:spPr>
        <p:txBody>
          <a:bodyPr vert="horz" lIns="91440" tIns="45720" rIns="91440" bIns="45720" rtlCol="0" anchor="b"/>
          <a:lstStyle>
            <a:lvl1pPr algn="r">
              <a:defRPr sz="1400" b="1">
                <a:solidFill>
                  <a:schemeClr val="bg1"/>
                </a:solidFill>
              </a:defRPr>
            </a:lvl1pPr>
          </a:lstStyle>
          <a:p>
            <a:fld id="{E9C29D53-9981-884B-B5B6-B5743DF81FD1}" type="slidenum">
              <a:rPr lang="en-BD" smtClean="0"/>
              <a:pPr/>
              <a:t>‹#›</a:t>
            </a:fld>
            <a:endParaRPr lang="en-BD" dirty="0"/>
          </a:p>
        </p:txBody>
      </p:sp>
      <p:pic>
        <p:nvPicPr>
          <p:cNvPr id="9" name="Graphic 8">
            <a:extLst>
              <a:ext uri="{FF2B5EF4-FFF2-40B4-BE49-F238E27FC236}">
                <a16:creationId xmlns:a16="http://schemas.microsoft.com/office/drawing/2014/main" id="{8D083A58-BF4A-C247-A39E-31621332A2F9}"/>
              </a:ext>
            </a:extLst>
          </p:cNvPr>
          <p:cNvPicPr>
            <a:picLocks noChangeAspect="1"/>
          </p:cNvPicPr>
          <p:nvPr userDrawn="1"/>
        </p:nvPicPr>
        <p:blipFill rotWithShape="1">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r="84048"/>
          <a:stretch/>
        </p:blipFill>
        <p:spPr>
          <a:xfrm>
            <a:off x="51125" y="6457189"/>
            <a:ext cx="381361" cy="352979"/>
          </a:xfrm>
          <a:prstGeom prst="rect">
            <a:avLst/>
          </a:prstGeom>
        </p:spPr>
      </p:pic>
      <p:sp>
        <p:nvSpPr>
          <p:cNvPr id="10" name="Date Placeholder 5">
            <a:extLst>
              <a:ext uri="{FF2B5EF4-FFF2-40B4-BE49-F238E27FC236}">
                <a16:creationId xmlns:a16="http://schemas.microsoft.com/office/drawing/2014/main" id="{576C60AE-BF9F-E948-A464-57EC6013BD0B}"/>
              </a:ext>
            </a:extLst>
          </p:cNvPr>
          <p:cNvSpPr>
            <a:spLocks noGrp="1"/>
          </p:cNvSpPr>
          <p:nvPr>
            <p:ph type="dt" sz="half" idx="2"/>
          </p:nvPr>
        </p:nvSpPr>
        <p:spPr>
          <a:xfrm>
            <a:off x="432486" y="6501637"/>
            <a:ext cx="3968064" cy="394119"/>
          </a:xfrm>
          <a:prstGeom prst="rect">
            <a:avLst/>
          </a:prstGeom>
        </p:spPr>
        <p:txBody>
          <a:bodyPr/>
          <a:lstStyle>
            <a:lvl1pPr>
              <a:defRPr>
                <a:solidFill>
                  <a:schemeClr val="bg1"/>
                </a:solidFill>
                <a:latin typeface="Arial Narrow" panose="020B0606020202030204" pitchFamily="34" charset="0"/>
              </a:defRPr>
            </a:lvl1pPr>
          </a:lstStyle>
          <a:p>
            <a:r>
              <a:rPr lang="en-US" dirty="0"/>
              <a:t>EEE </a:t>
            </a:r>
            <a:r>
              <a:rPr lang="en-US" dirty="0" err="1"/>
              <a:t>312</a:t>
            </a:r>
            <a:r>
              <a:rPr lang="en-US" dirty="0"/>
              <a:t> (Jan 2026) – Project, Section B2, Group 04</a:t>
            </a:r>
            <a:endParaRPr lang="en-BD" dirty="0"/>
          </a:p>
        </p:txBody>
      </p:sp>
      <p:sp>
        <p:nvSpPr>
          <p:cNvPr id="11" name="Footer Placeholder 6">
            <a:extLst>
              <a:ext uri="{FF2B5EF4-FFF2-40B4-BE49-F238E27FC236}">
                <a16:creationId xmlns:a16="http://schemas.microsoft.com/office/drawing/2014/main" id="{DCD1120D-AD02-624F-AC7B-A52A109ECB59}"/>
              </a:ext>
            </a:extLst>
          </p:cNvPr>
          <p:cNvSpPr>
            <a:spLocks noGrp="1"/>
          </p:cNvSpPr>
          <p:nvPr>
            <p:ph type="ftr" sz="quarter" idx="3"/>
          </p:nvPr>
        </p:nvSpPr>
        <p:spPr>
          <a:xfrm>
            <a:off x="4400550" y="6507645"/>
            <a:ext cx="5000625" cy="375412"/>
          </a:xfrm>
          <a:prstGeom prst="rect">
            <a:avLst/>
          </a:prstGeom>
        </p:spPr>
        <p:txBody>
          <a:bodyPr/>
          <a:lstStyle>
            <a:lvl1pPr algn="l">
              <a:defRPr>
                <a:solidFill>
                  <a:schemeClr val="bg1"/>
                </a:solidFill>
                <a:latin typeface="Arial Narrow" panose="020B0606020202030204" pitchFamily="34" charset="0"/>
              </a:defRPr>
            </a:lvl1pPr>
          </a:lstStyle>
          <a:p>
            <a:r>
              <a:rPr lang="en-BD" dirty="0"/>
              <a:t>Title of the Project</a:t>
            </a:r>
          </a:p>
        </p:txBody>
      </p:sp>
    </p:spTree>
    <p:extLst>
      <p:ext uri="{BB962C8B-B14F-4D97-AF65-F5344CB8AC3E}">
        <p14:creationId xmlns:p14="http://schemas.microsoft.com/office/powerpoint/2010/main" val="415582776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3" r:id="rId3"/>
    <p:sldLayoutId id="2147483714" r:id="rId4"/>
    <p:sldLayoutId id="2147483715" r:id="rId5"/>
    <p:sldLayoutId id="2147483716" r:id="rId6"/>
  </p:sldLayoutIdLst>
  <p:hf hdr="0"/>
  <p:txStyles>
    <p:title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2400" kern="1200">
          <a:solidFill>
            <a:schemeClr val="tx1"/>
          </a:solidFill>
          <a:latin typeface="Arial" panose="020B0604020202020204" pitchFamily="34" charset="0"/>
          <a:ea typeface="+mn-ea"/>
          <a:cs typeface="Arial" panose="020B0604020202020204" pitchFamily="34" charset="0"/>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2000" kern="1200">
          <a:solidFill>
            <a:schemeClr val="tx1"/>
          </a:solidFill>
          <a:latin typeface="Arial" panose="020B0604020202020204" pitchFamily="34" charset="0"/>
          <a:ea typeface="+mn-ea"/>
          <a:cs typeface="Arial" panose="020B0604020202020204" pitchFamily="34" charset="0"/>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png"/><Relationship Id="rId5" Type="http://schemas.openxmlformats.org/officeDocument/2006/relationships/notesSlide" Target="../notesSlides/notes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 Id="rId3"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notesSlide" Target="../notesSlides/notes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notesSlide" Target="../notesSlides/notesSlide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459582F5-8C1B-D5C2-3F7B-97317FD55D50}"/>
              </a:ext>
            </a:extLst>
          </p:cNvPr>
          <p:cNvSpPr>
            <a:spLocks noGrp="1"/>
          </p:cNvSpPr>
          <p:nvPr>
            <p:ph type="ctrTitle"/>
          </p:nvPr>
        </p:nvSpPr>
        <p:spPr>
          <a:xfrm>
            <a:off x="-38802" y="1783080"/>
            <a:ext cx="12193037" cy="1325880"/>
          </a:xfrm>
        </p:spPr>
        <p:txBody>
          <a:bodyPr wrap="square"/>
          <a:lstStyle/>
          <a:p>
            <a:r>
              <a:rPr lang="en-US" sz="3000" b="1" dirty="0">
                <a:latin typeface="Angsana New" panose="02020603050405020304" pitchFamily="18" charset="-34"/>
                <a:cs typeface="Angsana New" panose="02020603050405020304" pitchFamily="18" charset="-34"/>
              </a:rPr>
              <a:t>Digital Signal Processing and Deep Learning-Based Urban Change Detection Using Satellite Imagery</a:t>
            </a:r>
            <a:endParaRPr lang="en-US" sz="4700" dirty="0">
              <a:latin typeface="Angsana New" panose="02020603050405020304" pitchFamily="18" charset="-34"/>
              <a:cs typeface="Angsana New" panose="02020603050405020304" pitchFamily="18" charset="-34"/>
            </a:endParaRPr>
          </a:p>
        </p:txBody>
      </p:sp>
      <p:sp>
        <p:nvSpPr>
          <p:cNvPr id="29" name="Subtitle 2">
            <a:extLst>
              <a:ext uri="{FF2B5EF4-FFF2-40B4-BE49-F238E27FC236}">
                <a16:creationId xmlns:a16="http://schemas.microsoft.com/office/drawing/2014/main" id="{2ECA8BBC-920A-F94A-EBBD-58CF4BCFE34E}"/>
              </a:ext>
            </a:extLst>
          </p:cNvPr>
          <p:cNvSpPr>
            <a:spLocks noGrp="1"/>
          </p:cNvSpPr>
          <p:nvPr>
            <p:ph type="subTitle" idx="1"/>
          </p:nvPr>
        </p:nvSpPr>
        <p:spPr>
          <a:xfrm>
            <a:off x="1415806" y="5203641"/>
            <a:ext cx="2350475" cy="885432"/>
          </a:xfrm>
        </p:spPr>
        <p:txBody>
          <a:bodyPr>
            <a:normAutofit/>
          </a:bodyPr>
          <a:lstStyle/>
          <a:p>
            <a:r>
              <a:rPr lang="en-US" dirty="0" err="1">
                <a:latin typeface="Times New Roman" panose="02020603050405020304" pitchFamily="18" charset="0"/>
                <a:cs typeface="Times New Roman" panose="02020603050405020304" pitchFamily="18" charset="0"/>
              </a:rPr>
              <a:t>Mustasin</a:t>
            </a:r>
            <a:r>
              <a:rPr lang="en-US" dirty="0">
                <a:latin typeface="Times New Roman" panose="02020603050405020304" pitchFamily="18" charset="0"/>
                <a:cs typeface="Times New Roman" panose="02020603050405020304" pitchFamily="18" charset="0"/>
              </a:rPr>
              <a:t> Rahman </a:t>
            </a:r>
            <a:r>
              <a:rPr lang="en-US" sz="2000" dirty="0">
                <a:latin typeface="Times New Roman" panose="02020603050405020304" pitchFamily="18" charset="0"/>
                <a:cs typeface="Times New Roman" panose="02020603050405020304" pitchFamily="18" charset="0"/>
              </a:rPr>
              <a:t>2206104</a:t>
            </a:r>
            <a:endParaRPr lang="en-BD" sz="2000" dirty="0">
              <a:latin typeface="Times New Roman" panose="02020603050405020304" pitchFamily="18" charset="0"/>
              <a:cs typeface="Times New Roman" panose="02020603050405020304" pitchFamily="18" charset="0"/>
            </a:endParaRPr>
          </a:p>
        </p:txBody>
      </p:sp>
      <p:sp>
        <p:nvSpPr>
          <p:cNvPr id="30" name="Subtitle 2">
            <a:extLst>
              <a:ext uri="{FF2B5EF4-FFF2-40B4-BE49-F238E27FC236}">
                <a16:creationId xmlns:a16="http://schemas.microsoft.com/office/drawing/2014/main" id="{1C32B0F5-CB79-B523-FB0B-EBCC7F04C18D}"/>
              </a:ext>
            </a:extLst>
          </p:cNvPr>
          <p:cNvSpPr txBox="1">
            <a:spLocks/>
          </p:cNvSpPr>
          <p:nvPr/>
        </p:nvSpPr>
        <p:spPr>
          <a:xfrm>
            <a:off x="3826160" y="5203641"/>
            <a:ext cx="2350475"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Fahim Shahriyar</a:t>
            </a:r>
          </a:p>
          <a:p>
            <a:r>
              <a:rPr lang="en-US" sz="2000" dirty="0">
                <a:latin typeface="Times New Roman" panose="02020603050405020304" pitchFamily="18" charset="0"/>
                <a:cs typeface="Times New Roman" panose="02020603050405020304" pitchFamily="18" charset="0"/>
              </a:rPr>
              <a:t>2206114</a:t>
            </a:r>
            <a:endParaRPr lang="en-BD" sz="2000" dirty="0">
              <a:latin typeface="Times New Roman" panose="02020603050405020304" pitchFamily="18" charset="0"/>
              <a:cs typeface="Times New Roman" panose="02020603050405020304" pitchFamily="18" charset="0"/>
            </a:endParaRPr>
          </a:p>
        </p:txBody>
      </p:sp>
      <p:sp>
        <p:nvSpPr>
          <p:cNvPr id="31" name="Subtitle 2">
            <a:extLst>
              <a:ext uri="{FF2B5EF4-FFF2-40B4-BE49-F238E27FC236}">
                <a16:creationId xmlns:a16="http://schemas.microsoft.com/office/drawing/2014/main" id="{41F74BA0-B6D8-39E0-9491-FE2E1A62D193}"/>
              </a:ext>
            </a:extLst>
          </p:cNvPr>
          <p:cNvSpPr txBox="1">
            <a:spLocks/>
          </p:cNvSpPr>
          <p:nvPr/>
        </p:nvSpPr>
        <p:spPr>
          <a:xfrm>
            <a:off x="6079345" y="5210676"/>
            <a:ext cx="3033537"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Md. Ahasan Habib Kawsar</a:t>
            </a:r>
          </a:p>
          <a:p>
            <a:r>
              <a:rPr lang="en-US" sz="2000" dirty="0">
                <a:latin typeface="Times New Roman" panose="02020603050405020304" pitchFamily="18" charset="0"/>
                <a:cs typeface="Times New Roman" panose="02020603050405020304" pitchFamily="18" charset="0"/>
              </a:rPr>
              <a:t>2206119</a:t>
            </a:r>
            <a:endParaRPr lang="en-BD" sz="2000" dirty="0">
              <a:latin typeface="Times New Roman" panose="02020603050405020304" pitchFamily="18" charset="0"/>
              <a:cs typeface="Times New Roman" panose="02020603050405020304" pitchFamily="18" charset="0"/>
            </a:endParaRPr>
          </a:p>
        </p:txBody>
      </p:sp>
      <p:sp>
        <p:nvSpPr>
          <p:cNvPr id="32" name="Subtitle 2">
            <a:extLst>
              <a:ext uri="{FF2B5EF4-FFF2-40B4-BE49-F238E27FC236}">
                <a16:creationId xmlns:a16="http://schemas.microsoft.com/office/drawing/2014/main" id="{B48F099D-1803-8E82-4B43-4D20641349C8}"/>
              </a:ext>
            </a:extLst>
          </p:cNvPr>
          <p:cNvSpPr txBox="1">
            <a:spLocks/>
          </p:cNvSpPr>
          <p:nvPr/>
        </p:nvSpPr>
        <p:spPr>
          <a:xfrm>
            <a:off x="8963244" y="5217711"/>
            <a:ext cx="2462702"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Md. Kawsar Ahmed</a:t>
            </a:r>
          </a:p>
          <a:p>
            <a:r>
              <a:rPr lang="en-US" sz="2000" dirty="0">
                <a:latin typeface="Times New Roman" panose="02020603050405020304" pitchFamily="18" charset="0"/>
                <a:cs typeface="Times New Roman" panose="02020603050405020304" pitchFamily="18" charset="0"/>
              </a:rPr>
              <a:t>2206122</a:t>
            </a:r>
            <a:endParaRPr lang="en-BD" sz="2000" dirty="0">
              <a:latin typeface="Times New Roman" panose="02020603050405020304" pitchFamily="18" charset="0"/>
              <a:cs typeface="Times New Roman" panose="02020603050405020304" pitchFamily="18" charset="0"/>
            </a:endParaRPr>
          </a:p>
        </p:txBody>
      </p:sp>
      <p:sp>
        <p:nvSpPr>
          <p:cNvPr id="33" name="Subtitle 2">
            <a:extLst>
              <a:ext uri="{FF2B5EF4-FFF2-40B4-BE49-F238E27FC236}">
                <a16:creationId xmlns:a16="http://schemas.microsoft.com/office/drawing/2014/main" id="{46A5F6DE-F4E6-FCDF-E9CC-6F1A84CC351E}"/>
              </a:ext>
            </a:extLst>
          </p:cNvPr>
          <p:cNvSpPr txBox="1">
            <a:spLocks/>
          </p:cNvSpPr>
          <p:nvPr/>
        </p:nvSpPr>
        <p:spPr>
          <a:xfrm>
            <a:off x="3734326" y="3196315"/>
            <a:ext cx="4646780" cy="552593"/>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sz="2400" b="1" cap="small" dirty="0">
                <a:solidFill>
                  <a:schemeClr val="accent2">
                    <a:lumMod val="50000"/>
                  </a:schemeClr>
                </a:solidFill>
                <a:latin typeface="Times New Roman" panose="02020603050405020304" pitchFamily="18" charset="0"/>
                <a:cs typeface="Times New Roman" panose="02020603050405020304" pitchFamily="18" charset="0"/>
              </a:rPr>
              <a:t>Submitted by – Group </a:t>
            </a:r>
            <a:r>
              <a:rPr lang="en-US" sz="2400" b="1" cap="small" dirty="0">
                <a:solidFill>
                  <a:schemeClr val="accent2">
                    <a:lumMod val="50000"/>
                  </a:schemeClr>
                </a:solidFill>
                <a:latin typeface="Times New Roman" panose="02020603050405020304" pitchFamily="18" charset="0"/>
                <a:cs typeface="Times New Roman" panose="02020603050405020304" pitchFamily="18" charset="0"/>
              </a:rPr>
              <a:t>04</a:t>
            </a:r>
            <a:endParaRPr lang="en-BD" sz="4000" b="1" cap="small" dirty="0">
              <a:solidFill>
                <a:schemeClr val="accent2">
                  <a:lumMod val="50000"/>
                </a:schemeClr>
              </a:solidFill>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CD28A1EA-92A5-B02C-B1F7-239702156EDF}"/>
              </a:ext>
            </a:extLst>
          </p:cNvPr>
          <p:cNvPicPr>
            <a:picLocks noChangeAspect="1"/>
          </p:cNvPicPr>
          <p:nvPr/>
        </p:nvPicPr>
        <p:blipFill>
          <a:blip r:embed="rId2"/>
          <a:stretch>
            <a:fillRect/>
          </a:stretch>
        </p:blipFill>
        <p:spPr>
          <a:xfrm>
            <a:off x="2020278" y="3668383"/>
            <a:ext cx="1159128" cy="1549328"/>
          </a:xfrm>
          <a:prstGeom prst="rect">
            <a:avLst/>
          </a:prstGeom>
        </p:spPr>
      </p:pic>
      <p:pic>
        <p:nvPicPr>
          <p:cNvPr id="36" name="Picture 35">
            <a:extLst>
              <a:ext uri="{FF2B5EF4-FFF2-40B4-BE49-F238E27FC236}">
                <a16:creationId xmlns:a16="http://schemas.microsoft.com/office/drawing/2014/main" id="{9A075FD7-D44E-727A-6529-63C70EAAA5A0}"/>
              </a:ext>
            </a:extLst>
          </p:cNvPr>
          <p:cNvPicPr>
            <a:picLocks noChangeAspect="1"/>
          </p:cNvPicPr>
          <p:nvPr/>
        </p:nvPicPr>
        <p:blipFill>
          <a:blip r:embed="rId3"/>
          <a:stretch>
            <a:fillRect/>
          </a:stretch>
        </p:blipFill>
        <p:spPr>
          <a:xfrm>
            <a:off x="6990375" y="3713145"/>
            <a:ext cx="1159128" cy="1459804"/>
          </a:xfrm>
          <a:prstGeom prst="rect">
            <a:avLst/>
          </a:prstGeom>
        </p:spPr>
      </p:pic>
      <p:pic>
        <p:nvPicPr>
          <p:cNvPr id="37" name="Picture 36">
            <a:extLst>
              <a:ext uri="{FF2B5EF4-FFF2-40B4-BE49-F238E27FC236}">
                <a16:creationId xmlns:a16="http://schemas.microsoft.com/office/drawing/2014/main" id="{A9EAB3A8-420A-1913-AB04-AAD00C83C751}"/>
              </a:ext>
            </a:extLst>
          </p:cNvPr>
          <p:cNvPicPr>
            <a:picLocks noChangeAspect="1"/>
          </p:cNvPicPr>
          <p:nvPr/>
        </p:nvPicPr>
        <p:blipFill>
          <a:blip r:embed="rId4"/>
          <a:stretch>
            <a:fillRect/>
          </a:stretch>
        </p:blipFill>
        <p:spPr>
          <a:xfrm flipH="1">
            <a:off x="9542503" y="3748711"/>
            <a:ext cx="1178679" cy="1424238"/>
          </a:xfrm>
          <a:prstGeom prst="rect">
            <a:avLst/>
          </a:prstGeom>
        </p:spPr>
      </p:pic>
      <p:pic>
        <p:nvPicPr>
          <p:cNvPr id="38" name="Picture 37">
            <a:extLst>
              <a:ext uri="{FF2B5EF4-FFF2-40B4-BE49-F238E27FC236}">
                <a16:creationId xmlns:a16="http://schemas.microsoft.com/office/drawing/2014/main" id="{73F0CA57-64B0-4895-1047-9D8EA23E02F8}"/>
              </a:ext>
            </a:extLst>
          </p:cNvPr>
          <p:cNvPicPr>
            <a:picLocks noChangeAspect="1"/>
          </p:cNvPicPr>
          <p:nvPr/>
        </p:nvPicPr>
        <p:blipFill>
          <a:blip r:embed="rId5"/>
          <a:stretch>
            <a:fillRect/>
          </a:stretch>
        </p:blipFill>
        <p:spPr>
          <a:xfrm>
            <a:off x="4461268" y="3772368"/>
            <a:ext cx="1080257" cy="1424238"/>
          </a:xfrm>
          <a:prstGeom prst="rect">
            <a:avLst/>
          </a:prstGeom>
        </p:spPr>
      </p:pic>
    </p:spTree>
    <p:extLst>
      <p:ext uri="{BB962C8B-B14F-4D97-AF65-F5344CB8AC3E}">
        <p14:creationId xmlns:p14="http://schemas.microsoft.com/office/powerpoint/2010/main" val="2778246567"/>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Outline</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2206114</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4173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Oval 11"/>
          <p:cNvSpPr/>
          <p:nvPr/>
        </p:nvSpPr>
        <p:spPr>
          <a:xfrm>
            <a:off x="868680"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1</a:t>
            </a:r>
          </a:p>
        </p:txBody>
      </p:sp>
      <p:sp>
        <p:nvSpPr>
          <p:cNvPr id="13" name="TextBox 12"/>
          <p:cNvSpPr txBox="1"/>
          <p:nvPr/>
        </p:nvSpPr>
        <p:spPr>
          <a:xfrm>
            <a:off x="1737360" y="16733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Summary</a:t>
            </a:r>
          </a:p>
        </p:txBody>
      </p:sp>
      <p:sp>
        <p:nvSpPr>
          <p:cNvPr id="14" name="Rounded Rectangle 13"/>
          <p:cNvSpPr/>
          <p:nvPr/>
        </p:nvSpPr>
        <p:spPr>
          <a:xfrm>
            <a:off x="4389120" y="14173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Oval 14"/>
          <p:cNvSpPr/>
          <p:nvPr/>
        </p:nvSpPr>
        <p:spPr>
          <a:xfrm>
            <a:off x="4572000"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2</a:t>
            </a:r>
          </a:p>
        </p:txBody>
      </p:sp>
      <p:sp>
        <p:nvSpPr>
          <p:cNvPr id="16" name="TextBox 15"/>
          <p:cNvSpPr txBox="1"/>
          <p:nvPr/>
        </p:nvSpPr>
        <p:spPr>
          <a:xfrm>
            <a:off x="5440679" y="16733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Introduction</a:t>
            </a:r>
          </a:p>
        </p:txBody>
      </p:sp>
      <p:sp>
        <p:nvSpPr>
          <p:cNvPr id="17" name="Rounded Rectangle 16"/>
          <p:cNvSpPr/>
          <p:nvPr/>
        </p:nvSpPr>
        <p:spPr>
          <a:xfrm>
            <a:off x="8092440" y="14173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Oval 17"/>
          <p:cNvSpPr/>
          <p:nvPr/>
        </p:nvSpPr>
        <p:spPr>
          <a:xfrm>
            <a:off x="8275319" y="17373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3</a:t>
            </a:r>
          </a:p>
        </p:txBody>
      </p:sp>
      <p:sp>
        <p:nvSpPr>
          <p:cNvPr id="19" name="TextBox 18"/>
          <p:cNvSpPr txBox="1"/>
          <p:nvPr/>
        </p:nvSpPr>
        <p:spPr>
          <a:xfrm>
            <a:off x="9144000" y="16733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Design</a:t>
            </a:r>
          </a:p>
          <a:p>
            <a:pPr algn="l">
              <a:spcAft>
                <a:spcPts val="200"/>
              </a:spcAft>
            </a:pPr>
            <a:r>
              <a:rPr sz="1100" b="0" i="0">
                <a:solidFill>
                  <a:srgbClr val="5F6670"/>
                </a:solidFill>
                <a:latin typeface="Calibri"/>
              </a:rPr>
              <a:t>Literature · Methods PO(a) · DSP · Network · Training</a:t>
            </a:r>
          </a:p>
        </p:txBody>
      </p:sp>
      <p:sp>
        <p:nvSpPr>
          <p:cNvPr id="20" name="Rounded Rectangle 19"/>
          <p:cNvSpPr/>
          <p:nvPr/>
        </p:nvSpPr>
        <p:spPr>
          <a:xfrm>
            <a:off x="685800" y="30175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Oval 20"/>
          <p:cNvSpPr/>
          <p:nvPr/>
        </p:nvSpPr>
        <p:spPr>
          <a:xfrm>
            <a:off x="868680"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4</a:t>
            </a:r>
          </a:p>
        </p:txBody>
      </p:sp>
      <p:sp>
        <p:nvSpPr>
          <p:cNvPr id="22" name="TextBox 21"/>
          <p:cNvSpPr txBox="1"/>
          <p:nvPr/>
        </p:nvSpPr>
        <p:spPr>
          <a:xfrm>
            <a:off x="1737360" y="32735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Implementation</a:t>
            </a:r>
          </a:p>
          <a:p>
            <a:pPr algn="l">
              <a:spcAft>
                <a:spcPts val="200"/>
              </a:spcAft>
            </a:pPr>
            <a:r>
              <a:rPr sz="1100" b="0" i="0">
                <a:solidFill>
                  <a:srgbClr val="5F6670"/>
                </a:solidFill>
                <a:latin typeface="Calibri"/>
              </a:rPr>
              <a:t>GUI demonstration · results gallery</a:t>
            </a:r>
          </a:p>
        </p:txBody>
      </p:sp>
      <p:sp>
        <p:nvSpPr>
          <p:cNvPr id="23" name="Rounded Rectangle 22"/>
          <p:cNvSpPr/>
          <p:nvPr/>
        </p:nvSpPr>
        <p:spPr>
          <a:xfrm>
            <a:off x="4389120" y="30175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Oval 23"/>
          <p:cNvSpPr/>
          <p:nvPr/>
        </p:nvSpPr>
        <p:spPr>
          <a:xfrm>
            <a:off x="4572000"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5</a:t>
            </a:r>
          </a:p>
        </p:txBody>
      </p:sp>
      <p:sp>
        <p:nvSpPr>
          <p:cNvPr id="25" name="TextBox 24"/>
          <p:cNvSpPr txBox="1"/>
          <p:nvPr/>
        </p:nvSpPr>
        <p:spPr>
          <a:xfrm>
            <a:off x="5440679" y="32735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Analysis &amp; Evaluation</a:t>
            </a:r>
          </a:p>
          <a:p>
            <a:pPr algn="l">
              <a:spcAft>
                <a:spcPts val="200"/>
              </a:spcAft>
            </a:pPr>
            <a:r>
              <a:rPr sz="1100" b="0" i="0">
                <a:solidFill>
                  <a:srgbClr val="5F6670"/>
                </a:solidFill>
                <a:latin typeface="Calibri"/>
              </a:rPr>
              <a:t>Results · Novelty · PO(c) · PO(d) · PO(e) · PO(h)</a:t>
            </a:r>
          </a:p>
        </p:txBody>
      </p:sp>
      <p:sp>
        <p:nvSpPr>
          <p:cNvPr id="26" name="Rounded Rectangle 25"/>
          <p:cNvSpPr/>
          <p:nvPr/>
        </p:nvSpPr>
        <p:spPr>
          <a:xfrm>
            <a:off x="8092440" y="30175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Oval 26"/>
          <p:cNvSpPr/>
          <p:nvPr/>
        </p:nvSpPr>
        <p:spPr>
          <a:xfrm>
            <a:off x="8275319" y="3337560"/>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6</a:t>
            </a:r>
          </a:p>
        </p:txBody>
      </p:sp>
      <p:sp>
        <p:nvSpPr>
          <p:cNvPr id="28" name="TextBox 27"/>
          <p:cNvSpPr txBox="1"/>
          <p:nvPr/>
        </p:nvSpPr>
        <p:spPr>
          <a:xfrm>
            <a:off x="9144000" y="32735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Team Work</a:t>
            </a:r>
          </a:p>
          <a:p>
            <a:pPr algn="l">
              <a:spcAft>
                <a:spcPts val="200"/>
              </a:spcAft>
            </a:pPr>
            <a:r>
              <a:rPr sz="1100" b="0" i="0">
                <a:solidFill>
                  <a:srgbClr val="5F6670"/>
                </a:solidFill>
                <a:latin typeface="Calibri"/>
              </a:rPr>
              <a:t>PO(i)</a:t>
            </a:r>
          </a:p>
        </p:txBody>
      </p:sp>
      <p:sp>
        <p:nvSpPr>
          <p:cNvPr id="29" name="Rounded Rectangle 28"/>
          <p:cNvSpPr/>
          <p:nvPr/>
        </p:nvSpPr>
        <p:spPr>
          <a:xfrm>
            <a:off x="685800" y="46177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Oval 29"/>
          <p:cNvSpPr/>
          <p:nvPr/>
        </p:nvSpPr>
        <p:spPr>
          <a:xfrm>
            <a:off x="868680"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7</a:t>
            </a:r>
          </a:p>
        </p:txBody>
      </p:sp>
      <p:sp>
        <p:nvSpPr>
          <p:cNvPr id="31" name="TextBox 30"/>
          <p:cNvSpPr txBox="1"/>
          <p:nvPr/>
        </p:nvSpPr>
        <p:spPr>
          <a:xfrm>
            <a:off x="1737360" y="48737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Communication</a:t>
            </a:r>
          </a:p>
          <a:p>
            <a:pPr algn="l">
              <a:spcAft>
                <a:spcPts val="200"/>
              </a:spcAft>
            </a:pPr>
            <a:r>
              <a:rPr sz="1100" b="0" i="0">
                <a:solidFill>
                  <a:srgbClr val="5F6670"/>
                </a:solidFill>
                <a:latin typeface="Calibri"/>
              </a:rPr>
              <a:t>PO(j)</a:t>
            </a:r>
          </a:p>
        </p:txBody>
      </p:sp>
      <p:sp>
        <p:nvSpPr>
          <p:cNvPr id="32" name="Rounded Rectangle 31"/>
          <p:cNvSpPr/>
          <p:nvPr/>
        </p:nvSpPr>
        <p:spPr>
          <a:xfrm>
            <a:off x="4389120" y="46177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Oval 32"/>
          <p:cNvSpPr/>
          <p:nvPr/>
        </p:nvSpPr>
        <p:spPr>
          <a:xfrm>
            <a:off x="4572000"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8</a:t>
            </a:r>
          </a:p>
        </p:txBody>
      </p:sp>
      <p:sp>
        <p:nvSpPr>
          <p:cNvPr id="34" name="TextBox 33"/>
          <p:cNvSpPr txBox="1"/>
          <p:nvPr/>
        </p:nvSpPr>
        <p:spPr>
          <a:xfrm>
            <a:off x="5440679" y="48737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Future Work</a:t>
            </a:r>
          </a:p>
          <a:p>
            <a:pPr algn="l">
              <a:spcAft>
                <a:spcPts val="200"/>
              </a:spcAft>
            </a:pPr>
            <a:r>
              <a:rPr sz="1100" b="0" i="0">
                <a:solidFill>
                  <a:srgbClr val="5F6670"/>
                </a:solidFill>
                <a:latin typeface="Calibri"/>
              </a:rPr>
              <a:t>PO(l)</a:t>
            </a:r>
          </a:p>
        </p:txBody>
      </p:sp>
      <p:sp>
        <p:nvSpPr>
          <p:cNvPr id="35" name="Rounded Rectangle 34"/>
          <p:cNvSpPr/>
          <p:nvPr/>
        </p:nvSpPr>
        <p:spPr>
          <a:xfrm>
            <a:off x="8092440" y="4617720"/>
            <a:ext cx="3474720" cy="13716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Oval 35"/>
          <p:cNvSpPr/>
          <p:nvPr/>
        </p:nvSpPr>
        <p:spPr>
          <a:xfrm>
            <a:off x="8275319" y="4937759"/>
            <a:ext cx="731520" cy="7315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200" b="1" i="0">
                <a:solidFill>
                  <a:srgbClr val="FFFFFF"/>
                </a:solidFill>
                <a:latin typeface="Calibri"/>
              </a:rPr>
              <a:t>9</a:t>
            </a:r>
          </a:p>
        </p:txBody>
      </p:sp>
      <p:sp>
        <p:nvSpPr>
          <p:cNvPr id="37" name="TextBox 36"/>
          <p:cNvSpPr txBox="1"/>
          <p:nvPr/>
        </p:nvSpPr>
        <p:spPr>
          <a:xfrm>
            <a:off x="9144000" y="4873752"/>
            <a:ext cx="2331720" cy="914400"/>
          </a:xfrm>
          <a:prstGeom prst="rect">
            <a:avLst/>
          </a:prstGeom>
          <a:noFill/>
        </p:spPr>
        <p:txBody>
          <a:bodyPr wrap="square" anchor="ctr" lIns="45720" rIns="45720">
            <a:spAutoFit/>
          </a:bodyPr>
          <a:lstStyle/>
          <a:p>
            <a:pPr algn="l">
              <a:spcAft>
                <a:spcPts val="200"/>
              </a:spcAft>
            </a:pPr>
            <a:r>
              <a:rPr sz="1800" b="1" i="0">
                <a:solidFill>
                  <a:srgbClr val="262B33"/>
                </a:solidFill>
                <a:latin typeface="Calibri"/>
              </a:rPr>
              <a:t>References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1. Summary / Abstract</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2206114</a:t>
            </a:r>
            <a:endParaRPr lang="en-GB" i="1" dirty="0">
              <a:solidFill>
                <a:srgbClr val="FFFF00"/>
              </a:solidFill>
              <a:latin typeface="Arial Narrow" panose="020B0606020202030204" pitchFamily="34" charset="0"/>
            </a:endParaRPr>
          </a:p>
        </p:txBody>
      </p:sp>
      <p:sp>
        <p:nvSpPr>
          <p:cNvPr id="11" name="TextBox 10"/>
          <p:cNvSpPr txBox="1"/>
          <p:nvPr/>
        </p:nvSpPr>
        <p:spPr>
          <a:xfrm>
            <a:off x="685800" y="1325880"/>
            <a:ext cx="6035040" cy="3657600"/>
          </a:xfrm>
          <a:prstGeom prst="rect">
            <a:avLst/>
          </a:prstGeom>
          <a:noFill/>
        </p:spPr>
        <p:txBody>
          <a:bodyPr wrap="square" anchor="t" lIns="45720" rIns="45720">
            <a:spAutoFit/>
          </a:bodyPr>
          <a:lstStyle/>
          <a:p>
            <a:pPr algn="l" marL="228600" indent="-201168">
              <a:spcAft>
                <a:spcPts val="700"/>
              </a:spcAft>
              <a:buClr>
                <a:srgbClr val="C00000"/>
              </a:buClr>
              <a:buChar char="▪"/>
            </a:pPr>
            <a:r>
              <a:rPr sz="1400" b="1" i="0">
                <a:solidFill>
                  <a:srgbClr val="262B33"/>
                </a:solidFill>
                <a:latin typeface="Calibri"/>
              </a:rPr>
              <a:t>Problem: </a:t>
            </a:r>
            <a:r>
              <a:rPr sz="1400" b="0" i="0">
                <a:solidFill>
                  <a:srgbClr val="262B33"/>
                </a:solidFill>
                <a:latin typeface="Calibri"/>
              </a:rPr>
              <a:t>find new buildings between two satellite images of the same place taken years apart.</a:t>
            </a:r>
          </a:p>
          <a:p>
            <a:pPr algn="l" marL="228600" indent="-201168">
              <a:spcAft>
                <a:spcPts val="700"/>
              </a:spcAft>
              <a:buClr>
                <a:srgbClr val="C00000"/>
              </a:buClr>
              <a:buChar char="▪"/>
            </a:pPr>
            <a:r>
              <a:rPr sz="1400" b="1" i="0">
                <a:solidFill>
                  <a:srgbClr val="262B33"/>
                </a:solidFill>
                <a:latin typeface="Calibri"/>
              </a:rPr>
              <a:t>DSP front-end: </a:t>
            </a:r>
            <a:r>
              <a:rPr sz="1400" b="0" i="0">
                <a:solidFill>
                  <a:srgbClr val="262B33"/>
                </a:solidFill>
                <a:latin typeface="Calibri"/>
              </a:rPr>
              <a:t>Gaussian low-pass filter + Canny edge detector; the standardised edge map is stacked with RGB as a 4th input channel.</a:t>
            </a:r>
          </a:p>
          <a:p>
            <a:pPr algn="l" marL="228600" indent="-201168">
              <a:spcAft>
                <a:spcPts val="700"/>
              </a:spcAft>
              <a:buClr>
                <a:srgbClr val="C00000"/>
              </a:buClr>
              <a:buChar char="▪"/>
            </a:pPr>
            <a:r>
              <a:rPr sz="1400" b="1" i="0">
                <a:solidFill>
                  <a:srgbClr val="262B33"/>
                </a:solidFill>
                <a:latin typeface="Calibri"/>
              </a:rPr>
              <a:t>Deep learning: </a:t>
            </a:r>
            <a:r>
              <a:rPr sz="1400" b="0" i="0">
                <a:solidFill>
                  <a:srgbClr val="262B33"/>
                </a:solidFill>
                <a:latin typeface="Calibri"/>
              </a:rPr>
              <a:t>Siamese ResNet-34 U-Net with spatial-temporal attention (BAM), Siam-Concat fusion and a Sobel-supervised edge head.</a:t>
            </a:r>
          </a:p>
          <a:p>
            <a:pPr algn="l" marL="228600" indent="-201168">
              <a:spcAft>
                <a:spcPts val="700"/>
              </a:spcAft>
              <a:buClr>
                <a:srgbClr val="C00000"/>
              </a:buClr>
              <a:buChar char="▪"/>
            </a:pPr>
            <a:r>
              <a:rPr sz="1400" b="1" i="0">
                <a:solidFill>
                  <a:srgbClr val="262B33"/>
                </a:solidFill>
                <a:latin typeface="Calibri"/>
              </a:rPr>
              <a:t>Data: </a:t>
            </a:r>
            <a:r>
              <a:rPr sz="1400" b="0" i="0">
                <a:solidFill>
                  <a:srgbClr val="262B33"/>
                </a:solidFill>
                <a:latin typeface="Calibri"/>
              </a:rPr>
              <a:t>LEVIR-CD – 637 image pairs, 1024 × 1024 px at 0.5 m/pixel (445 train / 64 val / 128 test).</a:t>
            </a:r>
          </a:p>
          <a:p>
            <a:pPr algn="l" marL="228600" indent="-201168">
              <a:spcAft>
                <a:spcPts val="700"/>
              </a:spcAft>
              <a:buClr>
                <a:srgbClr val="C00000"/>
              </a:buClr>
              <a:buChar char="▪"/>
            </a:pPr>
            <a:r>
              <a:rPr sz="1400" b="1" i="0">
                <a:solidFill>
                  <a:srgbClr val="262B33"/>
                </a:solidFill>
                <a:latin typeface="Calibri"/>
              </a:rPr>
              <a:t>Deployment: </a:t>
            </a:r>
            <a:r>
              <a:rPr sz="1400" b="0" i="0">
                <a:solidFill>
                  <a:srgbClr val="262B33"/>
                </a:solidFill>
                <a:latin typeface="Calibri"/>
              </a:rPr>
              <a:t>PyQt5 desktop app with live threshold, test-time augmentation and polygon post-processing.</a:t>
            </a:r>
          </a:p>
        </p:txBody>
      </p:sp>
      <p:sp>
        <p:nvSpPr>
          <p:cNvPr id="12" name="Rounded Rectangle 11"/>
          <p:cNvSpPr/>
          <p:nvPr/>
        </p:nvSpPr>
        <p:spPr>
          <a:xfrm>
            <a:off x="7086600" y="1371600"/>
            <a:ext cx="2194560" cy="132588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3600" b="1" i="0">
                <a:solidFill>
                  <a:srgbClr val="FFFFFF"/>
                </a:solidFill>
                <a:latin typeface="Calibri"/>
              </a:rPr>
              <a:t>91.2%</a:t>
            </a:r>
          </a:p>
          <a:p>
            <a:pPr algn="ctr"/>
            <a:r>
              <a:rPr sz="1200" b="0" i="0">
                <a:solidFill>
                  <a:srgbClr val="FFFFFF"/>
                </a:solidFill>
                <a:latin typeface="Calibri"/>
              </a:rPr>
              <a:t>F1-score (test)</a:t>
            </a:r>
          </a:p>
        </p:txBody>
      </p:sp>
      <p:sp>
        <p:nvSpPr>
          <p:cNvPr id="13" name="Rounded Rectangle 12"/>
          <p:cNvSpPr/>
          <p:nvPr/>
        </p:nvSpPr>
        <p:spPr>
          <a:xfrm>
            <a:off x="9418320" y="1371600"/>
            <a:ext cx="2194560" cy="132588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3600" b="1" i="0">
                <a:solidFill>
                  <a:srgbClr val="FFFFFF"/>
                </a:solidFill>
                <a:latin typeface="Calibri"/>
              </a:rPr>
              <a:t>83.8%</a:t>
            </a:r>
          </a:p>
          <a:p>
            <a:pPr algn="ctr"/>
            <a:r>
              <a:rPr sz="1200" b="0" i="0">
                <a:solidFill>
                  <a:srgbClr val="FFFFFF"/>
                </a:solidFill>
                <a:latin typeface="Calibri"/>
              </a:rPr>
              <a:t>IoU (test)</a:t>
            </a:r>
          </a:p>
        </p:txBody>
      </p:sp>
      <p:sp>
        <p:nvSpPr>
          <p:cNvPr id="14" name="Rounded Rectangle 13"/>
          <p:cNvSpPr/>
          <p:nvPr/>
        </p:nvSpPr>
        <p:spPr>
          <a:xfrm>
            <a:off x="7086600" y="2834640"/>
            <a:ext cx="2194560" cy="132588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3600" b="1" i="0">
                <a:solidFill>
                  <a:srgbClr val="FFFFFF"/>
                </a:solidFill>
                <a:latin typeface="Calibri"/>
              </a:rPr>
              <a:t>99.1%</a:t>
            </a:r>
          </a:p>
          <a:p>
            <a:pPr algn="ctr"/>
            <a:r>
              <a:rPr sz="1200" b="0" i="0">
                <a:solidFill>
                  <a:srgbClr val="FFFFFF"/>
                </a:solidFill>
                <a:latin typeface="Calibri"/>
              </a:rPr>
              <a:t>Overall accuracy</a:t>
            </a:r>
          </a:p>
        </p:txBody>
      </p:sp>
      <p:sp>
        <p:nvSpPr>
          <p:cNvPr id="15" name="Rounded Rectangle 14"/>
          <p:cNvSpPr/>
          <p:nvPr/>
        </p:nvSpPr>
        <p:spPr>
          <a:xfrm>
            <a:off x="9418320" y="2834640"/>
            <a:ext cx="2194560" cy="1325880"/>
          </a:xfrm>
          <a:prstGeom prst="roundRect">
            <a:avLst>
              <a:gd name="adj" fmla="val 8000"/>
            </a:avLst>
          </a:prstGeom>
          <a:solidFill>
            <a:srgbClr val="1F6F8B"/>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3600" b="1" i="0">
                <a:solidFill>
                  <a:srgbClr val="FFFFFF"/>
                </a:solidFill>
                <a:latin typeface="Calibri"/>
              </a:rPr>
              <a:t>0.907</a:t>
            </a:r>
          </a:p>
          <a:p>
            <a:pPr algn="ctr"/>
            <a:r>
              <a:rPr sz="1200" b="0" i="0">
                <a:solidFill>
                  <a:srgbClr val="FFFFFF"/>
                </a:solidFill>
                <a:latin typeface="Calibri"/>
              </a:rPr>
              <a:t>Cohen's κ</a:t>
            </a:r>
          </a:p>
        </p:txBody>
      </p:sp>
      <p:sp>
        <p:nvSpPr>
          <p:cNvPr id="16" name="TextBox 15"/>
          <p:cNvSpPr txBox="1"/>
          <p:nvPr/>
        </p:nvSpPr>
        <p:spPr>
          <a:xfrm>
            <a:off x="7086600" y="4251960"/>
            <a:ext cx="4526280" cy="457200"/>
          </a:xfrm>
          <a:prstGeom prst="rect">
            <a:avLst/>
          </a:prstGeom>
          <a:noFill/>
        </p:spPr>
        <p:txBody>
          <a:bodyPr wrap="square" anchor="t" lIns="0" rIns="0" tIns="0" bIns="0">
            <a:spAutoFit/>
          </a:bodyPr>
          <a:lstStyle/>
          <a:p>
            <a:pPr algn="l">
              <a:spcAft>
                <a:spcPts val="600"/>
              </a:spcAft>
            </a:pPr>
            <a:r>
              <a:rPr sz="1100" b="0" i="1">
                <a:solidFill>
                  <a:srgbClr val="5F6670"/>
                </a:solidFill>
                <a:latin typeface="Calibri"/>
              </a:rPr>
              <a:t>128 full-resolution LEVIR-CD test images; threshold 0.41 chosen on the validation set.</a:t>
            </a:r>
          </a:p>
        </p:txBody>
      </p:sp>
      <p:pic>
        <p:nvPicPr>
          <p:cNvPr id="17" name="Picture 16" descr="g1_p0.jpg"/>
          <p:cNvPicPr>
            <a:picLocks noChangeAspect="1"/>
          </p:cNvPicPr>
          <p:nvPr/>
        </p:nvPicPr>
        <p:blipFill>
          <a:blip r:embed="rId2"/>
          <a:stretch>
            <a:fillRect/>
          </a:stretch>
        </p:blipFill>
        <p:spPr>
          <a:xfrm>
            <a:off x="7086600" y="4754880"/>
            <a:ext cx="1364958" cy="1371600"/>
          </a:xfrm>
          <a:prstGeom prst="rect">
            <a:avLst/>
          </a:prstGeom>
        </p:spPr>
      </p:pic>
      <p:pic>
        <p:nvPicPr>
          <p:cNvPr id="18" name="Picture 17" descr="g1_p1.jpg"/>
          <p:cNvPicPr>
            <a:picLocks noChangeAspect="1"/>
          </p:cNvPicPr>
          <p:nvPr/>
        </p:nvPicPr>
        <p:blipFill>
          <a:blip r:embed="rId3"/>
          <a:stretch>
            <a:fillRect/>
          </a:stretch>
        </p:blipFill>
        <p:spPr>
          <a:xfrm>
            <a:off x="8641080" y="4754880"/>
            <a:ext cx="1361637" cy="1371600"/>
          </a:xfrm>
          <a:prstGeom prst="rect">
            <a:avLst/>
          </a:prstGeom>
        </p:spPr>
      </p:pic>
      <p:pic>
        <p:nvPicPr>
          <p:cNvPr id="19" name="Picture 18" descr="g1_p5.jpg"/>
          <p:cNvPicPr>
            <a:picLocks noChangeAspect="1"/>
          </p:cNvPicPr>
          <p:nvPr/>
        </p:nvPicPr>
        <p:blipFill>
          <a:blip r:embed="rId4"/>
          <a:stretch>
            <a:fillRect/>
          </a:stretch>
        </p:blipFill>
        <p:spPr>
          <a:xfrm>
            <a:off x="10195560" y="4754880"/>
            <a:ext cx="1364958" cy="1371600"/>
          </a:xfrm>
          <a:prstGeom prst="rect">
            <a:avLst/>
          </a:prstGeom>
        </p:spPr>
      </p:pic>
      <p:sp>
        <p:nvSpPr>
          <p:cNvPr id="20" name="TextBox 19"/>
          <p:cNvSpPr txBox="1"/>
          <p:nvPr/>
        </p:nvSpPr>
        <p:spPr>
          <a:xfrm>
            <a:off x="7086600" y="6144768"/>
            <a:ext cx="1371600" cy="274320"/>
          </a:xfrm>
          <a:prstGeom prst="rect">
            <a:avLst/>
          </a:prstGeom>
          <a:noFill/>
        </p:spPr>
        <p:txBody>
          <a:bodyPr wrap="square" anchor="t" lIns="0" rIns="0" tIns="0" bIns="0">
            <a:spAutoFit/>
          </a:bodyPr>
          <a:lstStyle/>
          <a:p>
            <a:pPr algn="ctr">
              <a:spcAft>
                <a:spcPts val="600"/>
              </a:spcAft>
            </a:pPr>
            <a:r>
              <a:rPr sz="1000" b="0" i="0">
                <a:solidFill>
                  <a:srgbClr val="5F6670"/>
                </a:solidFill>
                <a:latin typeface="Calibri"/>
              </a:rPr>
              <a:t>Before</a:t>
            </a:r>
          </a:p>
        </p:txBody>
      </p:sp>
      <p:sp>
        <p:nvSpPr>
          <p:cNvPr id="21" name="TextBox 20"/>
          <p:cNvSpPr txBox="1"/>
          <p:nvPr/>
        </p:nvSpPr>
        <p:spPr>
          <a:xfrm>
            <a:off x="8641080" y="6144768"/>
            <a:ext cx="1371600" cy="274320"/>
          </a:xfrm>
          <a:prstGeom prst="rect">
            <a:avLst/>
          </a:prstGeom>
          <a:noFill/>
        </p:spPr>
        <p:txBody>
          <a:bodyPr wrap="square" anchor="t" lIns="0" rIns="0" tIns="0" bIns="0">
            <a:spAutoFit/>
          </a:bodyPr>
          <a:lstStyle/>
          <a:p>
            <a:pPr algn="ctr">
              <a:spcAft>
                <a:spcPts val="600"/>
              </a:spcAft>
            </a:pPr>
            <a:r>
              <a:rPr sz="1000" b="0" i="0">
                <a:solidFill>
                  <a:srgbClr val="5F6670"/>
                </a:solidFill>
                <a:latin typeface="Calibri"/>
              </a:rPr>
              <a:t>After</a:t>
            </a:r>
          </a:p>
        </p:txBody>
      </p:sp>
      <p:sp>
        <p:nvSpPr>
          <p:cNvPr id="22" name="TextBox 21"/>
          <p:cNvSpPr txBox="1"/>
          <p:nvPr/>
        </p:nvSpPr>
        <p:spPr>
          <a:xfrm>
            <a:off x="10195560" y="6144768"/>
            <a:ext cx="1371600" cy="274320"/>
          </a:xfrm>
          <a:prstGeom prst="rect">
            <a:avLst/>
          </a:prstGeom>
          <a:noFill/>
        </p:spPr>
        <p:txBody>
          <a:bodyPr wrap="square" anchor="t" lIns="0" rIns="0" tIns="0" bIns="0">
            <a:spAutoFit/>
          </a:bodyPr>
          <a:lstStyle/>
          <a:p>
            <a:pPr algn="ctr">
              <a:spcAft>
                <a:spcPts val="600"/>
              </a:spcAft>
            </a:pPr>
            <a:r>
              <a:rPr sz="1000" b="0" i="0">
                <a:solidFill>
                  <a:srgbClr val="5F6670"/>
                </a:solidFill>
                <a:latin typeface="Calibri"/>
              </a:rPr>
              <a:t>Detected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2. Introduction</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2206114</a:t>
            </a:r>
            <a:endParaRPr lang="en-GB" i="1" dirty="0">
              <a:solidFill>
                <a:srgbClr val="FFFF00"/>
              </a:solidFill>
              <a:latin typeface="Arial Narrow" panose="020B0606020202030204" pitchFamily="34" charset="0"/>
            </a:endParaRPr>
          </a:p>
        </p:txBody>
      </p:sp>
      <p:sp>
        <p:nvSpPr>
          <p:cNvPr id="11" name="TextBox 10"/>
          <p:cNvSpPr txBox="1"/>
          <p:nvPr/>
        </p:nvSpPr>
        <p:spPr>
          <a:xfrm>
            <a:off x="685800" y="1325880"/>
            <a:ext cx="5394960" cy="4846320"/>
          </a:xfrm>
          <a:prstGeom prst="rect">
            <a:avLst/>
          </a:prstGeom>
          <a:noFill/>
        </p:spPr>
        <p:txBody>
          <a:bodyPr wrap="square" anchor="t" lIns="45720" rIns="45720">
            <a:spAutoFit/>
          </a:bodyPr>
          <a:lstStyle/>
          <a:p>
            <a:pPr algn="l">
              <a:spcAft>
                <a:spcPts val="700"/>
              </a:spcAft>
            </a:pPr>
            <a:r>
              <a:rPr sz="1800" b="1" i="0">
                <a:solidFill>
                  <a:srgbClr val="C00000"/>
                </a:solidFill>
                <a:latin typeface="Calibri"/>
              </a:rPr>
              <a:t>Why urban change detection?</a:t>
            </a:r>
          </a:p>
          <a:p>
            <a:pPr algn="l" marL="228600" indent="-201168">
              <a:spcAft>
                <a:spcPts val="700"/>
              </a:spcAft>
              <a:buClr>
                <a:srgbClr val="C00000"/>
              </a:buClr>
              <a:buChar char="▪"/>
            </a:pPr>
            <a:r>
              <a:rPr sz="1500" b="0" i="0">
                <a:solidFill>
                  <a:srgbClr val="262B33"/>
                </a:solidFill>
                <a:latin typeface="Calibri"/>
              </a:rPr>
              <a:t>Cities such as Dhaka grow faster than manual surveys can map them.</a:t>
            </a:r>
          </a:p>
          <a:p>
            <a:pPr algn="l" marL="228600" indent="-201168">
              <a:spcAft>
                <a:spcPts val="700"/>
              </a:spcAft>
              <a:buClr>
                <a:srgbClr val="C00000"/>
              </a:buClr>
              <a:buChar char="▪"/>
            </a:pPr>
            <a:r>
              <a:rPr sz="1500" b="0" i="0">
                <a:solidFill>
                  <a:srgbClr val="262B33"/>
                </a:solidFill>
                <a:latin typeface="Calibri"/>
              </a:rPr>
              <a:t>Planners need to know where buildings and roads appear: unauthorised construction, encroachment on wetlands and flood zones, post-disaster damage.</a:t>
            </a:r>
          </a:p>
          <a:p>
            <a:pPr algn="l" marL="228600" indent="-201168">
              <a:spcAft>
                <a:spcPts val="700"/>
              </a:spcAft>
              <a:buClr>
                <a:srgbClr val="C00000"/>
              </a:buClr>
              <a:buChar char="▪"/>
            </a:pPr>
            <a:r>
              <a:rPr sz="1500" b="0" i="0">
                <a:solidFill>
                  <a:srgbClr val="262B33"/>
                </a:solidFill>
                <a:latin typeface="Calibri"/>
              </a:rPr>
              <a:t>Very-high-resolution satellite images are available regularly – the bottleneck is analysing them.</a:t>
            </a:r>
          </a:p>
          <a:p>
            <a:pPr algn="l">
              <a:spcAft>
                <a:spcPts val="700"/>
              </a:spcAft>
            </a:pPr>
            <a:r>
              <a:rPr sz="1800" b="1" i="0">
                <a:solidFill>
                  <a:srgbClr val="C00000"/>
                </a:solidFill>
                <a:latin typeface="Calibri"/>
              </a:rPr>
              <a:t>Why is it hard?</a:t>
            </a:r>
          </a:p>
          <a:p>
            <a:pPr algn="l" marL="228600" indent="-201168">
              <a:spcAft>
                <a:spcPts val="700"/>
              </a:spcAft>
              <a:buClr>
                <a:srgbClr val="C00000"/>
              </a:buClr>
              <a:buChar char="▪"/>
            </a:pPr>
            <a:r>
              <a:rPr sz="1500" b="0" i="0">
                <a:solidFill>
                  <a:srgbClr val="262B33"/>
                </a:solidFill>
                <a:latin typeface="Calibri"/>
              </a:rPr>
              <a:t>Pseudo-changes: sun angle, season, shadows, sensor colour.</a:t>
            </a:r>
          </a:p>
          <a:p>
            <a:pPr algn="l" marL="228600" indent="-201168">
              <a:spcAft>
                <a:spcPts val="700"/>
              </a:spcAft>
              <a:buClr>
                <a:srgbClr val="C00000"/>
              </a:buClr>
              <a:buChar char="▪"/>
            </a:pPr>
            <a:r>
              <a:rPr sz="1500" b="0" i="0">
                <a:solidFill>
                  <a:srgbClr val="262B33"/>
                </a:solidFill>
                <a:latin typeface="Calibri"/>
              </a:rPr>
              <a:t>Extreme imbalance: only ≈ 4.6 % of pixels change; 18 % of images have no change at all.</a:t>
            </a:r>
          </a:p>
          <a:p>
            <a:pPr algn="l" marL="228600" indent="-201168">
              <a:spcAft>
                <a:spcPts val="700"/>
              </a:spcAft>
              <a:buClr>
                <a:srgbClr val="C00000"/>
              </a:buClr>
              <a:buChar char="▪"/>
            </a:pPr>
            <a:r>
              <a:rPr sz="1500" b="0" i="0">
                <a:solidFill>
                  <a:srgbClr val="262B33"/>
                </a:solidFill>
                <a:latin typeface="Calibri"/>
              </a:rPr>
              <a:t>Small objects: a house is only 10–20 px wide at 0.5 m/pixel.</a:t>
            </a:r>
          </a:p>
        </p:txBody>
      </p:sp>
      <p:pic>
        <p:nvPicPr>
          <p:cNvPr id="12" name="Picture 11" descr="t1_full.jpg"/>
          <p:cNvPicPr>
            <a:picLocks noChangeAspect="1"/>
          </p:cNvPicPr>
          <p:nvPr/>
        </p:nvPicPr>
        <p:blipFill>
          <a:blip r:embed="rId2"/>
          <a:stretch>
            <a:fillRect/>
          </a:stretch>
        </p:blipFill>
        <p:spPr>
          <a:xfrm>
            <a:off x="6400800" y="1325880"/>
            <a:ext cx="2148840" cy="2148840"/>
          </a:xfrm>
          <a:prstGeom prst="rect">
            <a:avLst/>
          </a:prstGeom>
        </p:spPr>
      </p:pic>
      <p:sp>
        <p:nvSpPr>
          <p:cNvPr id="13" name="TextBox 12"/>
          <p:cNvSpPr txBox="1"/>
          <p:nvPr/>
        </p:nvSpPr>
        <p:spPr>
          <a:xfrm>
            <a:off x="6400800" y="3493008"/>
            <a:ext cx="214884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T1 – before</a:t>
            </a:r>
          </a:p>
        </p:txBody>
      </p:sp>
      <p:pic>
        <p:nvPicPr>
          <p:cNvPr id="14" name="Picture 13" descr="t2_full.jpg"/>
          <p:cNvPicPr>
            <a:picLocks noChangeAspect="1"/>
          </p:cNvPicPr>
          <p:nvPr/>
        </p:nvPicPr>
        <p:blipFill>
          <a:blip r:embed="rId3"/>
          <a:stretch>
            <a:fillRect/>
          </a:stretch>
        </p:blipFill>
        <p:spPr>
          <a:xfrm>
            <a:off x="9006840" y="1325880"/>
            <a:ext cx="2148840" cy="2148840"/>
          </a:xfrm>
          <a:prstGeom prst="rect">
            <a:avLst/>
          </a:prstGeom>
        </p:spPr>
      </p:pic>
      <p:sp>
        <p:nvSpPr>
          <p:cNvPr id="15" name="TextBox 14"/>
          <p:cNvSpPr txBox="1"/>
          <p:nvPr/>
        </p:nvSpPr>
        <p:spPr>
          <a:xfrm>
            <a:off x="9006840" y="3493008"/>
            <a:ext cx="214884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T2 – after</a:t>
            </a:r>
          </a:p>
        </p:txBody>
      </p:sp>
      <p:pic>
        <p:nvPicPr>
          <p:cNvPr id="16" name="Picture 15" descr="gt_full.png"/>
          <p:cNvPicPr>
            <a:picLocks noChangeAspect="1"/>
          </p:cNvPicPr>
          <p:nvPr/>
        </p:nvPicPr>
        <p:blipFill>
          <a:blip r:embed="rId4"/>
          <a:stretch>
            <a:fillRect/>
          </a:stretch>
        </p:blipFill>
        <p:spPr>
          <a:xfrm>
            <a:off x="7708392" y="3794760"/>
            <a:ext cx="2148840" cy="2148840"/>
          </a:xfrm>
          <a:prstGeom prst="rect">
            <a:avLst/>
          </a:prstGeom>
        </p:spPr>
      </p:pic>
      <p:sp>
        <p:nvSpPr>
          <p:cNvPr id="17" name="TextBox 16"/>
          <p:cNvSpPr txBox="1"/>
          <p:nvPr/>
        </p:nvSpPr>
        <p:spPr>
          <a:xfrm>
            <a:off x="7708392" y="5961888"/>
            <a:ext cx="214884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Ground-truth change mask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3.1 Design: Literature Review</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2206114</a:t>
            </a:r>
            <a:endParaRPr lang="en-GB" i="1" dirty="0">
              <a:solidFill>
                <a:srgbClr val="FFFF00"/>
              </a:solidFill>
              <a:latin typeface="Arial Narrow" panose="020B0606020202030204" pitchFamily="34" charset="0"/>
            </a:endParaRPr>
          </a:p>
        </p:txBody>
      </p:sp>
      <p:sp>
        <p:nvSpPr>
          <p:cNvPr id="11" name="TextBox 10"/>
          <p:cNvSpPr txBox="1"/>
          <p:nvPr/>
        </p:nvSpPr>
        <p:spPr>
          <a:xfrm>
            <a:off x="685800" y="1325880"/>
            <a:ext cx="5212080" cy="4846320"/>
          </a:xfrm>
          <a:prstGeom prst="rect">
            <a:avLst/>
          </a:prstGeom>
          <a:noFill/>
        </p:spPr>
        <p:txBody>
          <a:bodyPr wrap="square" anchor="t" lIns="45720" rIns="45720">
            <a:spAutoFit/>
          </a:bodyPr>
          <a:lstStyle/>
          <a:p>
            <a:pPr algn="l" marL="228600" indent="-201168">
              <a:spcAft>
                <a:spcPts val="900"/>
              </a:spcAft>
              <a:buClr>
                <a:srgbClr val="C00000"/>
              </a:buClr>
              <a:buChar char="▪"/>
            </a:pPr>
            <a:r>
              <a:rPr sz="1500" b="1" i="0">
                <a:solidFill>
                  <a:srgbClr val="262B33"/>
                </a:solidFill>
                <a:latin typeface="Calibri"/>
              </a:rPr>
              <a:t>Classical: </a:t>
            </a:r>
            <a:r>
              <a:rPr sz="1500" b="0" i="0">
                <a:solidFill>
                  <a:srgbClr val="262B33"/>
                </a:solidFill>
                <a:latin typeface="Calibri"/>
              </a:rPr>
              <a:t>image differencing, change-vector analysis, PCA – fast but sensitive to illumination.</a:t>
            </a:r>
          </a:p>
          <a:p>
            <a:pPr algn="l" marL="228600" indent="-201168">
              <a:spcAft>
                <a:spcPts val="900"/>
              </a:spcAft>
              <a:buClr>
                <a:srgbClr val="C00000"/>
              </a:buClr>
              <a:buChar char="▪"/>
            </a:pPr>
            <a:r>
              <a:rPr sz="1500" b="1" i="0">
                <a:solidFill>
                  <a:srgbClr val="262B33"/>
                </a:solidFill>
                <a:latin typeface="Calibri"/>
              </a:rPr>
              <a:t>Siamese CNNs: </a:t>
            </a:r>
            <a:r>
              <a:rPr sz="1500" b="0" i="0">
                <a:solidFill>
                  <a:srgbClr val="262B33"/>
                </a:solidFill>
                <a:latin typeface="Calibri"/>
              </a:rPr>
              <a:t>FC-Siam-diff / conc (Daudt 2018) – two weight-sharing encoders, feature difference.</a:t>
            </a:r>
          </a:p>
          <a:p>
            <a:pPr algn="l" marL="228600" indent="-201168">
              <a:spcAft>
                <a:spcPts val="900"/>
              </a:spcAft>
              <a:buClr>
                <a:srgbClr val="C00000"/>
              </a:buClr>
              <a:buChar char="▪"/>
            </a:pPr>
            <a:r>
              <a:rPr sz="1500" b="1" i="0">
                <a:solidFill>
                  <a:srgbClr val="262B33"/>
                </a:solidFill>
                <a:latin typeface="Calibri"/>
              </a:rPr>
              <a:t>Attention: </a:t>
            </a:r>
            <a:r>
              <a:rPr sz="1500" b="0" i="0">
                <a:solidFill>
                  <a:srgbClr val="262B33"/>
                </a:solidFill>
                <a:latin typeface="Calibri"/>
              </a:rPr>
              <a:t>STANet (Chen &amp; Shi 2020) – spatial-temporal attention; introduced LEVIR-CD.</a:t>
            </a:r>
          </a:p>
          <a:p>
            <a:pPr algn="l" marL="228600" indent="-201168">
              <a:spcAft>
                <a:spcPts val="900"/>
              </a:spcAft>
              <a:buClr>
                <a:srgbClr val="C00000"/>
              </a:buClr>
              <a:buChar char="▪"/>
            </a:pPr>
            <a:r>
              <a:rPr sz="1500" b="1" i="0">
                <a:solidFill>
                  <a:srgbClr val="262B33"/>
                </a:solidFill>
                <a:latin typeface="Calibri"/>
              </a:rPr>
              <a:t>Transformers: </a:t>
            </a:r>
            <a:r>
              <a:rPr sz="1500" b="0" i="0">
                <a:solidFill>
                  <a:srgbClr val="262B33"/>
                </a:solidFill>
                <a:latin typeface="Calibri"/>
              </a:rPr>
              <a:t>BIT (2021), ChangeFormer (2022) – global context, higher cost.</a:t>
            </a:r>
          </a:p>
          <a:p>
            <a:pPr algn="l" marL="228600" indent="-201168">
              <a:spcAft>
                <a:spcPts val="900"/>
              </a:spcAft>
              <a:buClr>
                <a:srgbClr val="C00000"/>
              </a:buClr>
              <a:buChar char="▪"/>
            </a:pPr>
            <a:r>
              <a:rPr sz="1500" b="1" i="0">
                <a:solidFill>
                  <a:srgbClr val="262B33"/>
                </a:solidFill>
                <a:latin typeface="Calibri"/>
              </a:rPr>
              <a:t>Edge priors: </a:t>
            </a:r>
            <a:r>
              <a:rPr sz="1500" b="0" i="0">
                <a:solidFill>
                  <a:srgbClr val="262B33"/>
                </a:solidFill>
                <a:latin typeface="Calibri"/>
              </a:rPr>
              <a:t>HED-style class-balanced edge supervision sharpens boundaries.</a:t>
            </a:r>
          </a:p>
          <a:p>
            <a:pPr algn="l" marL="228600" indent="-201168">
              <a:spcAft>
                <a:spcPts val="900"/>
              </a:spcAft>
              <a:buClr>
                <a:srgbClr val="C00000"/>
              </a:buClr>
              <a:buChar char="▪"/>
            </a:pPr>
            <a:r>
              <a:rPr sz="1500" b="1" i="0">
                <a:solidFill>
                  <a:srgbClr val="C00000"/>
                </a:solidFill>
                <a:latin typeface="Calibri"/>
              </a:rPr>
              <a:t>Gap we address: </a:t>
            </a:r>
            <a:r>
              <a:rPr sz="1500" b="0" i="0">
                <a:solidFill>
                  <a:srgbClr val="262B33"/>
                </a:solidFill>
                <a:latin typeface="Calibri"/>
              </a:rPr>
              <a:t>explicit DSP edge features + attention in a light CNN that trains on a laptop.</a:t>
            </a:r>
          </a:p>
        </p:txBody>
      </p:sp>
      <p:graphicFrame>
        <p:nvGraphicFramePr>
          <p:cNvPr id="12" name="Chart 11"/>
          <p:cNvGraphicFramePr>
            <a:graphicFrameLocks noGrp="1"/>
          </p:cNvGraphicFramePr>
          <p:nvPr/>
        </p:nvGraphicFramePr>
        <p:xfrm>
          <a:off x="6126480" y="1280160"/>
          <a:ext cx="5486400" cy="4343400"/>
        </p:xfrm>
        <a:graphic>
          <a:graphicData uri="http://schemas.openxmlformats.org/drawingml/2006/chart">
            <c:chart xmlns:c="http://schemas.openxmlformats.org/drawingml/2006/chart" r:id="rId2"/>
          </a:graphicData>
        </a:graphic>
      </p:graphicFrame>
      <p:sp>
        <p:nvSpPr>
          <p:cNvPr id="13" name="TextBox 12"/>
          <p:cNvSpPr txBox="1"/>
          <p:nvPr/>
        </p:nvSpPr>
        <p:spPr>
          <a:xfrm>
            <a:off x="6126480" y="5669280"/>
            <a:ext cx="5486400" cy="640080"/>
          </a:xfrm>
          <a:prstGeom prst="rect">
            <a:avLst/>
          </a:prstGeom>
          <a:noFill/>
        </p:spPr>
        <p:txBody>
          <a:bodyPr wrap="square" anchor="t" lIns="0" rIns="0" tIns="0" bIns="0">
            <a:spAutoFit/>
          </a:bodyPr>
          <a:lstStyle/>
          <a:p>
            <a:pPr algn="l">
              <a:spcAft>
                <a:spcPts val="600"/>
              </a:spcAft>
            </a:pPr>
            <a:r>
              <a:rPr sz="1000" b="0" i="1">
                <a:solidFill>
                  <a:srgbClr val="5F6670"/>
                </a:solidFill>
                <a:latin typeface="Calibri"/>
              </a:rPr>
              <a:t>Published values from Bandara &amp; Patel (2022). Our figure uses sliding-window inference with test-time augmentation on the same 128 test images, so the comparison is indicative, not identical protocol.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3.2 Design Methods (PO(a))</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2206104</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600200"/>
            <a:ext cx="1673352" cy="141732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Bi-temporal pair</a:t>
            </a:r>
          </a:p>
          <a:p>
            <a:pPr algn="ctr"/>
            <a:r>
              <a:rPr sz="1100" b="0" i="0">
                <a:solidFill>
                  <a:srgbClr val="FFFFFF"/>
                </a:solidFill>
                <a:latin typeface="Calibri"/>
              </a:rPr>
              <a:t>T1, T2 RGB
1024×1024, 0.5 m/px</a:t>
            </a:r>
          </a:p>
        </p:txBody>
      </p:sp>
      <p:cxnSp>
        <p:nvCxnSpPr>
          <p:cNvPr id="12" name="Connector 11"/>
          <p:cNvCxnSpPr/>
          <p:nvPr/>
        </p:nvCxnSpPr>
        <p:spPr>
          <a:xfrm>
            <a:off x="2377440" y="2313432"/>
            <a:ext cx="219456"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15184" y="1600200"/>
            <a:ext cx="1673352" cy="141732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DSP front-end</a:t>
            </a:r>
          </a:p>
          <a:p>
            <a:pPr algn="ctr"/>
            <a:r>
              <a:rPr sz="1100" b="0" i="0">
                <a:solidFill>
                  <a:srgbClr val="FFFFFF"/>
                </a:solidFill>
                <a:latin typeface="Calibri"/>
              </a:rPr>
              <a:t>Gray → Gaussian
→ Canny edges</a:t>
            </a:r>
          </a:p>
        </p:txBody>
      </p:sp>
      <p:cxnSp>
        <p:nvCxnSpPr>
          <p:cNvPr id="14" name="Connector 13"/>
          <p:cNvCxnSpPr/>
          <p:nvPr/>
        </p:nvCxnSpPr>
        <p:spPr>
          <a:xfrm>
            <a:off x="4306824" y="2313432"/>
            <a:ext cx="219456"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544568" y="1600200"/>
            <a:ext cx="1673352" cy="141732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4-ch input</a:t>
            </a:r>
          </a:p>
          <a:p>
            <a:pPr algn="ctr"/>
            <a:r>
              <a:rPr sz="1100" b="0" i="0">
                <a:solidFill>
                  <a:srgbClr val="FFFFFF"/>
                </a:solidFill>
                <a:latin typeface="Calibri"/>
              </a:rPr>
              <a:t>RGB + edge,
standardised</a:t>
            </a:r>
          </a:p>
        </p:txBody>
      </p:sp>
      <p:cxnSp>
        <p:nvCxnSpPr>
          <p:cNvPr id="16" name="Connector 15"/>
          <p:cNvCxnSpPr/>
          <p:nvPr/>
        </p:nvCxnSpPr>
        <p:spPr>
          <a:xfrm>
            <a:off x="6236208" y="2313432"/>
            <a:ext cx="219456"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473952" y="1600200"/>
            <a:ext cx="1673352" cy="141732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Siamese encoder</a:t>
            </a:r>
          </a:p>
          <a:p>
            <a:pPr algn="ctr"/>
            <a:r>
              <a:rPr sz="1100" b="0" i="0">
                <a:solidFill>
                  <a:srgbClr val="FFFFFF"/>
                </a:solidFill>
                <a:latin typeface="Calibri"/>
              </a:rPr>
              <a:t>ResNet-34,
shared weights</a:t>
            </a:r>
          </a:p>
        </p:txBody>
      </p:sp>
      <p:cxnSp>
        <p:nvCxnSpPr>
          <p:cNvPr id="18" name="Connector 17"/>
          <p:cNvCxnSpPr/>
          <p:nvPr/>
        </p:nvCxnSpPr>
        <p:spPr>
          <a:xfrm>
            <a:off x="8165592" y="2313432"/>
            <a:ext cx="219456"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403336" y="1600200"/>
            <a:ext cx="1673352" cy="141732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Fusion + decoder</a:t>
            </a:r>
          </a:p>
          <a:p>
            <a:pPr algn="ctr"/>
            <a:r>
              <a:rPr sz="1100" b="0" i="0">
                <a:solidFill>
                  <a:srgbClr val="FFFFFF"/>
                </a:solidFill>
                <a:latin typeface="Calibri"/>
              </a:rPr>
              <a:t>BAM attention,
Siam-Concat, U-Net</a:t>
            </a:r>
          </a:p>
        </p:txBody>
      </p:sp>
      <p:cxnSp>
        <p:nvCxnSpPr>
          <p:cNvPr id="20" name="Connector 19"/>
          <p:cNvCxnSpPr/>
          <p:nvPr/>
        </p:nvCxnSpPr>
        <p:spPr>
          <a:xfrm>
            <a:off x="10094976" y="2313432"/>
            <a:ext cx="219456"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332720" y="1600200"/>
            <a:ext cx="1673352" cy="141732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Change map</a:t>
            </a:r>
          </a:p>
          <a:p>
            <a:pPr algn="ctr"/>
            <a:r>
              <a:rPr sz="1100" b="0" i="0">
                <a:solidFill>
                  <a:srgbClr val="FFFFFF"/>
                </a:solidFill>
                <a:latin typeface="Calibri"/>
              </a:rPr>
              <a:t>Threshold 0.41,
polygons, GUI</a:t>
            </a:r>
          </a:p>
        </p:txBody>
      </p:sp>
      <p:sp>
        <p:nvSpPr>
          <p:cNvPr id="22" name="TextBox 21"/>
          <p:cNvSpPr txBox="1"/>
          <p:nvPr/>
        </p:nvSpPr>
        <p:spPr>
          <a:xfrm>
            <a:off x="685800" y="3108960"/>
            <a:ext cx="3657600" cy="274320"/>
          </a:xfrm>
          <a:prstGeom prst="rect">
            <a:avLst/>
          </a:prstGeom>
          <a:noFill/>
        </p:spPr>
        <p:txBody>
          <a:bodyPr wrap="square" anchor="t" lIns="0" rIns="0" tIns="0" bIns="0">
            <a:spAutoFit/>
          </a:bodyPr>
          <a:lstStyle/>
          <a:p>
            <a:pPr algn="l">
              <a:spcAft>
                <a:spcPts val="600"/>
              </a:spcAft>
            </a:pPr>
            <a:r>
              <a:rPr sz="1100" b="0" i="0">
                <a:solidFill>
                  <a:srgbClr val="5F6670"/>
                </a:solidFill>
                <a:latin typeface="Calibri"/>
              </a:rPr>
              <a:t>DSP stages (red)       Deep-learning stages (dark)</a:t>
            </a:r>
          </a:p>
        </p:txBody>
      </p:sp>
      <p:sp>
        <p:nvSpPr>
          <p:cNvPr id="23" name="Rounded Rectangle 22"/>
          <p:cNvSpPr/>
          <p:nvPr/>
        </p:nvSpPr>
        <p:spPr>
          <a:xfrm>
            <a:off x="685800" y="3520440"/>
            <a:ext cx="3474720" cy="27432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868680" y="3630168"/>
            <a:ext cx="3154680" cy="256032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Mathematics &amp; DSP</a:t>
            </a:r>
          </a:p>
          <a:p>
            <a:pPr algn="l" marL="228600" indent="-201168">
              <a:spcAft>
                <a:spcPts val="600"/>
              </a:spcAft>
              <a:buClr>
                <a:srgbClr val="C00000"/>
              </a:buClr>
              <a:buChar char="▪"/>
            </a:pPr>
            <a:r>
              <a:rPr sz="1300" b="0" i="0">
                <a:solidFill>
                  <a:srgbClr val="262B33"/>
                </a:solidFill>
                <a:latin typeface="Calibri"/>
              </a:rPr>
              <a:t>2-D convolution with Gaussian and Sobel kernels</a:t>
            </a:r>
          </a:p>
          <a:p>
            <a:pPr algn="l" marL="228600" indent="-201168">
              <a:spcAft>
                <a:spcPts val="600"/>
              </a:spcAft>
              <a:buClr>
                <a:srgbClr val="C00000"/>
              </a:buClr>
              <a:buChar char="▪"/>
            </a:pPr>
            <a:r>
              <a:rPr sz="1300" b="0" i="0">
                <a:solidFill>
                  <a:srgbClr val="262B33"/>
                </a:solidFill>
                <a:latin typeface="Calibri"/>
              </a:rPr>
              <a:t>Gradient magnitude / direction, non-max suppression, hysteresis</a:t>
            </a:r>
          </a:p>
          <a:p>
            <a:pPr algn="l" marL="228600" indent="-201168">
              <a:spcAft>
                <a:spcPts val="600"/>
              </a:spcAft>
              <a:buClr>
                <a:srgbClr val="C00000"/>
              </a:buClr>
              <a:buChar char="▪"/>
            </a:pPr>
            <a:r>
              <a:rPr sz="1300" b="0" i="0">
                <a:solidFill>
                  <a:srgbClr val="262B33"/>
                </a:solidFill>
                <a:latin typeface="Calibri"/>
              </a:rPr>
              <a:t>Channel standardisation (zero mean, unit variance)</a:t>
            </a:r>
          </a:p>
        </p:txBody>
      </p:sp>
      <p:sp>
        <p:nvSpPr>
          <p:cNvPr id="25" name="Rounded Rectangle 24"/>
          <p:cNvSpPr/>
          <p:nvPr/>
        </p:nvSpPr>
        <p:spPr>
          <a:xfrm>
            <a:off x="4389120" y="3520440"/>
            <a:ext cx="3474720" cy="27432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TextBox 25"/>
          <p:cNvSpPr txBox="1"/>
          <p:nvPr/>
        </p:nvSpPr>
        <p:spPr>
          <a:xfrm>
            <a:off x="4572000" y="3630168"/>
            <a:ext cx="3154680" cy="256032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Machine learning</a:t>
            </a:r>
          </a:p>
          <a:p>
            <a:pPr algn="l" marL="228600" indent="-201168">
              <a:spcAft>
                <a:spcPts val="600"/>
              </a:spcAft>
              <a:buClr>
                <a:srgbClr val="C00000"/>
              </a:buClr>
              <a:buChar char="▪"/>
            </a:pPr>
            <a:r>
              <a:rPr sz="1300" b="0" i="0">
                <a:solidFill>
                  <a:srgbClr val="262B33"/>
                </a:solidFill>
                <a:latin typeface="Calibri"/>
              </a:rPr>
              <a:t>Weight-sharing Siamese CNN, transfer learning (ImageNet)</a:t>
            </a:r>
          </a:p>
          <a:p>
            <a:pPr algn="l" marL="228600" indent="-201168">
              <a:spcAft>
                <a:spcPts val="600"/>
              </a:spcAft>
              <a:buClr>
                <a:srgbClr val="C00000"/>
              </a:buClr>
              <a:buChar char="▪"/>
            </a:pPr>
            <a:r>
              <a:rPr sz="1300" b="0" i="0">
                <a:solidFill>
                  <a:srgbClr val="262B33"/>
                </a:solidFill>
                <a:latin typeface="Calibri"/>
              </a:rPr>
              <a:t>Scaled dot-product attention across both dates</a:t>
            </a:r>
          </a:p>
          <a:p>
            <a:pPr algn="l" marL="228600" indent="-201168">
              <a:spcAft>
                <a:spcPts val="600"/>
              </a:spcAft>
              <a:buClr>
                <a:srgbClr val="C00000"/>
              </a:buClr>
              <a:buChar char="▪"/>
            </a:pPr>
            <a:r>
              <a:rPr sz="1300" b="0" i="0">
                <a:solidFill>
                  <a:srgbClr val="262B33"/>
                </a:solidFill>
                <a:latin typeface="Calibri"/>
              </a:rPr>
              <a:t>Multi-task loss: BCE + Dice + class-balanced edge</a:t>
            </a:r>
          </a:p>
        </p:txBody>
      </p:sp>
      <p:sp>
        <p:nvSpPr>
          <p:cNvPr id="27" name="Rounded Rectangle 26"/>
          <p:cNvSpPr/>
          <p:nvPr/>
        </p:nvSpPr>
        <p:spPr>
          <a:xfrm>
            <a:off x="8092440" y="3520440"/>
            <a:ext cx="3474720" cy="274320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8275319" y="3630168"/>
            <a:ext cx="3154680" cy="256032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Engineering / software</a:t>
            </a:r>
          </a:p>
          <a:p>
            <a:pPr algn="l" marL="228600" indent="-201168">
              <a:spcAft>
                <a:spcPts val="600"/>
              </a:spcAft>
              <a:buClr>
                <a:srgbClr val="C00000"/>
              </a:buClr>
              <a:buChar char="▪"/>
            </a:pPr>
            <a:r>
              <a:rPr sz="1300" b="0" i="0">
                <a:solidFill>
                  <a:srgbClr val="262B33"/>
                </a:solidFill>
                <a:latin typeface="Calibri"/>
              </a:rPr>
              <a:t>Python, PyTorch (Apple MPS GPU), OpenCV</a:t>
            </a:r>
          </a:p>
          <a:p>
            <a:pPr algn="l" marL="228600" indent="-201168">
              <a:spcAft>
                <a:spcPts val="600"/>
              </a:spcAft>
              <a:buClr>
                <a:srgbClr val="C00000"/>
              </a:buClr>
              <a:buChar char="▪"/>
            </a:pPr>
            <a:r>
              <a:rPr sz="1300" b="0" i="0">
                <a:solidFill>
                  <a:srgbClr val="262B33"/>
                </a:solidFill>
                <a:latin typeface="Calibri"/>
              </a:rPr>
              <a:t>Sliding-window inference with cosine blending</a:t>
            </a:r>
          </a:p>
          <a:p>
            <a:pPr algn="l" marL="228600" indent="-201168">
              <a:spcAft>
                <a:spcPts val="600"/>
              </a:spcAft>
              <a:buClr>
                <a:srgbClr val="C00000"/>
              </a:buClr>
              <a:buChar char="▪"/>
            </a:pPr>
            <a:r>
              <a:rPr sz="1300" b="0" i="0">
                <a:solidFill>
                  <a:srgbClr val="262B33"/>
                </a:solidFill>
                <a:latin typeface="Calibri"/>
              </a:rPr>
              <a:t>PyQt5 multithreaded GUI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3.2 Design Methods: DSP Front-End</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2206104</a:t>
            </a:r>
            <a:endParaRPr lang="en-GB" i="1" dirty="0">
              <a:solidFill>
                <a:srgbClr val="FFFF00"/>
              </a:solidFill>
              <a:latin typeface="Arial Narrow" panose="020B0606020202030204" pitchFamily="34" charset="0"/>
            </a:endParaRPr>
          </a:p>
        </p:txBody>
      </p:sp>
      <p:pic>
        <p:nvPicPr>
          <p:cNvPr id="11" name="Picture 10" descr="dsp1_rgb.png"/>
          <p:cNvPicPr>
            <a:picLocks noChangeAspect="1"/>
          </p:cNvPicPr>
          <p:nvPr/>
        </p:nvPicPr>
        <p:blipFill>
          <a:blip r:embed="rId2"/>
          <a:stretch>
            <a:fillRect/>
          </a:stretch>
        </p:blipFill>
        <p:spPr>
          <a:xfrm>
            <a:off x="685800" y="1325880"/>
            <a:ext cx="2560320" cy="2560320"/>
          </a:xfrm>
          <a:prstGeom prst="rect">
            <a:avLst/>
          </a:prstGeom>
        </p:spPr>
      </p:pic>
      <p:sp>
        <p:nvSpPr>
          <p:cNvPr id="12" name="TextBox 11"/>
          <p:cNvSpPr txBox="1"/>
          <p:nvPr/>
        </p:nvSpPr>
        <p:spPr>
          <a:xfrm>
            <a:off x="685800" y="3904487"/>
            <a:ext cx="256032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RGB (After image)</a:t>
            </a:r>
          </a:p>
        </p:txBody>
      </p:sp>
      <p:pic>
        <p:nvPicPr>
          <p:cNvPr id="13" name="Picture 12" descr="dsp3_blur.png"/>
          <p:cNvPicPr>
            <a:picLocks noChangeAspect="1"/>
          </p:cNvPicPr>
          <p:nvPr/>
        </p:nvPicPr>
        <p:blipFill>
          <a:blip r:embed="rId3"/>
          <a:stretch>
            <a:fillRect/>
          </a:stretch>
        </p:blipFill>
        <p:spPr>
          <a:xfrm>
            <a:off x="3474720" y="1325880"/>
            <a:ext cx="2560320" cy="2560320"/>
          </a:xfrm>
          <a:prstGeom prst="rect">
            <a:avLst/>
          </a:prstGeom>
        </p:spPr>
      </p:pic>
      <p:sp>
        <p:nvSpPr>
          <p:cNvPr id="14" name="TextBox 13"/>
          <p:cNvSpPr txBox="1"/>
          <p:nvPr/>
        </p:nvSpPr>
        <p:spPr>
          <a:xfrm>
            <a:off x="3474720" y="3904487"/>
            <a:ext cx="256032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Gaussian low-pass, 5×5, σ = 1</a:t>
            </a:r>
          </a:p>
        </p:txBody>
      </p:sp>
      <p:pic>
        <p:nvPicPr>
          <p:cNvPr id="15" name="Picture 14" descr="dsp4_canny.png"/>
          <p:cNvPicPr>
            <a:picLocks noChangeAspect="1"/>
          </p:cNvPicPr>
          <p:nvPr/>
        </p:nvPicPr>
        <p:blipFill>
          <a:blip r:embed="rId4"/>
          <a:stretch>
            <a:fillRect/>
          </a:stretch>
        </p:blipFill>
        <p:spPr>
          <a:xfrm>
            <a:off x="6263640" y="1325880"/>
            <a:ext cx="2560320" cy="2560320"/>
          </a:xfrm>
          <a:prstGeom prst="rect">
            <a:avLst/>
          </a:prstGeom>
        </p:spPr>
      </p:pic>
      <p:sp>
        <p:nvSpPr>
          <p:cNvPr id="16" name="TextBox 15"/>
          <p:cNvSpPr txBox="1"/>
          <p:nvPr/>
        </p:nvSpPr>
        <p:spPr>
          <a:xfrm>
            <a:off x="6263640" y="3904487"/>
            <a:ext cx="256032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Canny edges, thresholds 50 / 150</a:t>
            </a:r>
          </a:p>
        </p:txBody>
      </p:sp>
      <p:pic>
        <p:nvPicPr>
          <p:cNvPr id="17" name="Picture 16" descr="dsp5_fused.png"/>
          <p:cNvPicPr>
            <a:picLocks noChangeAspect="1"/>
          </p:cNvPicPr>
          <p:nvPr/>
        </p:nvPicPr>
        <p:blipFill>
          <a:blip r:embed="rId5"/>
          <a:stretch>
            <a:fillRect/>
          </a:stretch>
        </p:blipFill>
        <p:spPr>
          <a:xfrm>
            <a:off x="9052559" y="1325880"/>
            <a:ext cx="2560320" cy="2560320"/>
          </a:xfrm>
          <a:prstGeom prst="rect">
            <a:avLst/>
          </a:prstGeom>
        </p:spPr>
      </p:pic>
      <p:sp>
        <p:nvSpPr>
          <p:cNvPr id="18" name="TextBox 17"/>
          <p:cNvSpPr txBox="1"/>
          <p:nvPr/>
        </p:nvSpPr>
        <p:spPr>
          <a:xfrm>
            <a:off x="9052559" y="3904487"/>
            <a:ext cx="256032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RGB + edge (4th channel)</a:t>
            </a:r>
          </a:p>
        </p:txBody>
      </p:sp>
      <p:sp>
        <p:nvSpPr>
          <p:cNvPr id="19" name="Rounded Rectangle 18"/>
          <p:cNvSpPr/>
          <p:nvPr/>
        </p:nvSpPr>
        <p:spPr>
          <a:xfrm>
            <a:off x="685800" y="4315968"/>
            <a:ext cx="2606040" cy="196596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795528" y="4389120"/>
            <a:ext cx="2395728" cy="1828800"/>
          </a:xfrm>
          <a:prstGeom prst="rect">
            <a:avLst/>
          </a:prstGeom>
          <a:noFill/>
        </p:spPr>
        <p:txBody>
          <a:bodyPr wrap="square" anchor="t" lIns="45720" rIns="45720">
            <a:spAutoFit/>
          </a:bodyPr>
          <a:lstStyle/>
          <a:p>
            <a:pPr algn="l">
              <a:spcAft>
                <a:spcPts val="400"/>
              </a:spcAft>
            </a:pPr>
            <a:r>
              <a:rPr sz="1300" b="1" i="0">
                <a:solidFill>
                  <a:srgbClr val="C00000"/>
                </a:solidFill>
                <a:latin typeface="Calibri"/>
              </a:rPr>
              <a:t>Smoothing (2-D convolution)</a:t>
            </a:r>
          </a:p>
          <a:p>
            <a:pPr algn="l">
              <a:spcAft>
                <a:spcPts val="200"/>
              </a:spcAft>
            </a:pPr>
            <a:r>
              <a:rPr sz="1300" b="0" i="0">
                <a:solidFill>
                  <a:srgbClr val="262B33"/>
                </a:solidFill>
                <a:latin typeface="Cambria"/>
              </a:rPr>
              <a:t>G(x,y) = exp(−(x² + y²) / 2σ²) / 2πσ²
Is = I ∗ G   (5 × 5 kernel, σ = 1)</a:t>
            </a:r>
          </a:p>
        </p:txBody>
      </p:sp>
      <p:sp>
        <p:nvSpPr>
          <p:cNvPr id="21" name="Rounded Rectangle 20"/>
          <p:cNvSpPr/>
          <p:nvPr/>
        </p:nvSpPr>
        <p:spPr>
          <a:xfrm>
            <a:off x="3474720" y="4315968"/>
            <a:ext cx="2606040" cy="196596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3584448" y="4389120"/>
            <a:ext cx="2395728" cy="1828800"/>
          </a:xfrm>
          <a:prstGeom prst="rect">
            <a:avLst/>
          </a:prstGeom>
          <a:noFill/>
        </p:spPr>
        <p:txBody>
          <a:bodyPr wrap="square" anchor="t" lIns="45720" rIns="45720">
            <a:spAutoFit/>
          </a:bodyPr>
          <a:lstStyle/>
          <a:p>
            <a:pPr algn="l">
              <a:spcAft>
                <a:spcPts val="400"/>
              </a:spcAft>
            </a:pPr>
            <a:r>
              <a:rPr sz="1300" b="1" i="0">
                <a:solidFill>
                  <a:srgbClr val="C00000"/>
                </a:solidFill>
                <a:latin typeface="Calibri"/>
              </a:rPr>
              <a:t>Gradient (Sobel)</a:t>
            </a:r>
          </a:p>
          <a:p>
            <a:pPr algn="l">
              <a:spcAft>
                <a:spcPts val="200"/>
              </a:spcAft>
            </a:pPr>
            <a:r>
              <a:rPr sz="1300" b="0" i="0">
                <a:solidFill>
                  <a:srgbClr val="262B33"/>
                </a:solidFill>
                <a:latin typeface="Cambria"/>
              </a:rPr>
              <a:t>Gx = Sx ∗ Is,   Gy = Sy ∗ Is
|∇I| = √(Gx² + Gy²)
θ = atan2(Gy, Gx)</a:t>
            </a:r>
          </a:p>
        </p:txBody>
      </p:sp>
      <p:sp>
        <p:nvSpPr>
          <p:cNvPr id="23" name="Rounded Rectangle 22"/>
          <p:cNvSpPr/>
          <p:nvPr/>
        </p:nvSpPr>
        <p:spPr>
          <a:xfrm>
            <a:off x="6263640" y="4315968"/>
            <a:ext cx="2606040" cy="196596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6373368" y="4389120"/>
            <a:ext cx="2395728" cy="1828800"/>
          </a:xfrm>
          <a:prstGeom prst="rect">
            <a:avLst/>
          </a:prstGeom>
          <a:noFill/>
        </p:spPr>
        <p:txBody>
          <a:bodyPr wrap="square" anchor="t" lIns="45720" rIns="45720">
            <a:spAutoFit/>
          </a:bodyPr>
          <a:lstStyle/>
          <a:p>
            <a:pPr algn="l">
              <a:spcAft>
                <a:spcPts val="400"/>
              </a:spcAft>
            </a:pPr>
            <a:r>
              <a:rPr sz="1300" b="1" i="0">
                <a:solidFill>
                  <a:srgbClr val="C00000"/>
                </a:solidFill>
                <a:latin typeface="Calibri"/>
              </a:rPr>
              <a:t>Edge decision</a:t>
            </a:r>
          </a:p>
          <a:p>
            <a:pPr algn="l">
              <a:spcAft>
                <a:spcPts val="200"/>
              </a:spcAft>
            </a:pPr>
            <a:r>
              <a:rPr sz="1300" b="0" i="0">
                <a:solidFill>
                  <a:srgbClr val="262B33"/>
                </a:solidFill>
                <a:latin typeface="Cambria"/>
              </a:rPr>
              <a:t>Non-maximum suppression along θ
Hysteresis: strong &gt; 150, weak 50–150</a:t>
            </a:r>
          </a:p>
        </p:txBody>
      </p:sp>
      <p:sp>
        <p:nvSpPr>
          <p:cNvPr id="25" name="Rounded Rectangle 24"/>
          <p:cNvSpPr/>
          <p:nvPr/>
        </p:nvSpPr>
        <p:spPr>
          <a:xfrm>
            <a:off x="9052559" y="4315968"/>
            <a:ext cx="2606040" cy="196596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TextBox 25"/>
          <p:cNvSpPr txBox="1"/>
          <p:nvPr/>
        </p:nvSpPr>
        <p:spPr>
          <a:xfrm>
            <a:off x="9162287" y="4389120"/>
            <a:ext cx="2395728" cy="1828800"/>
          </a:xfrm>
          <a:prstGeom prst="rect">
            <a:avLst/>
          </a:prstGeom>
          <a:noFill/>
        </p:spPr>
        <p:txBody>
          <a:bodyPr wrap="square" anchor="t" lIns="45720" rIns="45720">
            <a:spAutoFit/>
          </a:bodyPr>
          <a:lstStyle/>
          <a:p>
            <a:pPr algn="l">
              <a:spcAft>
                <a:spcPts val="400"/>
              </a:spcAft>
            </a:pPr>
            <a:r>
              <a:rPr sz="1300" b="1" i="0">
                <a:solidFill>
                  <a:srgbClr val="C00000"/>
                </a:solidFill>
                <a:latin typeface="Calibri"/>
              </a:rPr>
              <a:t>Channel balancing</a:t>
            </a:r>
          </a:p>
          <a:p>
            <a:pPr algn="l">
              <a:spcAft>
                <a:spcPts val="200"/>
              </a:spcAft>
            </a:pPr>
            <a:r>
              <a:rPr sz="1300" b="0" i="0">
                <a:solidFill>
                  <a:srgbClr val="262B33"/>
                </a:solidFill>
                <a:latin typeface="Cambria"/>
              </a:rPr>
              <a:t>x′ = (x − μ) / σ
edge: μ = 0.12, σ = 0.33 (measured)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3.2 Design Methods: Network Architecture</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600200"/>
            <a:ext cx="1737360" cy="82296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200" b="1" i="0">
                <a:solidFill>
                  <a:srgbClr val="FFFFFF"/>
                </a:solidFill>
                <a:latin typeface="Calibri"/>
              </a:rPr>
              <a:t>T1: 4 × 256 × 256</a:t>
            </a:r>
          </a:p>
        </p:txBody>
      </p:sp>
      <p:sp>
        <p:nvSpPr>
          <p:cNvPr id="12" name="Rounded Rectangle 11"/>
          <p:cNvSpPr/>
          <p:nvPr/>
        </p:nvSpPr>
        <p:spPr>
          <a:xfrm>
            <a:off x="685800" y="3749039"/>
            <a:ext cx="1737360" cy="82296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200" b="1" i="0">
                <a:solidFill>
                  <a:srgbClr val="FFFFFF"/>
                </a:solidFill>
                <a:latin typeface="Calibri"/>
              </a:rPr>
              <a:t>T2: 4 × 256 × 256</a:t>
            </a:r>
          </a:p>
        </p:txBody>
      </p:sp>
      <p:sp>
        <p:nvSpPr>
          <p:cNvPr id="13" name="Rounded Rectangle 12"/>
          <p:cNvSpPr/>
          <p:nvPr/>
        </p:nvSpPr>
        <p:spPr>
          <a:xfrm>
            <a:off x="2788920" y="1371600"/>
            <a:ext cx="2148840" cy="361188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500" b="1" i="0">
                <a:solidFill>
                  <a:srgbClr val="FFFFFF"/>
                </a:solidFill>
                <a:latin typeface="Calibri"/>
              </a:rPr>
              <a:t>Siamese encoder</a:t>
            </a:r>
          </a:p>
          <a:p>
            <a:pPr algn="ctr"/>
            <a:r>
              <a:rPr sz="1100" b="0" i="0">
                <a:solidFill>
                  <a:srgbClr val="FFFFFF"/>
                </a:solidFill>
                <a:latin typeface="Calibri"/>
              </a:rPr>
              <a:t>ResNet-34 (ImageNet)
shared weights
5 scales:
1/2 · 1/4 · 1/8 · 1/16 · 1/32
64 → 512 channels</a:t>
            </a:r>
          </a:p>
        </p:txBody>
      </p:sp>
      <p:cxnSp>
        <p:nvCxnSpPr>
          <p:cNvPr id="14" name="Connector 13"/>
          <p:cNvCxnSpPr/>
          <p:nvPr/>
        </p:nvCxnSpPr>
        <p:spPr>
          <a:xfrm>
            <a:off x="2423160" y="2011680"/>
            <a:ext cx="365760" cy="36576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423160" y="3794760"/>
            <a:ext cx="365760" cy="36576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03520" y="1371600"/>
            <a:ext cx="2240280" cy="3611880"/>
          </a:xfrm>
          <a:prstGeom prst="roundRect">
            <a:avLst>
              <a:gd name="adj" fmla="val 8000"/>
            </a:avLst>
          </a:prstGeom>
          <a:solidFill>
            <a:srgbClr val="1F6F8B"/>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500" b="1" i="0">
                <a:solidFill>
                  <a:srgbClr val="FFFFFF"/>
                </a:solidFill>
                <a:latin typeface="Calibri"/>
              </a:rPr>
              <a:t>Fusion at every scale</a:t>
            </a:r>
          </a:p>
          <a:p>
            <a:pPr algn="ctr"/>
            <a:r>
              <a:rPr sz="1100" b="0" i="0">
                <a:solidFill>
                  <a:srgbClr val="FFFFFF"/>
                </a:solidFill>
                <a:latin typeface="Calibri"/>
              </a:rPr>
              <a:t>BAM: attention over
both dates (1/4 … 1/32)
Siam-Concat:
[F₁, F₂, |F₁ − F₂|]
→ 1×1 conv</a:t>
            </a:r>
          </a:p>
        </p:txBody>
      </p:sp>
      <p:cxnSp>
        <p:nvCxnSpPr>
          <p:cNvPr id="17" name="Connector 16"/>
          <p:cNvCxnSpPr/>
          <p:nvPr/>
        </p:nvCxnSpPr>
        <p:spPr>
          <a:xfrm>
            <a:off x="4937760" y="3172968"/>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09560" y="1371600"/>
            <a:ext cx="2011680" cy="237744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500" b="1" i="0">
                <a:solidFill>
                  <a:srgbClr val="FFFFFF"/>
                </a:solidFill>
                <a:latin typeface="Calibri"/>
              </a:rPr>
              <a:t>U-Net decoder</a:t>
            </a:r>
          </a:p>
          <a:p>
            <a:pPr algn="ctr"/>
            <a:r>
              <a:rPr sz="1100" b="0" i="0">
                <a:solidFill>
                  <a:srgbClr val="FFFFFF"/>
                </a:solidFill>
                <a:latin typeface="Calibri"/>
              </a:rPr>
              <a:t>1/32 → 1/2 with skip
connections, edge-guided
fusion, ×2 up + 3×3
refinement</a:t>
            </a:r>
          </a:p>
        </p:txBody>
      </p:sp>
      <p:sp>
        <p:nvSpPr>
          <p:cNvPr id="19" name="Rounded Rectangle 18"/>
          <p:cNvSpPr/>
          <p:nvPr/>
        </p:nvSpPr>
        <p:spPr>
          <a:xfrm>
            <a:off x="7909560" y="4023360"/>
            <a:ext cx="2011680" cy="960120"/>
          </a:xfrm>
          <a:prstGeom prst="roundRect">
            <a:avLst>
              <a:gd name="adj" fmla="val 8000"/>
            </a:avLst>
          </a:prstGeom>
          <a:solidFill>
            <a:srgbClr val="C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1" i="0">
                <a:solidFill>
                  <a:srgbClr val="FFFFFF"/>
                </a:solidFill>
                <a:latin typeface="Calibri"/>
              </a:rPr>
              <a:t>Edge head</a:t>
            </a:r>
          </a:p>
          <a:p>
            <a:pPr algn="ctr"/>
            <a:r>
              <a:rPr sz="1000" b="0" i="0">
                <a:solidFill>
                  <a:srgbClr val="FFFFFF"/>
                </a:solidFill>
                <a:latin typeface="Calibri"/>
              </a:rPr>
              <a:t>fused 1/2 + 1/4 + context</a:t>
            </a:r>
          </a:p>
        </p:txBody>
      </p:sp>
      <p:cxnSp>
        <p:nvCxnSpPr>
          <p:cNvPr id="20" name="Connector 19"/>
          <p:cNvCxnSpPr/>
          <p:nvPr/>
        </p:nvCxnSpPr>
        <p:spPr>
          <a:xfrm>
            <a:off x="7543800" y="2560320"/>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4480560"/>
            <a:ext cx="36576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915400" y="3749039"/>
            <a:ext cx="0" cy="274321"/>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41280" y="1371600"/>
            <a:ext cx="1417320" cy="2377440"/>
          </a:xfrm>
          <a:prstGeom prst="roundRect">
            <a:avLst>
              <a:gd name="adj" fmla="val 8000"/>
            </a:avLst>
          </a:prstGeom>
          <a:solidFill>
            <a:srgbClr val="F3F4F6"/>
          </a:solidFill>
          <a:ln w="12700">
            <a:solidFill>
              <a:srgbClr val="D9DCE1"/>
            </a:solid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300" b="1" i="0">
                <a:solidFill>
                  <a:srgbClr val="262B33"/>
                </a:solidFill>
                <a:latin typeface="Calibri"/>
              </a:rPr>
              <a:t>Change map</a:t>
            </a:r>
          </a:p>
          <a:p>
            <a:pPr algn="ctr"/>
            <a:r>
              <a:rPr sz="1000" b="0" i="0">
                <a:solidFill>
                  <a:srgbClr val="5F6670"/>
                </a:solidFill>
                <a:latin typeface="Calibri"/>
              </a:rPr>
              <a:t>1 × 256 × 256
BCE + Dice</a:t>
            </a:r>
          </a:p>
        </p:txBody>
      </p:sp>
      <p:sp>
        <p:nvSpPr>
          <p:cNvPr id="24" name="Rounded Rectangle 23"/>
          <p:cNvSpPr/>
          <p:nvPr/>
        </p:nvSpPr>
        <p:spPr>
          <a:xfrm>
            <a:off x="10241280" y="4023360"/>
            <a:ext cx="1417320" cy="960120"/>
          </a:xfrm>
          <a:prstGeom prst="roundRect">
            <a:avLst>
              <a:gd name="adj" fmla="val 8000"/>
            </a:avLst>
          </a:prstGeom>
          <a:solidFill>
            <a:srgbClr val="F3F4F6"/>
          </a:solidFill>
          <a:ln w="12700">
            <a:solidFill>
              <a:srgbClr val="D9DCE1"/>
            </a:solid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300" b="1" i="0">
                <a:solidFill>
                  <a:srgbClr val="262B33"/>
                </a:solidFill>
                <a:latin typeface="Calibri"/>
              </a:rPr>
              <a:t>Edge map</a:t>
            </a:r>
          </a:p>
          <a:p>
            <a:pPr algn="ctr"/>
            <a:r>
              <a:rPr sz="1000" b="0" i="0">
                <a:solidFill>
                  <a:srgbClr val="5F6670"/>
                </a:solidFill>
                <a:latin typeface="Calibri"/>
              </a:rPr>
              <a:t>Sobel target</a:t>
            </a:r>
          </a:p>
        </p:txBody>
      </p:sp>
      <p:cxnSp>
        <p:nvCxnSpPr>
          <p:cNvPr id="25" name="Connector 24"/>
          <p:cNvCxnSpPr/>
          <p:nvPr/>
        </p:nvCxnSpPr>
        <p:spPr>
          <a:xfrm>
            <a:off x="9921240" y="2560320"/>
            <a:ext cx="32004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21240" y="4480560"/>
            <a:ext cx="320040" cy="0"/>
          </a:xfrm>
          <a:prstGeom prst="line">
            <a:avLst/>
          </a:prstGeom>
          <a:ln w="22225">
            <a:solidFill>
              <a:srgbClr val="5F66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5257800"/>
            <a:ext cx="10972800" cy="1005840"/>
          </a:xfrm>
          <a:prstGeom prst="rect">
            <a:avLst/>
          </a:prstGeom>
          <a:noFill/>
        </p:spPr>
        <p:txBody>
          <a:bodyPr wrap="square" anchor="t" lIns="45720" rIns="45720">
            <a:spAutoFit/>
          </a:bodyPr>
          <a:lstStyle/>
          <a:p>
            <a:pPr algn="l" marL="228600" indent="-201168">
              <a:spcAft>
                <a:spcPts val="400"/>
              </a:spcAft>
              <a:buClr>
                <a:srgbClr val="C00000"/>
              </a:buClr>
              <a:buChar char="▪"/>
            </a:pPr>
            <a:r>
              <a:rPr sz="1400" b="1" i="0">
                <a:solidFill>
                  <a:srgbClr val="262B33"/>
                </a:solidFill>
                <a:latin typeface="Calibri"/>
              </a:rPr>
              <a:t>26.0 M parameters. </a:t>
            </a:r>
            <a:r>
              <a:rPr sz="1400" b="0" i="0">
                <a:solidFill>
                  <a:srgbClr val="262B33"/>
                </a:solidFill>
                <a:latin typeface="Calibri"/>
              </a:rPr>
              <a:t>Large images are predicted with 256 × 256 tiles, 64 px overlap and cosine blending – the network always sees the native 0.5 m/pixel scale.</a:t>
            </a:r>
          </a:p>
          <a:p>
            <a:pPr algn="l" marL="228600" indent="-201168">
              <a:spcAft>
                <a:spcPts val="400"/>
              </a:spcAft>
              <a:buClr>
                <a:srgbClr val="C00000"/>
              </a:buClr>
              <a:buChar char="▪"/>
            </a:pPr>
            <a:r>
              <a:rPr sz="1400" b="1" i="0">
                <a:solidFill>
                  <a:srgbClr val="262B33"/>
                </a:solidFill>
                <a:latin typeface="Calibri"/>
              </a:rPr>
              <a:t>Edge-guided decoding: </a:t>
            </a:r>
            <a:r>
              <a:rPr sz="1400" b="0" i="0">
                <a:solidFill>
                  <a:srgbClr val="262B33"/>
                </a:solidFill>
                <a:latin typeface="Calibri"/>
              </a:rPr>
              <a:t>the edge head's features are concatenated into the last decoder stage, so boundary knowledge directly shapes the change map.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a:t>3.2 Design Methods: Attention, Fusion, Loss</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325880"/>
            <a:ext cx="5349240" cy="23317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868680" y="1435607"/>
            <a:ext cx="4983480" cy="214884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Spatial-temporal attention (BAM)</a:t>
            </a:r>
          </a:p>
          <a:p>
            <a:pPr algn="l">
              <a:spcAft>
                <a:spcPts val="300"/>
              </a:spcAft>
            </a:pPr>
            <a:r>
              <a:rPr sz="1400" b="0" i="0">
                <a:solidFill>
                  <a:srgbClr val="262B33"/>
                </a:solidFill>
                <a:latin typeface="Cambria"/>
              </a:rPr>
              <a:t>X = [F₁ ‖ F₂]   (dates side by side)</a:t>
            </a:r>
          </a:p>
          <a:p>
            <a:pPr algn="l">
              <a:spcAft>
                <a:spcPts val="300"/>
              </a:spcAft>
            </a:pPr>
            <a:r>
              <a:rPr sz="1400" b="0" i="0">
                <a:solidFill>
                  <a:srgbClr val="262B33"/>
                </a:solidFill>
                <a:latin typeface="Cambria"/>
              </a:rPr>
              <a:t>A = softmax(QᵀK / √d)</a:t>
            </a:r>
          </a:p>
          <a:p>
            <a:pPr algn="l">
              <a:spcAft>
                <a:spcPts val="300"/>
              </a:spcAft>
            </a:pPr>
            <a:r>
              <a:rPr sz="1400" b="0" i="0">
                <a:solidFill>
                  <a:srgbClr val="262B33"/>
                </a:solidFill>
                <a:latin typeface="Cambria"/>
              </a:rPr>
              <a:t>X′ = X + γ · V Aᵀ,   γ = 0 at start</a:t>
            </a:r>
          </a:p>
          <a:p>
            <a:pPr algn="l">
              <a:spcAft>
                <a:spcPts val="600"/>
              </a:spcAft>
            </a:pPr>
            <a:r>
              <a:rPr sz="1200" b="0" i="1">
                <a:solidFill>
                  <a:srgbClr val="5F6670"/>
                </a:solidFill>
                <a:latin typeface="Calibri"/>
              </a:rPr>
              <a:t>Every pixel of either date can attend to every pixel of both dates; γ = 0 at start keeps ImageNet features intact.</a:t>
            </a:r>
          </a:p>
        </p:txBody>
      </p:sp>
      <p:sp>
        <p:nvSpPr>
          <p:cNvPr id="13" name="Rounded Rectangle 12"/>
          <p:cNvSpPr/>
          <p:nvPr/>
        </p:nvSpPr>
        <p:spPr>
          <a:xfrm>
            <a:off x="6263640" y="1325880"/>
            <a:ext cx="5349240" cy="23317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6446520" y="1435607"/>
            <a:ext cx="4983480" cy="214884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Siam-Concat fusion</a:t>
            </a:r>
          </a:p>
          <a:p>
            <a:pPr algn="l">
              <a:spcAft>
                <a:spcPts val="300"/>
              </a:spcAft>
            </a:pPr>
            <a:r>
              <a:rPr sz="1400" b="0" i="0">
                <a:solidFill>
                  <a:srgbClr val="262B33"/>
                </a:solidFill>
                <a:latin typeface="Cambria"/>
              </a:rPr>
              <a:t>D = |F₁′ − F₂′|</a:t>
            </a:r>
          </a:p>
          <a:p>
            <a:pPr algn="l">
              <a:spcAft>
                <a:spcPts val="300"/>
              </a:spcAft>
            </a:pPr>
            <a:r>
              <a:rPr sz="1400" b="0" i="0">
                <a:solidFill>
                  <a:srgbClr val="262B33"/>
                </a:solidFill>
                <a:latin typeface="Cambria"/>
              </a:rPr>
              <a:t>F = ReLU(BN(W₁ₓ₁ ∗ [F₁′, F₂′, D]))</a:t>
            </a:r>
          </a:p>
          <a:p>
            <a:pPr algn="l">
              <a:spcAft>
                <a:spcPts val="600"/>
              </a:spcAft>
            </a:pPr>
            <a:r>
              <a:rPr sz="1200" b="0" i="1">
                <a:solidFill>
                  <a:srgbClr val="5F6670"/>
                </a:solidFill>
                <a:latin typeface="Calibri"/>
              </a:rPr>
              <a:t>Keeps the appearance of both dates and their difference instead of the difference only.</a:t>
            </a:r>
          </a:p>
        </p:txBody>
      </p:sp>
      <p:sp>
        <p:nvSpPr>
          <p:cNvPr id="15" name="Rounded Rectangle 14"/>
          <p:cNvSpPr/>
          <p:nvPr/>
        </p:nvSpPr>
        <p:spPr>
          <a:xfrm>
            <a:off x="685800" y="3840480"/>
            <a:ext cx="5349240" cy="23317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868680" y="3950208"/>
            <a:ext cx="4983480" cy="214884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Multi-task loss</a:t>
            </a:r>
          </a:p>
          <a:p>
            <a:pPr algn="l">
              <a:spcAft>
                <a:spcPts val="300"/>
              </a:spcAft>
            </a:pPr>
            <a:r>
              <a:rPr sz="1400" b="0" i="0">
                <a:solidFill>
                  <a:srgbClr val="262B33"/>
                </a:solidFill>
                <a:latin typeface="Cambria"/>
              </a:rPr>
              <a:t>L = L(BCE) + L(Dice) + 0.4 · L(edge)</a:t>
            </a:r>
          </a:p>
          <a:p>
            <a:pPr algn="l">
              <a:spcAft>
                <a:spcPts val="300"/>
              </a:spcAft>
            </a:pPr>
            <a:r>
              <a:rPr sz="1400" b="0" i="0">
                <a:solidFill>
                  <a:srgbClr val="262B33"/>
                </a:solidFill>
                <a:latin typeface="Cambria"/>
              </a:rPr>
              <a:t>L(Dice) = 1 − (2Σpy + 1) / (Σp + Σy + 1)</a:t>
            </a:r>
          </a:p>
          <a:p>
            <a:pPr algn="l">
              <a:spcAft>
                <a:spcPts val="300"/>
              </a:spcAft>
            </a:pPr>
            <a:r>
              <a:rPr sz="1400" b="0" i="0">
                <a:solidFill>
                  <a:srgbClr val="262B33"/>
                </a:solidFill>
                <a:latin typeface="Cambria"/>
              </a:rPr>
              <a:t>L(edge): β-weighted BCE,  β = |Y⁻| / |Y|</a:t>
            </a:r>
          </a:p>
          <a:p>
            <a:pPr algn="l">
              <a:spcAft>
                <a:spcPts val="600"/>
              </a:spcAft>
            </a:pPr>
            <a:r>
              <a:rPr sz="1200" b="0" i="1">
                <a:solidFill>
                  <a:srgbClr val="5F6670"/>
                </a:solidFill>
                <a:latin typeface="Calibri"/>
              </a:rPr>
              <a:t>Dice fights the 95 % background; class-balanced BCE makes the rare edge pixels count.</a:t>
            </a:r>
          </a:p>
        </p:txBody>
      </p:sp>
      <p:sp>
        <p:nvSpPr>
          <p:cNvPr id="17" name="Rounded Rectangle 16"/>
          <p:cNvSpPr/>
          <p:nvPr/>
        </p:nvSpPr>
        <p:spPr>
          <a:xfrm>
            <a:off x="6263640" y="3840480"/>
            <a:ext cx="5349240" cy="23317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6446520" y="3950208"/>
            <a:ext cx="4983480" cy="2148840"/>
          </a:xfrm>
          <a:prstGeom prst="rect">
            <a:avLst/>
          </a:prstGeom>
          <a:noFill/>
        </p:spPr>
        <p:txBody>
          <a:bodyPr wrap="square" anchor="t" lIns="45720" rIns="45720">
            <a:spAutoFit/>
          </a:bodyPr>
          <a:lstStyle/>
          <a:p>
            <a:pPr algn="l">
              <a:spcAft>
                <a:spcPts val="600"/>
              </a:spcAft>
            </a:pPr>
            <a:r>
              <a:rPr sz="1600" b="1" i="0">
                <a:solidFill>
                  <a:srgbClr val="C00000"/>
                </a:solidFill>
                <a:latin typeface="Calibri"/>
              </a:rPr>
              <a:t>Evaluation metrics</a:t>
            </a:r>
          </a:p>
          <a:p>
            <a:pPr algn="l">
              <a:spcAft>
                <a:spcPts val="300"/>
              </a:spcAft>
            </a:pPr>
            <a:r>
              <a:rPr sz="1400" b="0" i="0">
                <a:solidFill>
                  <a:srgbClr val="262B33"/>
                </a:solidFill>
                <a:latin typeface="Cambria"/>
              </a:rPr>
              <a:t>P = TP/(TP+FP),  R = TP/(TP+FN)</a:t>
            </a:r>
          </a:p>
          <a:p>
            <a:pPr algn="l">
              <a:spcAft>
                <a:spcPts val="300"/>
              </a:spcAft>
            </a:pPr>
            <a:r>
              <a:rPr sz="1400" b="0" i="0">
                <a:solidFill>
                  <a:srgbClr val="262B33"/>
                </a:solidFill>
                <a:latin typeface="Cambria"/>
              </a:rPr>
              <a:t>F1 = 2PR/(P+R),  IoU = TP/(TP+FP+FN)</a:t>
            </a:r>
          </a:p>
          <a:p>
            <a:pPr algn="l">
              <a:spcAft>
                <a:spcPts val="600"/>
              </a:spcAft>
            </a:pPr>
            <a:r>
              <a:rPr sz="1200" b="0" i="1">
                <a:solidFill>
                  <a:srgbClr val="5F6670"/>
                </a:solidFill>
                <a:latin typeface="Calibri"/>
              </a:rPr>
              <a:t>Computed over all test pixels (dataset level), as in the literature.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3.3 Design: Training and Inference</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sp>
        <p:nvSpPr>
          <p:cNvPr id="11" name="TextBox 10"/>
          <p:cNvSpPr txBox="1"/>
          <p:nvPr/>
        </p:nvSpPr>
        <p:spPr>
          <a:xfrm>
            <a:off x="685800" y="1325880"/>
            <a:ext cx="4846320" cy="4937760"/>
          </a:xfrm>
          <a:prstGeom prst="rect">
            <a:avLst/>
          </a:prstGeom>
          <a:noFill/>
        </p:spPr>
        <p:txBody>
          <a:bodyPr wrap="square" anchor="t" lIns="45720" rIns="45720">
            <a:spAutoFit/>
          </a:bodyPr>
          <a:lstStyle/>
          <a:p>
            <a:pPr algn="l">
              <a:spcAft>
                <a:spcPts val="600"/>
              </a:spcAft>
            </a:pPr>
            <a:r>
              <a:rPr sz="1700" b="1" i="0">
                <a:solidFill>
                  <a:srgbClr val="C00000"/>
                </a:solidFill>
                <a:latin typeface="Calibri"/>
              </a:rPr>
              <a:t>Training</a:t>
            </a:r>
          </a:p>
          <a:p>
            <a:pPr algn="l" marL="228600" indent="-201168">
              <a:spcAft>
                <a:spcPts val="600"/>
              </a:spcAft>
              <a:buClr>
                <a:srgbClr val="C00000"/>
              </a:buClr>
              <a:buChar char="▪"/>
            </a:pPr>
            <a:r>
              <a:rPr sz="1400" b="0" i="0">
                <a:solidFill>
                  <a:srgbClr val="262B33"/>
                </a:solidFill>
                <a:latin typeface="Calibri"/>
              </a:rPr>
              <a:t>Native-resolution 256 × 256 random crops, 4 per image per epoch; 30 % centred on a change</a:t>
            </a:r>
          </a:p>
          <a:p>
            <a:pPr algn="l" marL="228600" indent="-201168">
              <a:spcAft>
                <a:spcPts val="600"/>
              </a:spcAft>
              <a:buClr>
                <a:srgbClr val="C00000"/>
              </a:buClr>
              <a:buChar char="▪"/>
            </a:pPr>
            <a:r>
              <a:rPr sz="1400" b="0" i="0">
                <a:solidFill>
                  <a:srgbClr val="262B33"/>
                </a:solidFill>
                <a:latin typeface="Calibri"/>
              </a:rPr>
              <a:t>Synchronised flips / 90° rotations; independent brightness–contrast–colour jitter per date</a:t>
            </a:r>
          </a:p>
          <a:p>
            <a:pPr algn="l" marL="228600" indent="-201168">
              <a:spcAft>
                <a:spcPts val="600"/>
              </a:spcAft>
              <a:buClr>
                <a:srgbClr val="C00000"/>
              </a:buClr>
              <a:buChar char="▪"/>
            </a:pPr>
            <a:r>
              <a:rPr sz="1400" b="0" i="0">
                <a:solidFill>
                  <a:srgbClr val="262B33"/>
                </a:solidFill>
                <a:latin typeface="Calibri"/>
              </a:rPr>
              <a:t>AdamW, lr 1e-4, warm-up + cosine decay, batch 4, gradient clipping</a:t>
            </a:r>
          </a:p>
          <a:p>
            <a:pPr algn="l" marL="228600" indent="-201168">
              <a:spcAft>
                <a:spcPts val="600"/>
              </a:spcAft>
              <a:buClr>
                <a:srgbClr val="C00000"/>
              </a:buClr>
              <a:buChar char="▪"/>
            </a:pPr>
            <a:r>
              <a:rPr sz="1400" b="0" i="0">
                <a:solidFill>
                  <a:srgbClr val="262B33"/>
                </a:solidFill>
                <a:latin typeface="Calibri"/>
              </a:rPr>
              <a:t>Apple M-series GPU (MPS): ≈ 6.3 min/epoch; early stop at epoch 47, best at 32</a:t>
            </a:r>
          </a:p>
          <a:p>
            <a:pPr algn="l">
              <a:spcAft>
                <a:spcPts val="600"/>
              </a:spcAft>
            </a:pPr>
            <a:r>
              <a:rPr sz="1700" b="1" i="0">
                <a:solidFill>
                  <a:srgbClr val="C00000"/>
                </a:solidFill>
                <a:latin typeface="Calibri"/>
              </a:rPr>
              <a:t>Inference</a:t>
            </a:r>
          </a:p>
          <a:p>
            <a:pPr algn="l" marL="228600" indent="-201168">
              <a:spcAft>
                <a:spcPts val="600"/>
              </a:spcAft>
              <a:buClr>
                <a:srgbClr val="C00000"/>
              </a:buClr>
              <a:buChar char="▪"/>
            </a:pPr>
            <a:r>
              <a:rPr sz="1400" b="0" i="0">
                <a:solidFill>
                  <a:srgbClr val="262B33"/>
                </a:solidFill>
                <a:latin typeface="Calibri"/>
              </a:rPr>
              <a:t>Full 1024 × 1024 images, 256-px tiles with 64-px overlap</a:t>
            </a:r>
          </a:p>
          <a:p>
            <a:pPr algn="l" marL="228600" indent="-201168">
              <a:spcAft>
                <a:spcPts val="600"/>
              </a:spcAft>
              <a:buClr>
                <a:srgbClr val="C00000"/>
              </a:buClr>
              <a:buChar char="▪"/>
            </a:pPr>
            <a:r>
              <a:rPr sz="1400" b="0" i="0">
                <a:solidFill>
                  <a:srgbClr val="262B33"/>
                </a:solidFill>
                <a:latin typeface="Calibri"/>
              </a:rPr>
              <a:t>Test-time augmentation: average of 4 flips</a:t>
            </a:r>
          </a:p>
          <a:p>
            <a:pPr algn="l" marL="228600" indent="-201168">
              <a:spcAft>
                <a:spcPts val="600"/>
              </a:spcAft>
              <a:buClr>
                <a:srgbClr val="C00000"/>
              </a:buClr>
              <a:buChar char="▪"/>
            </a:pPr>
            <a:r>
              <a:rPr sz="1400" b="0" i="0">
                <a:solidFill>
                  <a:srgbClr val="262B33"/>
                </a:solidFill>
                <a:latin typeface="Calibri"/>
              </a:rPr>
              <a:t>Threshold 0.41 chosen on the validation set only</a:t>
            </a:r>
          </a:p>
        </p:txBody>
      </p:sp>
      <p:graphicFrame>
        <p:nvGraphicFramePr>
          <p:cNvPr id="12" name="Chart 11"/>
          <p:cNvGraphicFramePr>
            <a:graphicFrameLocks noGrp="1"/>
          </p:cNvGraphicFramePr>
          <p:nvPr/>
        </p:nvGraphicFramePr>
        <p:xfrm>
          <a:off x="5760720" y="1280160"/>
          <a:ext cx="5897880" cy="4983480"/>
        </p:xfrm>
        <a:graphic>
          <a:graphicData uri="http://schemas.openxmlformats.org/drawingml/2006/chart">
            <c:chart xmlns:c="http://schemas.openxmlformats.org/drawingml/2006/chart" r:id="rId2"/>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4 Implementation: Demonstration</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sp>
        <p:nvSpPr>
          <p:cNvPr id="11" name="TextBox 10"/>
          <p:cNvSpPr txBox="1"/>
          <p:nvPr/>
        </p:nvSpPr>
        <p:spPr>
          <a:xfrm>
            <a:off x="685800" y="1325880"/>
            <a:ext cx="4206240" cy="4937760"/>
          </a:xfrm>
          <a:prstGeom prst="rect">
            <a:avLst/>
          </a:prstGeom>
          <a:noFill/>
        </p:spPr>
        <p:txBody>
          <a:bodyPr wrap="square" anchor="t" lIns="45720" rIns="45720">
            <a:spAutoFit/>
          </a:bodyPr>
          <a:lstStyle/>
          <a:p>
            <a:pPr algn="l">
              <a:spcAft>
                <a:spcPts val="700"/>
              </a:spcAft>
            </a:pPr>
            <a:r>
              <a:rPr sz="1700" b="1" i="0">
                <a:solidFill>
                  <a:srgbClr val="C00000"/>
                </a:solidFill>
                <a:latin typeface="Calibri"/>
              </a:rPr>
              <a:t>PyQt5 desktop application</a:t>
            </a:r>
          </a:p>
          <a:p>
            <a:pPr algn="l" marL="228600" indent="-201168">
              <a:spcAft>
                <a:spcPts val="700"/>
              </a:spcAft>
              <a:buClr>
                <a:srgbClr val="C00000"/>
              </a:buClr>
              <a:buChar char="▪"/>
            </a:pPr>
            <a:r>
              <a:rPr sz="1400" b="0" i="0">
                <a:solidFill>
                  <a:srgbClr val="262B33"/>
                </a:solidFill>
                <a:latin typeface="Calibri"/>
              </a:rPr>
              <a:t>Load Before / After (and optional ground truth)</a:t>
            </a:r>
          </a:p>
          <a:p>
            <a:pPr algn="l" marL="228600" indent="-201168">
              <a:spcAft>
                <a:spcPts val="700"/>
              </a:spcAft>
              <a:buClr>
                <a:srgbClr val="C00000"/>
              </a:buClr>
              <a:buChar char="▪"/>
            </a:pPr>
            <a:r>
              <a:rPr sz="1400" b="0" i="0">
                <a:solidFill>
                  <a:srgbClr val="262B33"/>
                </a:solidFill>
                <a:latin typeface="Calibri"/>
              </a:rPr>
              <a:t>Model loaded once; inference in a background QThread – the window never freezes</a:t>
            </a:r>
          </a:p>
          <a:p>
            <a:pPr algn="l" marL="228600" indent="-201168">
              <a:spcAft>
                <a:spcPts val="700"/>
              </a:spcAft>
              <a:buClr>
                <a:srgbClr val="C00000"/>
              </a:buClr>
              <a:buChar char="▪"/>
            </a:pPr>
            <a:r>
              <a:rPr sz="1400" b="0" i="0">
                <a:solidFill>
                  <a:srgbClr val="262B33"/>
                </a:solidFill>
                <a:latin typeface="Calibri"/>
              </a:rPr>
              <a:t>Native-resolution sliding window, optional TTA</a:t>
            </a:r>
          </a:p>
          <a:p>
            <a:pPr algn="l" marL="228600" indent="-201168">
              <a:spcAft>
                <a:spcPts val="700"/>
              </a:spcAft>
              <a:buClr>
                <a:srgbClr val="C00000"/>
              </a:buClr>
              <a:buChar char="▪"/>
            </a:pPr>
            <a:r>
              <a:rPr sz="1400" b="0" i="0">
                <a:solidFill>
                  <a:srgbClr val="262B33"/>
                </a:solidFill>
                <a:latin typeface="Calibri"/>
              </a:rPr>
              <a:t>Live threshold slider, validation / Otsu presets</a:t>
            </a:r>
          </a:p>
          <a:p>
            <a:pPr algn="l" marL="228600" indent="-201168">
              <a:spcAft>
                <a:spcPts val="700"/>
              </a:spcAft>
              <a:buClr>
                <a:srgbClr val="C00000"/>
              </a:buClr>
              <a:buChar char="▪"/>
            </a:pPr>
            <a:r>
              <a:rPr sz="1400" b="0" i="0">
                <a:solidFill>
                  <a:srgbClr val="262B33"/>
                </a:solidFill>
                <a:latin typeface="Calibri"/>
              </a:rPr>
              <a:t>Post-processing: opening, small-region removal, approxPolyDP polygons</a:t>
            </a:r>
          </a:p>
          <a:p>
            <a:pPr algn="l" marL="228600" indent="-201168">
              <a:spcAft>
                <a:spcPts val="700"/>
              </a:spcAft>
              <a:buClr>
                <a:srgbClr val="C00000"/>
              </a:buClr>
              <a:buChar char="▪"/>
            </a:pPr>
            <a:r>
              <a:rPr sz="1400" b="0" i="0">
                <a:solidFill>
                  <a:srgbClr val="262B33"/>
                </a:solidFill>
                <a:latin typeface="Calibri"/>
              </a:rPr>
              <a:t>Live F1, IoU, precision, recall and changed-area %</a:t>
            </a:r>
          </a:p>
          <a:p>
            <a:pPr algn="l">
              <a:spcAft>
                <a:spcPts val="700"/>
              </a:spcAft>
            </a:pPr>
            <a:r>
              <a:rPr sz="1400" b="1" i="0">
                <a:solidFill>
                  <a:srgbClr val="262B33"/>
                </a:solidFill>
                <a:latin typeface="Courier New"/>
              </a:rPr>
              <a:t>Run:  python app.py</a:t>
            </a:r>
          </a:p>
        </p:txBody>
      </p:sp>
      <p:pic>
        <p:nvPicPr>
          <p:cNvPr id="12" name="Picture 11" descr="gui.png"/>
          <p:cNvPicPr>
            <a:picLocks noChangeAspect="1"/>
          </p:cNvPicPr>
          <p:nvPr/>
        </p:nvPicPr>
        <p:blipFill>
          <a:blip r:embed="rId2"/>
          <a:stretch>
            <a:fillRect/>
          </a:stretch>
        </p:blipFill>
        <p:spPr>
          <a:xfrm>
            <a:off x="5074920" y="1325880"/>
            <a:ext cx="6570549" cy="4663440"/>
          </a:xfrm>
          <a:prstGeom prst="rect">
            <a:avLst/>
          </a:prstGeom>
        </p:spPr>
      </p:pic>
      <p:sp>
        <p:nvSpPr>
          <p:cNvPr id="13" name="TextBox 12"/>
          <p:cNvSpPr txBox="1"/>
          <p:nvPr/>
        </p:nvSpPr>
        <p:spPr>
          <a:xfrm>
            <a:off x="5074920" y="6007608"/>
            <a:ext cx="6570549"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Live run on test_102: F1 0.958, IoU 0.919 (Otsu threshold 0.49, post-processing 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4.1 Implementation: Results Gallery</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pic>
        <p:nvPicPr>
          <p:cNvPr id="11" name="Picture 10" descr="g1.jpg"/>
          <p:cNvPicPr>
            <a:picLocks noChangeAspect="1"/>
          </p:cNvPicPr>
          <p:nvPr/>
        </p:nvPicPr>
        <p:blipFill>
          <a:blip r:embed="rId2"/>
          <a:stretch>
            <a:fillRect/>
          </a:stretch>
        </p:blipFill>
        <p:spPr>
          <a:xfrm>
            <a:off x="548640" y="1261872"/>
            <a:ext cx="8778240" cy="1603653"/>
          </a:xfrm>
          <a:prstGeom prst="rect">
            <a:avLst/>
          </a:prstGeom>
        </p:spPr>
      </p:pic>
      <p:sp>
        <p:nvSpPr>
          <p:cNvPr id="12" name="TextBox 11"/>
          <p:cNvSpPr txBox="1"/>
          <p:nvPr/>
        </p:nvSpPr>
        <p:spPr>
          <a:xfrm>
            <a:off x="9509760" y="1673351"/>
            <a:ext cx="2194560" cy="914400"/>
          </a:xfrm>
          <a:prstGeom prst="rect">
            <a:avLst/>
          </a:prstGeom>
          <a:noFill/>
        </p:spPr>
        <p:txBody>
          <a:bodyPr wrap="square" anchor="t" lIns="45720" rIns="45720">
            <a:spAutoFit/>
          </a:bodyPr>
          <a:lstStyle/>
          <a:p>
            <a:pPr algn="l">
              <a:spcAft>
                <a:spcPts val="200"/>
              </a:spcAft>
            </a:pPr>
            <a:r>
              <a:rPr sz="1300" b="1" i="0">
                <a:solidFill>
                  <a:srgbClr val="262B33"/>
                </a:solidFill>
                <a:latin typeface="Calibri"/>
              </a:rPr>
              <a:t>test_102 – warehouses</a:t>
            </a:r>
          </a:p>
          <a:p>
            <a:pPr algn="l">
              <a:spcAft>
                <a:spcPts val="200"/>
              </a:spcAft>
            </a:pPr>
            <a:r>
              <a:rPr sz="1200" b="0" i="0">
                <a:solidFill>
                  <a:srgbClr val="C00000"/>
                </a:solidFill>
                <a:latin typeface="Calibri"/>
              </a:rPr>
              <a:t>F1 0.977 · IoU 0.956</a:t>
            </a:r>
          </a:p>
        </p:txBody>
      </p:sp>
      <p:pic>
        <p:nvPicPr>
          <p:cNvPr id="13" name="Picture 12" descr="g2.jpg"/>
          <p:cNvPicPr>
            <a:picLocks noChangeAspect="1"/>
          </p:cNvPicPr>
          <p:nvPr/>
        </p:nvPicPr>
        <p:blipFill>
          <a:blip r:embed="rId3"/>
          <a:stretch>
            <a:fillRect/>
          </a:stretch>
        </p:blipFill>
        <p:spPr>
          <a:xfrm>
            <a:off x="548640" y="2962656"/>
            <a:ext cx="8778240" cy="1603653"/>
          </a:xfrm>
          <a:prstGeom prst="rect">
            <a:avLst/>
          </a:prstGeom>
        </p:spPr>
      </p:pic>
      <p:sp>
        <p:nvSpPr>
          <p:cNvPr id="14" name="TextBox 13"/>
          <p:cNvSpPr txBox="1"/>
          <p:nvPr/>
        </p:nvSpPr>
        <p:spPr>
          <a:xfrm>
            <a:off x="9509760" y="3374136"/>
            <a:ext cx="2194560" cy="914400"/>
          </a:xfrm>
          <a:prstGeom prst="rect">
            <a:avLst/>
          </a:prstGeom>
          <a:noFill/>
        </p:spPr>
        <p:txBody>
          <a:bodyPr wrap="square" anchor="t" lIns="45720" rIns="45720">
            <a:spAutoFit/>
          </a:bodyPr>
          <a:lstStyle/>
          <a:p>
            <a:pPr algn="l">
              <a:spcAft>
                <a:spcPts val="200"/>
              </a:spcAft>
            </a:pPr>
            <a:r>
              <a:rPr sz="1300" b="1" i="0">
                <a:solidFill>
                  <a:srgbClr val="262B33"/>
                </a:solidFill>
                <a:latin typeface="Calibri"/>
              </a:rPr>
              <a:t>test_100 – new housing estate</a:t>
            </a:r>
          </a:p>
          <a:p>
            <a:pPr algn="l">
              <a:spcAft>
                <a:spcPts val="200"/>
              </a:spcAft>
            </a:pPr>
            <a:r>
              <a:rPr sz="1200" b="0" i="0">
                <a:solidFill>
                  <a:srgbClr val="C00000"/>
                </a:solidFill>
                <a:latin typeface="Calibri"/>
              </a:rPr>
              <a:t>F1 0.939 · IoU 0.885</a:t>
            </a:r>
          </a:p>
        </p:txBody>
      </p:sp>
      <p:pic>
        <p:nvPicPr>
          <p:cNvPr id="15" name="Picture 14" descr="g3.jpg"/>
          <p:cNvPicPr>
            <a:picLocks noChangeAspect="1"/>
          </p:cNvPicPr>
          <p:nvPr/>
        </p:nvPicPr>
        <p:blipFill>
          <a:blip r:embed="rId4"/>
          <a:stretch>
            <a:fillRect/>
          </a:stretch>
        </p:blipFill>
        <p:spPr>
          <a:xfrm>
            <a:off x="548640" y="4663440"/>
            <a:ext cx="8778240" cy="1603653"/>
          </a:xfrm>
          <a:prstGeom prst="rect">
            <a:avLst/>
          </a:prstGeom>
        </p:spPr>
      </p:pic>
      <p:sp>
        <p:nvSpPr>
          <p:cNvPr id="16" name="TextBox 15"/>
          <p:cNvSpPr txBox="1"/>
          <p:nvPr/>
        </p:nvSpPr>
        <p:spPr>
          <a:xfrm>
            <a:off x="9509760" y="5074920"/>
            <a:ext cx="2194560" cy="914400"/>
          </a:xfrm>
          <a:prstGeom prst="rect">
            <a:avLst/>
          </a:prstGeom>
          <a:noFill/>
        </p:spPr>
        <p:txBody>
          <a:bodyPr wrap="square" anchor="t" lIns="45720" rIns="45720">
            <a:spAutoFit/>
          </a:bodyPr>
          <a:lstStyle/>
          <a:p>
            <a:pPr algn="l">
              <a:spcAft>
                <a:spcPts val="200"/>
              </a:spcAft>
            </a:pPr>
            <a:r>
              <a:rPr sz="1300" b="1" i="0">
                <a:solidFill>
                  <a:srgbClr val="262B33"/>
                </a:solidFill>
                <a:latin typeface="Calibri"/>
              </a:rPr>
              <a:t>test_10 – suburban cul-de-sacs</a:t>
            </a:r>
          </a:p>
          <a:p>
            <a:pPr algn="l">
              <a:spcAft>
                <a:spcPts val="200"/>
              </a:spcAft>
            </a:pPr>
            <a:r>
              <a:rPr sz="1200" b="0" i="0">
                <a:solidFill>
                  <a:srgbClr val="C00000"/>
                </a:solidFill>
                <a:latin typeface="Calibri"/>
              </a:rPr>
              <a:t>F1 0.918 · IoU 0.848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 Analysis and Evaluation: Test Results</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graphicFrame>
        <p:nvGraphicFramePr>
          <p:cNvPr id="11" name="Table 10"/>
          <p:cNvGraphicFramePr>
            <a:graphicFrameLocks noGrp="1"/>
          </p:cNvGraphicFramePr>
          <p:nvPr/>
        </p:nvGraphicFramePr>
        <p:xfrm>
          <a:off x="685800" y="1371600"/>
          <a:ext cx="5669280" cy="2468880"/>
        </p:xfrm>
        <a:graphic>
          <a:graphicData uri="http://schemas.openxmlformats.org/drawingml/2006/table">
            <a:tbl>
              <a:tblPr firstRow="1" bandRow="1">
                <a:tableStyleId>{5C22544A-7EE6-4342-B048-85BDC9FD1C3A}</a:tableStyleId>
              </a:tblPr>
              <a:tblGrid>
                <a:gridCol w="2103120"/>
                <a:gridCol w="1188720"/>
                <a:gridCol w="1188720"/>
                <a:gridCol w="1188720"/>
              </a:tblGrid>
              <a:tr h="411480">
                <a:tc>
                  <a:txBody>
                    <a:bodyPr/>
                    <a:lstStyle/>
                    <a:p>
                      <a:pPr algn="l"/>
                      <a:r>
                        <a:rPr sz="1300" b="1">
                          <a:solidFill>
                            <a:srgbClr val="FFFFFF"/>
                          </a:solidFill>
                          <a:latin typeface="Calibri"/>
                        </a:rPr>
                        <a:t>Metric (128 test images)</a:t>
                      </a:r>
                    </a:p>
                  </a:txBody>
                  <a:tcPr marL="54864" marR="54864" marT="27432" marB="27432" anchor="ctr">
                    <a:solidFill>
                      <a:srgbClr val="262B33"/>
                    </a:solidFill>
                  </a:tcPr>
                </a:tc>
                <a:tc>
                  <a:txBody>
                    <a:bodyPr/>
                    <a:lstStyle/>
                    <a:p>
                      <a:pPr algn="ctr"/>
                      <a:r>
                        <a:rPr sz="1300" b="1">
                          <a:solidFill>
                            <a:srgbClr val="FFFFFF"/>
                          </a:solidFill>
                          <a:latin typeface="Calibri"/>
                        </a:rPr>
                        <a:t>v1 (initial)</a:t>
                      </a:r>
                    </a:p>
                  </a:txBody>
                  <a:tcPr marL="54864" marR="54864" marT="27432" marB="27432" anchor="ctr">
                    <a:solidFill>
                      <a:srgbClr val="262B33"/>
                    </a:solidFill>
                  </a:tcPr>
                </a:tc>
                <a:tc>
                  <a:txBody>
                    <a:bodyPr/>
                    <a:lstStyle/>
                    <a:p>
                      <a:pPr algn="ctr"/>
                      <a:r>
                        <a:rPr sz="1300" b="1">
                          <a:solidFill>
                            <a:srgbClr val="FFFFFF"/>
                          </a:solidFill>
                          <a:latin typeface="Calibri"/>
                        </a:rPr>
                        <a:t>v2 (final)</a:t>
                      </a:r>
                    </a:p>
                  </a:txBody>
                  <a:tcPr marL="54864" marR="54864" marT="27432" marB="27432" anchor="ctr">
                    <a:solidFill>
                      <a:srgbClr val="262B33"/>
                    </a:solidFill>
                  </a:tcPr>
                </a:tc>
                <a:tc>
                  <a:txBody>
                    <a:bodyPr/>
                    <a:lstStyle/>
                    <a:p>
                      <a:pPr algn="ctr"/>
                      <a:r>
                        <a:rPr sz="1300" b="1">
                          <a:solidFill>
                            <a:srgbClr val="FFFFFF"/>
                          </a:solidFill>
                          <a:latin typeface="Calibri"/>
                        </a:rPr>
                        <a:t>Change</a:t>
                      </a:r>
                    </a:p>
                  </a:txBody>
                  <a:tcPr marL="54864" marR="54864" marT="27432" marB="27432" anchor="ctr">
                    <a:solidFill>
                      <a:srgbClr val="262B33"/>
                    </a:solidFill>
                  </a:tcPr>
                </a:tc>
              </a:tr>
              <a:tr h="411480">
                <a:tc>
                  <a:txBody>
                    <a:bodyPr/>
                    <a:lstStyle/>
                    <a:p>
                      <a:pPr algn="l"/>
                      <a:r>
                        <a:rPr sz="1300">
                          <a:solidFill>
                            <a:srgbClr val="262B33"/>
                          </a:solidFill>
                          <a:latin typeface="Calibri"/>
                        </a:rPr>
                        <a:t>Precision</a:t>
                      </a:r>
                    </a:p>
                  </a:txBody>
                  <a:tcPr marL="54864" marR="54864" marT="27432" marB="27432" anchor="ctr">
                    <a:solidFill>
                      <a:srgbClr val="FFFFFF"/>
                    </a:solidFill>
                  </a:tcPr>
                </a:tc>
                <a:tc>
                  <a:txBody>
                    <a:bodyPr/>
                    <a:lstStyle/>
                    <a:p>
                      <a:pPr algn="ctr"/>
                      <a:r>
                        <a:rPr sz="1300">
                          <a:solidFill>
                            <a:srgbClr val="262B33"/>
                          </a:solidFill>
                          <a:latin typeface="Calibri"/>
                        </a:rPr>
                        <a:t>75.8%</a:t>
                      </a:r>
                    </a:p>
                  </a:txBody>
                  <a:tcPr marL="54864" marR="54864" marT="27432" marB="27432" anchor="ctr">
                    <a:solidFill>
                      <a:srgbClr val="FFFFFF"/>
                    </a:solidFill>
                  </a:tcPr>
                </a:tc>
                <a:tc>
                  <a:txBody>
                    <a:bodyPr/>
                    <a:lstStyle/>
                    <a:p>
                      <a:pPr algn="ctr"/>
                      <a:r>
                        <a:rPr sz="1300">
                          <a:solidFill>
                            <a:srgbClr val="262B33"/>
                          </a:solidFill>
                          <a:latin typeface="Calibri"/>
                        </a:rPr>
                        <a:t>91.8%</a:t>
                      </a:r>
                    </a:p>
                  </a:txBody>
                  <a:tcPr marL="54864" marR="54864" marT="27432" marB="27432" anchor="ctr">
                    <a:solidFill>
                      <a:srgbClr val="FFFFFF"/>
                    </a:solidFill>
                  </a:tcPr>
                </a:tc>
                <a:tc>
                  <a:txBody>
                    <a:bodyPr/>
                    <a:lstStyle/>
                    <a:p>
                      <a:pPr algn="ctr"/>
                      <a:r>
                        <a:rPr sz="1300">
                          <a:solidFill>
                            <a:srgbClr val="262B33"/>
                          </a:solidFill>
                          <a:latin typeface="Calibri"/>
                        </a:rPr>
                        <a:t>+16.0 pts</a:t>
                      </a:r>
                    </a:p>
                  </a:txBody>
                  <a:tcPr marL="54864" marR="54864" marT="27432" marB="27432" anchor="ctr">
                    <a:solidFill>
                      <a:srgbClr val="FFFFFF"/>
                    </a:solidFill>
                  </a:tcPr>
                </a:tc>
              </a:tr>
              <a:tr h="411480">
                <a:tc>
                  <a:txBody>
                    <a:bodyPr/>
                    <a:lstStyle/>
                    <a:p>
                      <a:pPr algn="l"/>
                      <a:r>
                        <a:rPr sz="1300">
                          <a:solidFill>
                            <a:srgbClr val="262B33"/>
                          </a:solidFill>
                          <a:latin typeface="Calibri"/>
                        </a:rPr>
                        <a:t>Recall</a:t>
                      </a:r>
                    </a:p>
                  </a:txBody>
                  <a:tcPr marL="54864" marR="54864" marT="27432" marB="27432" anchor="ctr">
                    <a:solidFill>
                      <a:srgbClr val="F3F4F6"/>
                    </a:solidFill>
                  </a:tcPr>
                </a:tc>
                <a:tc>
                  <a:txBody>
                    <a:bodyPr/>
                    <a:lstStyle/>
                    <a:p>
                      <a:pPr algn="ctr"/>
                      <a:r>
                        <a:rPr sz="1300">
                          <a:solidFill>
                            <a:srgbClr val="262B33"/>
                          </a:solidFill>
                          <a:latin typeface="Calibri"/>
                        </a:rPr>
                        <a:t>78.5%</a:t>
                      </a:r>
                    </a:p>
                  </a:txBody>
                  <a:tcPr marL="54864" marR="54864" marT="27432" marB="27432" anchor="ctr">
                    <a:solidFill>
                      <a:srgbClr val="F3F4F6"/>
                    </a:solidFill>
                  </a:tcPr>
                </a:tc>
                <a:tc>
                  <a:txBody>
                    <a:bodyPr/>
                    <a:lstStyle/>
                    <a:p>
                      <a:pPr algn="ctr"/>
                      <a:r>
                        <a:rPr sz="1300">
                          <a:solidFill>
                            <a:srgbClr val="262B33"/>
                          </a:solidFill>
                          <a:latin typeface="Calibri"/>
                        </a:rPr>
                        <a:t>90.6%</a:t>
                      </a:r>
                    </a:p>
                  </a:txBody>
                  <a:tcPr marL="54864" marR="54864" marT="27432" marB="27432" anchor="ctr">
                    <a:solidFill>
                      <a:srgbClr val="F3F4F6"/>
                    </a:solidFill>
                  </a:tcPr>
                </a:tc>
                <a:tc>
                  <a:txBody>
                    <a:bodyPr/>
                    <a:lstStyle/>
                    <a:p>
                      <a:pPr algn="ctr"/>
                      <a:r>
                        <a:rPr sz="1300">
                          <a:solidFill>
                            <a:srgbClr val="262B33"/>
                          </a:solidFill>
                          <a:latin typeface="Calibri"/>
                        </a:rPr>
                        <a:t>+12.1 pts</a:t>
                      </a:r>
                    </a:p>
                  </a:txBody>
                  <a:tcPr marL="54864" marR="54864" marT="27432" marB="27432" anchor="ctr">
                    <a:solidFill>
                      <a:srgbClr val="F3F4F6"/>
                    </a:solidFill>
                  </a:tcPr>
                </a:tc>
              </a:tr>
              <a:tr h="411480">
                <a:tc>
                  <a:txBody>
                    <a:bodyPr/>
                    <a:lstStyle/>
                    <a:p>
                      <a:pPr algn="l"/>
                      <a:r>
                        <a:rPr sz="1300" b="1">
                          <a:solidFill>
                            <a:srgbClr val="262B33"/>
                          </a:solidFill>
                          <a:latin typeface="Calibri"/>
                        </a:rPr>
                        <a:t>F1-score</a:t>
                      </a:r>
                    </a:p>
                  </a:txBody>
                  <a:tcPr marL="54864" marR="54864" marT="27432" marB="27432" anchor="ctr">
                    <a:solidFill>
                      <a:srgbClr val="FBE9E9"/>
                    </a:solidFill>
                  </a:tcPr>
                </a:tc>
                <a:tc>
                  <a:txBody>
                    <a:bodyPr/>
                    <a:lstStyle/>
                    <a:p>
                      <a:pPr algn="ctr"/>
                      <a:r>
                        <a:rPr sz="1300" b="1">
                          <a:solidFill>
                            <a:srgbClr val="262B33"/>
                          </a:solidFill>
                          <a:latin typeface="Calibri"/>
                        </a:rPr>
                        <a:t>77.1%</a:t>
                      </a:r>
                    </a:p>
                  </a:txBody>
                  <a:tcPr marL="54864" marR="54864" marT="27432" marB="27432" anchor="ctr">
                    <a:solidFill>
                      <a:srgbClr val="FBE9E9"/>
                    </a:solidFill>
                  </a:tcPr>
                </a:tc>
                <a:tc>
                  <a:txBody>
                    <a:bodyPr/>
                    <a:lstStyle/>
                    <a:p>
                      <a:pPr algn="ctr"/>
                      <a:r>
                        <a:rPr sz="1300" b="1">
                          <a:solidFill>
                            <a:srgbClr val="262B33"/>
                          </a:solidFill>
                          <a:latin typeface="Calibri"/>
                        </a:rPr>
                        <a:t>91.2%</a:t>
                      </a:r>
                    </a:p>
                  </a:txBody>
                  <a:tcPr marL="54864" marR="54864" marT="27432" marB="27432" anchor="ctr">
                    <a:solidFill>
                      <a:srgbClr val="FBE9E9"/>
                    </a:solidFill>
                  </a:tcPr>
                </a:tc>
                <a:tc>
                  <a:txBody>
                    <a:bodyPr/>
                    <a:lstStyle/>
                    <a:p>
                      <a:pPr algn="ctr"/>
                      <a:r>
                        <a:rPr sz="1300" b="1">
                          <a:solidFill>
                            <a:srgbClr val="262B33"/>
                          </a:solidFill>
                          <a:latin typeface="Calibri"/>
                        </a:rPr>
                        <a:t>+14.1 pts</a:t>
                      </a:r>
                    </a:p>
                  </a:txBody>
                  <a:tcPr marL="54864" marR="54864" marT="27432" marB="27432" anchor="ctr">
                    <a:solidFill>
                      <a:srgbClr val="FBE9E9"/>
                    </a:solidFill>
                  </a:tcPr>
                </a:tc>
              </a:tr>
              <a:tr h="411480">
                <a:tc>
                  <a:txBody>
                    <a:bodyPr/>
                    <a:lstStyle/>
                    <a:p>
                      <a:pPr algn="l"/>
                      <a:r>
                        <a:rPr sz="1300" b="1">
                          <a:solidFill>
                            <a:srgbClr val="262B33"/>
                          </a:solidFill>
                          <a:latin typeface="Calibri"/>
                        </a:rPr>
                        <a:t>IoU</a:t>
                      </a:r>
                    </a:p>
                  </a:txBody>
                  <a:tcPr marL="54864" marR="54864" marT="27432" marB="27432" anchor="ctr">
                    <a:solidFill>
                      <a:srgbClr val="FBE9E9"/>
                    </a:solidFill>
                  </a:tcPr>
                </a:tc>
                <a:tc>
                  <a:txBody>
                    <a:bodyPr/>
                    <a:lstStyle/>
                    <a:p>
                      <a:pPr algn="ctr"/>
                      <a:r>
                        <a:rPr sz="1300" b="1">
                          <a:solidFill>
                            <a:srgbClr val="262B33"/>
                          </a:solidFill>
                          <a:latin typeface="Calibri"/>
                        </a:rPr>
                        <a:t>62.8%</a:t>
                      </a:r>
                    </a:p>
                  </a:txBody>
                  <a:tcPr marL="54864" marR="54864" marT="27432" marB="27432" anchor="ctr">
                    <a:solidFill>
                      <a:srgbClr val="FBE9E9"/>
                    </a:solidFill>
                  </a:tcPr>
                </a:tc>
                <a:tc>
                  <a:txBody>
                    <a:bodyPr/>
                    <a:lstStyle/>
                    <a:p>
                      <a:pPr algn="ctr"/>
                      <a:r>
                        <a:rPr sz="1300" b="1">
                          <a:solidFill>
                            <a:srgbClr val="262B33"/>
                          </a:solidFill>
                          <a:latin typeface="Calibri"/>
                        </a:rPr>
                        <a:t>83.8%</a:t>
                      </a:r>
                    </a:p>
                  </a:txBody>
                  <a:tcPr marL="54864" marR="54864" marT="27432" marB="27432" anchor="ctr">
                    <a:solidFill>
                      <a:srgbClr val="FBE9E9"/>
                    </a:solidFill>
                  </a:tcPr>
                </a:tc>
                <a:tc>
                  <a:txBody>
                    <a:bodyPr/>
                    <a:lstStyle/>
                    <a:p>
                      <a:pPr algn="ctr"/>
                      <a:r>
                        <a:rPr sz="1300" b="1">
                          <a:solidFill>
                            <a:srgbClr val="262B33"/>
                          </a:solidFill>
                          <a:latin typeface="Calibri"/>
                        </a:rPr>
                        <a:t>+21.0 pts</a:t>
                      </a:r>
                    </a:p>
                  </a:txBody>
                  <a:tcPr marL="54864" marR="54864" marT="27432" marB="27432" anchor="ctr">
                    <a:solidFill>
                      <a:srgbClr val="FBE9E9"/>
                    </a:solidFill>
                  </a:tcPr>
                </a:tc>
              </a:tr>
              <a:tr h="411480">
                <a:tc>
                  <a:txBody>
                    <a:bodyPr/>
                    <a:lstStyle/>
                    <a:p>
                      <a:pPr algn="l"/>
                      <a:r>
                        <a:rPr sz="1300">
                          <a:solidFill>
                            <a:srgbClr val="262B33"/>
                          </a:solidFill>
                          <a:latin typeface="Calibri"/>
                        </a:rPr>
                        <a:t>Overall accuracy</a:t>
                      </a:r>
                    </a:p>
                  </a:txBody>
                  <a:tcPr marL="54864" marR="54864" marT="27432" marB="27432" anchor="ctr">
                    <a:solidFill>
                      <a:srgbClr val="FFFFFF"/>
                    </a:solidFill>
                  </a:tcPr>
                </a:tc>
                <a:tc>
                  <a:txBody>
                    <a:bodyPr/>
                    <a:lstStyle/>
                    <a:p>
                      <a:pPr algn="ctr"/>
                      <a:r>
                        <a:rPr sz="1300">
                          <a:solidFill>
                            <a:srgbClr val="262B33"/>
                          </a:solidFill>
                          <a:latin typeface="Calibri"/>
                        </a:rPr>
                        <a:t>97.6%</a:t>
                      </a:r>
                    </a:p>
                  </a:txBody>
                  <a:tcPr marL="54864" marR="54864" marT="27432" marB="27432" anchor="ctr">
                    <a:solidFill>
                      <a:srgbClr val="FFFFFF"/>
                    </a:solidFill>
                  </a:tcPr>
                </a:tc>
                <a:tc>
                  <a:txBody>
                    <a:bodyPr/>
                    <a:lstStyle/>
                    <a:p>
                      <a:pPr algn="ctr"/>
                      <a:r>
                        <a:rPr sz="1300">
                          <a:solidFill>
                            <a:srgbClr val="262B33"/>
                          </a:solidFill>
                          <a:latin typeface="Calibri"/>
                        </a:rPr>
                        <a:t>99.1%</a:t>
                      </a:r>
                    </a:p>
                  </a:txBody>
                  <a:tcPr marL="54864" marR="54864" marT="27432" marB="27432" anchor="ctr">
                    <a:solidFill>
                      <a:srgbClr val="FFFFFF"/>
                    </a:solidFill>
                  </a:tcPr>
                </a:tc>
                <a:tc>
                  <a:txBody>
                    <a:bodyPr/>
                    <a:lstStyle/>
                    <a:p>
                      <a:pPr algn="ctr"/>
                      <a:r>
                        <a:rPr sz="1300">
                          <a:solidFill>
                            <a:srgbClr val="262B33"/>
                          </a:solidFill>
                          <a:latin typeface="Calibri"/>
                        </a:rPr>
                        <a:t>+1.5 pts</a:t>
                      </a:r>
                    </a:p>
                  </a:txBody>
                  <a:tcPr marL="54864" marR="54864" marT="27432" marB="27432" anchor="ctr">
                    <a:solidFill>
                      <a:srgbClr val="FFFFFF"/>
                    </a:solidFill>
                  </a:tcPr>
                </a:tc>
              </a:tr>
            </a:tbl>
          </a:graphicData>
        </a:graphic>
      </p:graphicFrame>
      <p:sp>
        <p:nvSpPr>
          <p:cNvPr id="12" name="TextBox 11"/>
          <p:cNvSpPr txBox="1"/>
          <p:nvPr/>
        </p:nvSpPr>
        <p:spPr>
          <a:xfrm>
            <a:off x="685800" y="3977639"/>
            <a:ext cx="5669280" cy="2286000"/>
          </a:xfrm>
          <a:prstGeom prst="rect">
            <a:avLst/>
          </a:prstGeom>
          <a:noFill/>
        </p:spPr>
        <p:txBody>
          <a:bodyPr wrap="square" anchor="t" lIns="45720" rIns="45720">
            <a:spAutoFit/>
          </a:bodyPr>
          <a:lstStyle/>
          <a:p>
            <a:pPr algn="l" marL="228600" indent="-201168">
              <a:spcAft>
                <a:spcPts val="600"/>
              </a:spcAft>
              <a:buClr>
                <a:srgbClr val="C00000"/>
              </a:buClr>
              <a:buChar char="▪"/>
            </a:pPr>
            <a:r>
              <a:rPr sz="1300" b="0" i="0">
                <a:solidFill>
                  <a:srgbClr val="262B33"/>
                </a:solidFill>
                <a:latin typeface="Calibri"/>
              </a:rPr>
              <a:t>v1 resized images to 256 × 256; v2 works at the native 1024 × 1024 resolution (same 128 test images).</a:t>
            </a:r>
          </a:p>
          <a:p>
            <a:pPr algn="l" marL="228600" indent="-201168">
              <a:spcAft>
                <a:spcPts val="600"/>
              </a:spcAft>
              <a:buClr>
                <a:srgbClr val="C00000"/>
              </a:buClr>
              <a:buChar char="▪"/>
            </a:pPr>
            <a:r>
              <a:rPr sz="1300" b="0" i="0">
                <a:solidFill>
                  <a:srgbClr val="262B33"/>
                </a:solidFill>
                <a:latin typeface="Calibri"/>
              </a:rPr>
              <a:t>Dataset-level IoU obeys IoU = F1/(2 − F1): 0.9117/1.0883 = 0.8377, measured 0.8378 ✓</a:t>
            </a:r>
          </a:p>
          <a:p>
            <a:pPr algn="l" marL="228600" indent="-201168">
              <a:spcAft>
                <a:spcPts val="600"/>
              </a:spcAft>
              <a:buClr>
                <a:srgbClr val="C00000"/>
              </a:buClr>
              <a:buChar char="▪"/>
            </a:pPr>
            <a:r>
              <a:rPr sz="1300" b="0" i="0">
                <a:solidFill>
                  <a:srgbClr val="262B33"/>
                </a:solidFill>
                <a:latin typeface="Calibri"/>
              </a:rPr>
              <a:t>Validation-chosen threshold 0.41 gives F1 0.9117; the best possible test threshold would give 0.9118 – the threshold transfers.</a:t>
            </a:r>
          </a:p>
        </p:txBody>
      </p:sp>
      <p:pic>
        <p:nvPicPr>
          <p:cNvPr id="13" name="Picture 12" descr="cm.png"/>
          <p:cNvPicPr>
            <a:picLocks noChangeAspect="1"/>
          </p:cNvPicPr>
          <p:nvPr/>
        </p:nvPicPr>
        <p:blipFill>
          <a:blip r:embed="rId2"/>
          <a:stretch>
            <a:fillRect/>
          </a:stretch>
        </p:blipFill>
        <p:spPr>
          <a:xfrm>
            <a:off x="6675120" y="1325880"/>
            <a:ext cx="3219012" cy="2743200"/>
          </a:xfrm>
          <a:prstGeom prst="rect">
            <a:avLst/>
          </a:prstGeom>
        </p:spPr>
      </p:pic>
      <p:pic>
        <p:nvPicPr>
          <p:cNvPr id="14" name="Picture 13" descr="thr.png"/>
          <p:cNvPicPr>
            <a:picLocks noChangeAspect="1"/>
          </p:cNvPicPr>
          <p:nvPr/>
        </p:nvPicPr>
        <p:blipFill>
          <a:blip r:embed="rId3"/>
          <a:stretch>
            <a:fillRect/>
          </a:stretch>
        </p:blipFill>
        <p:spPr>
          <a:xfrm>
            <a:off x="6675120" y="4114800"/>
            <a:ext cx="3438144" cy="21488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5.1 Novelty</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325880"/>
            <a:ext cx="5349240" cy="16459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Oval 11"/>
          <p:cNvSpPr/>
          <p:nvPr/>
        </p:nvSpPr>
        <p:spPr>
          <a:xfrm>
            <a:off x="868680" y="1554480"/>
            <a:ext cx="548640" cy="54864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1</a:t>
            </a:r>
          </a:p>
        </p:txBody>
      </p:sp>
      <p:sp>
        <p:nvSpPr>
          <p:cNvPr id="13" name="TextBox 12"/>
          <p:cNvSpPr txBox="1"/>
          <p:nvPr/>
        </p:nvSpPr>
        <p:spPr>
          <a:xfrm>
            <a:off x="1600200" y="1463039"/>
            <a:ext cx="4297680" cy="1463040"/>
          </a:xfrm>
          <a:prstGeom prst="rect">
            <a:avLst/>
          </a:prstGeom>
          <a:noFill/>
        </p:spPr>
        <p:txBody>
          <a:bodyPr wrap="square" anchor="t" lIns="45720" rIns="45720">
            <a:spAutoFit/>
          </a:bodyPr>
          <a:lstStyle/>
          <a:p>
            <a:pPr algn="l">
              <a:spcAft>
                <a:spcPts val="400"/>
              </a:spcAft>
            </a:pPr>
            <a:r>
              <a:rPr sz="1700" b="1" i="0">
                <a:solidFill>
                  <a:srgbClr val="262B33"/>
                </a:solidFill>
                <a:latin typeface="Calibri"/>
              </a:rPr>
              <a:t>DSP-guided input</a:t>
            </a:r>
          </a:p>
          <a:p>
            <a:pPr algn="l">
              <a:spcAft>
                <a:spcPts val="400"/>
              </a:spcAft>
            </a:pPr>
            <a:r>
              <a:rPr sz="1400" b="0" i="0">
                <a:solidFill>
                  <a:srgbClr val="5F6670"/>
                </a:solidFill>
                <a:latin typeface="Calibri"/>
              </a:rPr>
              <a:t>A classical Canny edge map, standardised with measured statistics, is fused with RGB inside an ImageNet encoder – DSP and deep learning cooperate at the input.</a:t>
            </a:r>
          </a:p>
        </p:txBody>
      </p:sp>
      <p:sp>
        <p:nvSpPr>
          <p:cNvPr id="14" name="Rounded Rectangle 13"/>
          <p:cNvSpPr/>
          <p:nvPr/>
        </p:nvSpPr>
        <p:spPr>
          <a:xfrm>
            <a:off x="6263640" y="1325880"/>
            <a:ext cx="5349240" cy="16459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Oval 14"/>
          <p:cNvSpPr/>
          <p:nvPr/>
        </p:nvSpPr>
        <p:spPr>
          <a:xfrm>
            <a:off x="6446520" y="1554480"/>
            <a:ext cx="548640" cy="54864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2</a:t>
            </a:r>
          </a:p>
        </p:txBody>
      </p:sp>
      <p:sp>
        <p:nvSpPr>
          <p:cNvPr id="16" name="TextBox 15"/>
          <p:cNvSpPr txBox="1"/>
          <p:nvPr/>
        </p:nvSpPr>
        <p:spPr>
          <a:xfrm>
            <a:off x="7178040" y="1463039"/>
            <a:ext cx="4297680" cy="1463040"/>
          </a:xfrm>
          <a:prstGeom prst="rect">
            <a:avLst/>
          </a:prstGeom>
          <a:noFill/>
        </p:spPr>
        <p:txBody>
          <a:bodyPr wrap="square" anchor="t" lIns="45720" rIns="45720">
            <a:spAutoFit/>
          </a:bodyPr>
          <a:lstStyle/>
          <a:p>
            <a:pPr algn="l">
              <a:spcAft>
                <a:spcPts val="400"/>
              </a:spcAft>
            </a:pPr>
            <a:r>
              <a:rPr sz="1700" b="1" i="0">
                <a:solidFill>
                  <a:srgbClr val="262B33"/>
                </a:solidFill>
                <a:latin typeface="Calibri"/>
              </a:rPr>
              <a:t>Attention + Siam-Concat at every scale</a:t>
            </a:r>
          </a:p>
          <a:p>
            <a:pPr algn="l">
              <a:spcAft>
                <a:spcPts val="400"/>
              </a:spcAft>
            </a:pPr>
            <a:r>
              <a:rPr sz="1400" b="0" i="0">
                <a:solidFill>
                  <a:srgbClr val="5F6670"/>
                </a:solidFill>
                <a:latin typeface="Calibri"/>
              </a:rPr>
              <a:t>Spatial-temporal attention across both dates, then before / after / difference fusion from 1/2 to 1/32 resolution.</a:t>
            </a:r>
          </a:p>
        </p:txBody>
      </p:sp>
      <p:sp>
        <p:nvSpPr>
          <p:cNvPr id="17" name="Rounded Rectangle 16"/>
          <p:cNvSpPr/>
          <p:nvPr/>
        </p:nvSpPr>
        <p:spPr>
          <a:xfrm>
            <a:off x="685800" y="3154680"/>
            <a:ext cx="5349240" cy="16459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Oval 17"/>
          <p:cNvSpPr/>
          <p:nvPr/>
        </p:nvSpPr>
        <p:spPr>
          <a:xfrm>
            <a:off x="868680" y="3383280"/>
            <a:ext cx="548640" cy="54864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3</a:t>
            </a:r>
          </a:p>
        </p:txBody>
      </p:sp>
      <p:sp>
        <p:nvSpPr>
          <p:cNvPr id="19" name="TextBox 18"/>
          <p:cNvSpPr txBox="1"/>
          <p:nvPr/>
        </p:nvSpPr>
        <p:spPr>
          <a:xfrm>
            <a:off x="1600200" y="3291840"/>
            <a:ext cx="4297680" cy="1463040"/>
          </a:xfrm>
          <a:prstGeom prst="rect">
            <a:avLst/>
          </a:prstGeom>
          <a:noFill/>
        </p:spPr>
        <p:txBody>
          <a:bodyPr wrap="square" anchor="t" lIns="45720" rIns="45720">
            <a:spAutoFit/>
          </a:bodyPr>
          <a:lstStyle/>
          <a:p>
            <a:pPr algn="l">
              <a:spcAft>
                <a:spcPts val="400"/>
              </a:spcAft>
            </a:pPr>
            <a:r>
              <a:rPr sz="1700" b="1" i="0">
                <a:solidFill>
                  <a:srgbClr val="262B33"/>
                </a:solidFill>
                <a:latin typeface="Calibri"/>
              </a:rPr>
              <a:t>Edge-guided decoder</a:t>
            </a:r>
          </a:p>
          <a:p>
            <a:pPr algn="l">
              <a:spcAft>
                <a:spcPts val="400"/>
              </a:spcAft>
            </a:pPr>
            <a:r>
              <a:rPr sz="1400" b="0" i="0">
                <a:solidFill>
                  <a:srgbClr val="5F6670"/>
                </a:solidFill>
                <a:latin typeface="Calibri"/>
              </a:rPr>
              <a:t>A DSP operator (Sobel) creates the edge supervision; the edge features steer the change decoder.</a:t>
            </a:r>
          </a:p>
        </p:txBody>
      </p:sp>
      <p:sp>
        <p:nvSpPr>
          <p:cNvPr id="20" name="Rounded Rectangle 19"/>
          <p:cNvSpPr/>
          <p:nvPr/>
        </p:nvSpPr>
        <p:spPr>
          <a:xfrm>
            <a:off x="6263640" y="3154680"/>
            <a:ext cx="5349240" cy="164592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Oval 20"/>
          <p:cNvSpPr/>
          <p:nvPr/>
        </p:nvSpPr>
        <p:spPr>
          <a:xfrm>
            <a:off x="6446520" y="3383280"/>
            <a:ext cx="548640" cy="54864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4</a:t>
            </a:r>
          </a:p>
        </p:txBody>
      </p:sp>
      <p:sp>
        <p:nvSpPr>
          <p:cNvPr id="22" name="TextBox 21"/>
          <p:cNvSpPr txBox="1"/>
          <p:nvPr/>
        </p:nvSpPr>
        <p:spPr>
          <a:xfrm>
            <a:off x="7178040" y="3291840"/>
            <a:ext cx="4297680" cy="1463040"/>
          </a:xfrm>
          <a:prstGeom prst="rect">
            <a:avLst/>
          </a:prstGeom>
          <a:noFill/>
        </p:spPr>
        <p:txBody>
          <a:bodyPr wrap="square" anchor="t" lIns="45720" rIns="45720">
            <a:spAutoFit/>
          </a:bodyPr>
          <a:lstStyle/>
          <a:p>
            <a:pPr algn="l">
              <a:spcAft>
                <a:spcPts val="400"/>
              </a:spcAft>
            </a:pPr>
            <a:r>
              <a:rPr sz="1700" b="1" i="0">
                <a:solidFill>
                  <a:srgbClr val="262B33"/>
                </a:solidFill>
                <a:latin typeface="Calibri"/>
              </a:rPr>
              <a:t>Native-resolution, deployable</a:t>
            </a:r>
          </a:p>
          <a:p>
            <a:pPr algn="l">
              <a:spcAft>
                <a:spcPts val="400"/>
              </a:spcAft>
            </a:pPr>
            <a:r>
              <a:rPr sz="1400" b="0" i="0">
                <a:solidFill>
                  <a:srgbClr val="5F6670"/>
                </a:solidFill>
                <a:latin typeface="Calibri"/>
              </a:rPr>
              <a:t>Sliding-window inference with cosine blending, validation-selected threshold and a real-time desktop GUI.</a:t>
            </a:r>
          </a:p>
        </p:txBody>
      </p:sp>
      <p:sp>
        <p:nvSpPr>
          <p:cNvPr id="23" name="Rounded Rectangle 22"/>
          <p:cNvSpPr/>
          <p:nvPr/>
        </p:nvSpPr>
        <p:spPr>
          <a:xfrm>
            <a:off x="685800" y="5120640"/>
            <a:ext cx="10972800" cy="100584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400" b="0" i="0">
                <a:solidFill>
                  <a:srgbClr val="FFFFFF"/>
                </a:solidFill>
                <a:latin typeface="Calibri"/>
              </a:rPr>
              <a:t>Engineering finding: three silent bugs in v1 (batch mixing in attention, unscaled edge channel, 4× down-sampling) were found and fixed → +14 F1 points.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5.2 Design Considerations (PO(c))</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2206104</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868680"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5.2.1 Public health and safety</a:t>
            </a:r>
          </a:p>
          <a:p>
            <a:pPr algn="l" marL="228600" indent="-201168">
              <a:spcAft>
                <a:spcPts val="1000"/>
              </a:spcAft>
              <a:buClr>
                <a:srgbClr val="C00000"/>
              </a:buClr>
              <a:buChar char="▪"/>
            </a:pPr>
            <a:r>
              <a:rPr sz="1400" b="0" i="0">
                <a:solidFill>
                  <a:srgbClr val="262B33"/>
                </a:solidFill>
                <a:latin typeface="Calibri"/>
              </a:rPr>
              <a:t>Flags unauthorised construction in flood-prone and earthquake-risk zones for inspection</a:t>
            </a:r>
          </a:p>
          <a:p>
            <a:pPr algn="l" marL="228600" indent="-201168">
              <a:spcAft>
                <a:spcPts val="1000"/>
              </a:spcAft>
              <a:buClr>
                <a:srgbClr val="C00000"/>
              </a:buClr>
              <a:buChar char="▪"/>
            </a:pPr>
            <a:r>
              <a:rPr sz="1400" b="0" i="0">
                <a:solidFill>
                  <a:srgbClr val="262B33"/>
                </a:solidFill>
                <a:latin typeface="Calibri"/>
              </a:rPr>
              <a:t>Rapid mapping of damage after floods or cyclones</a:t>
            </a:r>
          </a:p>
          <a:p>
            <a:pPr algn="l" marL="228600" indent="-201168">
              <a:spcAft>
                <a:spcPts val="1000"/>
              </a:spcAft>
              <a:buClr>
                <a:srgbClr val="C00000"/>
              </a:buClr>
              <a:buChar char="▪"/>
            </a:pPr>
            <a:r>
              <a:rPr sz="1400" b="0" i="0">
                <a:solidFill>
                  <a:srgbClr val="262B33"/>
                </a:solidFill>
                <a:latin typeface="Calibri"/>
              </a:rPr>
              <a:t>A miss (false negative) can hide a hazard → output is decision support, a human verifies</a:t>
            </a:r>
          </a:p>
        </p:txBody>
      </p:sp>
      <p:sp>
        <p:nvSpPr>
          <p:cNvPr id="13" name="Rounded Rectangle 12"/>
          <p:cNvSpPr/>
          <p:nvPr/>
        </p:nvSpPr>
        <p:spPr>
          <a:xfrm>
            <a:off x="438912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4572000"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5.2.2 Environment</a:t>
            </a:r>
          </a:p>
          <a:p>
            <a:pPr algn="l" marL="228600" indent="-201168">
              <a:spcAft>
                <a:spcPts val="1000"/>
              </a:spcAft>
              <a:buClr>
                <a:srgbClr val="C00000"/>
              </a:buClr>
              <a:buChar char="▪"/>
            </a:pPr>
            <a:r>
              <a:rPr sz="1400" b="0" i="0">
                <a:solidFill>
                  <a:srgbClr val="262B33"/>
                </a:solidFill>
                <a:latin typeface="Calibri"/>
              </a:rPr>
              <a:t>Monitors encroachment on wetlands, farmland and green cover</a:t>
            </a:r>
          </a:p>
          <a:p>
            <a:pPr algn="l" marL="228600" indent="-201168">
              <a:spcAft>
                <a:spcPts val="1000"/>
              </a:spcAft>
              <a:buClr>
                <a:srgbClr val="C00000"/>
              </a:buClr>
              <a:buChar char="▪"/>
            </a:pPr>
            <a:r>
              <a:rPr sz="1400" b="0" i="0">
                <a:solidFill>
                  <a:srgbClr val="262B33"/>
                </a:solidFill>
                <a:latin typeface="Calibri"/>
              </a:rPr>
              <a:t>Replaces field survey trips with remote analysis</a:t>
            </a:r>
          </a:p>
          <a:p>
            <a:pPr algn="l" marL="228600" indent="-201168">
              <a:spcAft>
                <a:spcPts val="1000"/>
              </a:spcAft>
              <a:buClr>
                <a:srgbClr val="C00000"/>
              </a:buClr>
              <a:buChar char="▪"/>
            </a:pPr>
            <a:r>
              <a:rPr sz="1400" b="0" i="0">
                <a:solidFill>
                  <a:srgbClr val="262B33"/>
                </a:solidFill>
                <a:latin typeface="Calibri"/>
              </a:rPr>
              <a:t>Trained on a laptop GPU in ≈ 5 h – small energy footprint</a:t>
            </a:r>
          </a:p>
        </p:txBody>
      </p:sp>
      <p:sp>
        <p:nvSpPr>
          <p:cNvPr id="15" name="Rounded Rectangle 14"/>
          <p:cNvSpPr/>
          <p:nvPr/>
        </p:nvSpPr>
        <p:spPr>
          <a:xfrm>
            <a:off x="809244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8275319"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5.2.3 Cultural and societal needs</a:t>
            </a:r>
          </a:p>
          <a:p>
            <a:pPr algn="l" marL="228600" indent="-201168">
              <a:spcAft>
                <a:spcPts val="1000"/>
              </a:spcAft>
              <a:buClr>
                <a:srgbClr val="C00000"/>
              </a:buClr>
              <a:buChar char="▪"/>
            </a:pPr>
            <a:r>
              <a:rPr sz="1400" b="0" i="0">
                <a:solidFill>
                  <a:srgbClr val="262B33"/>
                </a:solidFill>
                <a:latin typeface="Calibri"/>
              </a:rPr>
              <a:t>Supports city planners (e.g. RAJUK) with up-to-date maps</a:t>
            </a:r>
          </a:p>
          <a:p>
            <a:pPr algn="l" marL="228600" indent="-201168">
              <a:spcAft>
                <a:spcPts val="1000"/>
              </a:spcAft>
              <a:buClr>
                <a:srgbClr val="C00000"/>
              </a:buClr>
              <a:buChar char="▪"/>
            </a:pPr>
            <a:r>
              <a:rPr sz="1400" b="0" i="0">
                <a:solidFill>
                  <a:srgbClr val="262B33"/>
                </a:solidFill>
                <a:latin typeface="Calibri"/>
              </a:rPr>
              <a:t>Threshold slider lets users trade false alarms for misses to suit the task</a:t>
            </a:r>
          </a:p>
          <a:p>
            <a:pPr algn="l" marL="228600" indent="-201168">
              <a:spcAft>
                <a:spcPts val="1000"/>
              </a:spcAft>
              <a:buClr>
                <a:srgbClr val="C00000"/>
              </a:buClr>
              <a:buChar char="▪"/>
            </a:pPr>
            <a:r>
              <a:rPr sz="1400" b="0" i="0">
                <a:solidFill>
                  <a:srgbClr val="262B33"/>
                </a:solidFill>
                <a:latin typeface="Calibri"/>
              </a:rPr>
              <a:t>Must not be used to target informal settlements for eviction</a:t>
            </a:r>
          </a:p>
        </p:txBody>
      </p:sp>
      <p:sp>
        <p:nvSpPr>
          <p:cNvPr id="17" name="Rounded Rectangle 16"/>
          <p:cNvSpPr/>
          <p:nvPr/>
        </p:nvSpPr>
        <p:spPr>
          <a:xfrm>
            <a:off x="685800" y="5166360"/>
            <a:ext cx="10972800" cy="100584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500" b="0" i="0">
                <a:solidFill>
                  <a:srgbClr val="FFFFFF"/>
                </a:solidFill>
                <a:latin typeface="Calibri"/>
              </a:rPr>
              <a:t>Design response: human-in-the-loop threshold slider, polygon output for GIS use, and fully offline operation on an ordinary laptop.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5.3 Investigations (PO(d))</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2206119</a:t>
            </a:r>
            <a:endParaRPr lang="en-GB" i="1" dirty="0">
              <a:solidFill>
                <a:srgbClr val="FFFF00"/>
              </a:solidFill>
              <a:latin typeface="Arial Narrow" panose="020B0606020202030204" pitchFamily="34" charset="0"/>
            </a:endParaRPr>
          </a:p>
        </p:txBody>
      </p:sp>
      <p:graphicFrame>
        <p:nvGraphicFramePr>
          <p:cNvPr id="11" name="Table 10"/>
          <p:cNvGraphicFramePr>
            <a:graphicFrameLocks noGrp="1"/>
          </p:cNvGraphicFramePr>
          <p:nvPr/>
        </p:nvGraphicFramePr>
        <p:xfrm>
          <a:off x="685800" y="1325880"/>
          <a:ext cx="5120640" cy="3291840"/>
        </p:xfrm>
        <a:graphic>
          <a:graphicData uri="http://schemas.openxmlformats.org/drawingml/2006/table">
            <a:tbl>
              <a:tblPr firstRow="1" bandRow="1">
                <a:tableStyleId>{5C22544A-7EE6-4342-B048-85BDC9FD1C3A}</a:tableStyleId>
              </a:tblPr>
              <a:tblGrid>
                <a:gridCol w="2560320"/>
                <a:gridCol w="2560320"/>
              </a:tblGrid>
              <a:tr h="470262">
                <a:tc>
                  <a:txBody>
                    <a:bodyPr/>
                    <a:lstStyle/>
                    <a:p>
                      <a:pPr algn="l"/>
                      <a:r>
                        <a:rPr sz="1300" b="1">
                          <a:solidFill>
                            <a:srgbClr val="FFFFFF"/>
                          </a:solidFill>
                          <a:latin typeface="Calibri"/>
                        </a:rPr>
                        <a:t>Experiment</a:t>
                      </a:r>
                    </a:p>
                  </a:txBody>
                  <a:tcPr marL="54864" marR="54864" marT="27432" marB="27432" anchor="ctr">
                    <a:solidFill>
                      <a:srgbClr val="262B33"/>
                    </a:solidFill>
                  </a:tcPr>
                </a:tc>
                <a:tc>
                  <a:txBody>
                    <a:bodyPr/>
                    <a:lstStyle/>
                    <a:p>
                      <a:pPr algn="ctr"/>
                      <a:r>
                        <a:rPr sz="1300" b="1">
                          <a:solidFill>
                            <a:srgbClr val="FFFFFF"/>
                          </a:solidFill>
                          <a:latin typeface="Calibri"/>
                        </a:rPr>
                        <a:t>Result</a:t>
                      </a:r>
                    </a:p>
                  </a:txBody>
                  <a:tcPr marL="54864" marR="54864" marT="27432" marB="27432" anchor="ctr">
                    <a:solidFill>
                      <a:srgbClr val="262B33"/>
                    </a:solidFill>
                  </a:tcPr>
                </a:tc>
              </a:tr>
              <a:tr h="470262">
                <a:tc>
                  <a:txBody>
                    <a:bodyPr/>
                    <a:lstStyle/>
                    <a:p>
                      <a:pPr algn="l"/>
                      <a:r>
                        <a:rPr sz="1300">
                          <a:solidFill>
                            <a:srgbClr val="262B33"/>
                          </a:solidFill>
                          <a:latin typeface="Calibri"/>
                        </a:rPr>
                        <a:t>v1 → v2 (all fixes)</a:t>
                      </a:r>
                    </a:p>
                  </a:txBody>
                  <a:tcPr marL="54864" marR="54864" marT="27432" marB="27432" anchor="ctr">
                    <a:solidFill>
                      <a:srgbClr val="FFFFFF"/>
                    </a:solidFill>
                  </a:tcPr>
                </a:tc>
                <a:tc>
                  <a:txBody>
                    <a:bodyPr/>
                    <a:lstStyle/>
                    <a:p>
                      <a:pPr algn="ctr"/>
                      <a:r>
                        <a:rPr sz="1300">
                          <a:solidFill>
                            <a:srgbClr val="262B33"/>
                          </a:solidFill>
                          <a:latin typeface="Calibri"/>
                        </a:rPr>
                        <a:t>Test F1 0.771 → 0.912</a:t>
                      </a:r>
                    </a:p>
                  </a:txBody>
                  <a:tcPr marL="54864" marR="54864" marT="27432" marB="27432" anchor="ctr">
                    <a:solidFill>
                      <a:srgbClr val="FFFFFF"/>
                    </a:solidFill>
                  </a:tcPr>
                </a:tc>
              </a:tr>
              <a:tr h="470262">
                <a:tc>
                  <a:txBody>
                    <a:bodyPr/>
                    <a:lstStyle/>
                    <a:p>
                      <a:pPr algn="l"/>
                      <a:r>
                        <a:rPr sz="1300">
                          <a:solidFill>
                            <a:srgbClr val="262B33"/>
                          </a:solidFill>
                          <a:latin typeface="Calibri"/>
                        </a:rPr>
                        <a:t>Per-image vs dataset-level F1</a:t>
                      </a:r>
                    </a:p>
                  </a:txBody>
                  <a:tcPr marL="54864" marR="54864" marT="27432" marB="27432" anchor="ctr">
                    <a:solidFill>
                      <a:srgbClr val="F3F4F6"/>
                    </a:solidFill>
                  </a:tcPr>
                </a:tc>
                <a:tc>
                  <a:txBody>
                    <a:bodyPr/>
                    <a:lstStyle/>
                    <a:p>
                      <a:pPr algn="ctr"/>
                      <a:r>
                        <a:rPr sz="1300">
                          <a:solidFill>
                            <a:srgbClr val="262B33"/>
                          </a:solidFill>
                          <a:latin typeface="Calibri"/>
                        </a:rPr>
                        <a:t>0.840 vs 0.912</a:t>
                      </a:r>
                    </a:p>
                  </a:txBody>
                  <a:tcPr marL="54864" marR="54864" marT="27432" marB="27432" anchor="ctr">
                    <a:solidFill>
                      <a:srgbClr val="F3F4F6"/>
                    </a:solidFill>
                  </a:tcPr>
                </a:tc>
              </a:tr>
              <a:tr h="470262">
                <a:tc>
                  <a:txBody>
                    <a:bodyPr/>
                    <a:lstStyle/>
                    <a:p>
                      <a:pPr algn="l"/>
                      <a:r>
                        <a:rPr sz="1300">
                          <a:solidFill>
                            <a:srgbClr val="262B33"/>
                          </a:solidFill>
                          <a:latin typeface="Calibri"/>
                        </a:rPr>
                        <a:t>BAM batch test (v1 bug)</a:t>
                      </a:r>
                    </a:p>
                  </a:txBody>
                  <a:tcPr marL="54864" marR="54864" marT="27432" marB="27432" anchor="ctr">
                    <a:solidFill>
                      <a:srgbClr val="FFFFFF"/>
                    </a:solidFill>
                  </a:tcPr>
                </a:tc>
                <a:tc>
                  <a:txBody>
                    <a:bodyPr/>
                    <a:lstStyle/>
                    <a:p>
                      <a:pPr algn="ctr"/>
                      <a:r>
                        <a:rPr sz="1300">
                          <a:solidFill>
                            <a:srgbClr val="262B33"/>
                          </a:solidFill>
                          <a:latin typeface="Calibri"/>
                        </a:rPr>
                        <a:t>Output change 0.241 → 0</a:t>
                      </a:r>
                    </a:p>
                  </a:txBody>
                  <a:tcPr marL="54864" marR="54864" marT="27432" marB="27432" anchor="ctr">
                    <a:solidFill>
                      <a:srgbClr val="FFFFFF"/>
                    </a:solidFill>
                  </a:tcPr>
                </a:tc>
              </a:tr>
              <a:tr h="470262">
                <a:tc>
                  <a:txBody>
                    <a:bodyPr/>
                    <a:lstStyle/>
                    <a:p>
                      <a:pPr algn="l"/>
                      <a:r>
                        <a:rPr sz="1300">
                          <a:solidFill>
                            <a:srgbClr val="262B33"/>
                          </a:solidFill>
                          <a:latin typeface="Calibri"/>
                        </a:rPr>
                        <a:t>Edge / RGB channel std</a:t>
                      </a:r>
                    </a:p>
                  </a:txBody>
                  <a:tcPr marL="54864" marR="54864" marT="27432" marB="27432" anchor="ctr">
                    <a:solidFill>
                      <a:srgbClr val="F3F4F6"/>
                    </a:solidFill>
                  </a:tcPr>
                </a:tc>
                <a:tc>
                  <a:txBody>
                    <a:bodyPr/>
                    <a:lstStyle/>
                    <a:p>
                      <a:pPr algn="ctr"/>
                      <a:r>
                        <a:rPr sz="1300">
                          <a:solidFill>
                            <a:srgbClr val="262B33"/>
                          </a:solidFill>
                          <a:latin typeface="Calibri"/>
                        </a:rPr>
                        <a:t>0.002 → 1.01</a:t>
                      </a:r>
                    </a:p>
                  </a:txBody>
                  <a:tcPr marL="54864" marR="54864" marT="27432" marB="27432" anchor="ctr">
                    <a:solidFill>
                      <a:srgbClr val="F3F4F6"/>
                    </a:solidFill>
                  </a:tcPr>
                </a:tc>
              </a:tr>
              <a:tr h="470262">
                <a:tc>
                  <a:txBody>
                    <a:bodyPr/>
                    <a:lstStyle/>
                    <a:p>
                      <a:pPr algn="l"/>
                      <a:r>
                        <a:rPr sz="1300">
                          <a:solidFill>
                            <a:srgbClr val="262B33"/>
                          </a:solidFill>
                          <a:latin typeface="Calibri"/>
                        </a:rPr>
                        <a:t>Theory vs experiment</a:t>
                      </a:r>
                    </a:p>
                  </a:txBody>
                  <a:tcPr marL="54864" marR="54864" marT="27432" marB="27432" anchor="ctr">
                    <a:solidFill>
                      <a:srgbClr val="FFFFFF"/>
                    </a:solidFill>
                  </a:tcPr>
                </a:tc>
                <a:tc>
                  <a:txBody>
                    <a:bodyPr/>
                    <a:lstStyle/>
                    <a:p>
                      <a:pPr algn="ctr"/>
                      <a:r>
                        <a:rPr sz="1300">
                          <a:solidFill>
                            <a:srgbClr val="262B33"/>
                          </a:solidFill>
                          <a:latin typeface="Calibri"/>
                        </a:rPr>
                        <a:t>IoU = F1/(2−F1) ✓</a:t>
                      </a:r>
                    </a:p>
                  </a:txBody>
                  <a:tcPr marL="54864" marR="54864" marT="27432" marB="27432" anchor="ctr">
                    <a:solidFill>
                      <a:srgbClr val="FFFFFF"/>
                    </a:solidFill>
                  </a:tcPr>
                </a:tc>
              </a:tr>
              <a:tr h="470268">
                <a:tc>
                  <a:txBody>
                    <a:bodyPr/>
                    <a:lstStyle/>
                    <a:p>
                      <a:pPr algn="l"/>
                      <a:r>
                        <a:rPr sz="1300">
                          <a:solidFill>
                            <a:srgbClr val="262B33"/>
                          </a:solidFill>
                          <a:latin typeface="Calibri"/>
                        </a:rPr>
                        <a:t>Val threshold on test</a:t>
                      </a:r>
                    </a:p>
                  </a:txBody>
                  <a:tcPr marL="54864" marR="54864" marT="27432" marB="27432" anchor="ctr">
                    <a:solidFill>
                      <a:srgbClr val="F3F4F6"/>
                    </a:solidFill>
                  </a:tcPr>
                </a:tc>
                <a:tc>
                  <a:txBody>
                    <a:bodyPr/>
                    <a:lstStyle/>
                    <a:p>
                      <a:pPr algn="ctr"/>
                      <a:r>
                        <a:rPr sz="1300">
                          <a:solidFill>
                            <a:srgbClr val="262B33"/>
                          </a:solidFill>
                          <a:latin typeface="Calibri"/>
                        </a:rPr>
                        <a:t>0.9117 vs best 0.9118</a:t>
                      </a:r>
                    </a:p>
                  </a:txBody>
                  <a:tcPr marL="54864" marR="54864" marT="27432" marB="27432" anchor="ctr">
                    <a:solidFill>
                      <a:srgbClr val="F3F4F6"/>
                    </a:solidFill>
                  </a:tcPr>
                </a:tc>
              </a:tr>
            </a:tbl>
          </a:graphicData>
        </a:graphic>
      </p:graphicFrame>
      <p:sp>
        <p:nvSpPr>
          <p:cNvPr id="12" name="TextBox 11"/>
          <p:cNvSpPr txBox="1"/>
          <p:nvPr/>
        </p:nvSpPr>
        <p:spPr>
          <a:xfrm>
            <a:off x="685800" y="4754880"/>
            <a:ext cx="5120640" cy="1554480"/>
          </a:xfrm>
          <a:prstGeom prst="rect">
            <a:avLst/>
          </a:prstGeom>
          <a:noFill/>
        </p:spPr>
        <p:txBody>
          <a:bodyPr wrap="square" anchor="t" lIns="45720" rIns="45720">
            <a:spAutoFit/>
          </a:bodyPr>
          <a:lstStyle/>
          <a:p>
            <a:pPr algn="l">
              <a:spcAft>
                <a:spcPts val="400"/>
              </a:spcAft>
            </a:pPr>
            <a:r>
              <a:rPr sz="1400" b="1" i="0">
                <a:solidFill>
                  <a:srgbClr val="262B33"/>
                </a:solidFill>
                <a:latin typeface="Calibri"/>
              </a:rPr>
              <a:t>Failure analysis (right, worst test image, F1 0.46):</a:t>
            </a:r>
          </a:p>
          <a:p>
            <a:pPr algn="l" marL="228600" indent="-201168">
              <a:spcAft>
                <a:spcPts val="400"/>
              </a:spcAft>
              <a:buClr>
                <a:srgbClr val="C00000"/>
              </a:buClr>
              <a:buChar char="▪"/>
            </a:pPr>
            <a:r>
              <a:rPr sz="1300" b="0" i="0">
                <a:solidFill>
                  <a:srgbClr val="262B33"/>
                </a:solidFill>
                <a:latin typeface="Calibri"/>
              </a:rPr>
              <a:t>Misses: tiny mobile homes, 3–5 px wide</a:t>
            </a:r>
          </a:p>
          <a:p>
            <a:pPr algn="l" marL="228600" indent="-201168">
              <a:spcAft>
                <a:spcPts val="400"/>
              </a:spcAft>
              <a:buClr>
                <a:srgbClr val="C00000"/>
              </a:buClr>
              <a:buChar char="▪"/>
            </a:pPr>
            <a:r>
              <a:rPr sz="1300" b="0" i="0">
                <a:solidFill>
                  <a:srgbClr val="262B33"/>
                </a:solidFill>
                <a:latin typeface="Calibri"/>
              </a:rPr>
              <a:t>False alarm: re-roofed buildings look new (pseudo-change)</a:t>
            </a:r>
          </a:p>
        </p:txBody>
      </p:sp>
      <p:pic>
        <p:nvPicPr>
          <p:cNvPr id="13" name="Picture 12" descr="fail_p0.jpg"/>
          <p:cNvPicPr>
            <a:picLocks noChangeAspect="1"/>
          </p:cNvPicPr>
          <p:nvPr/>
        </p:nvPicPr>
        <p:blipFill>
          <a:blip r:embed="rId2"/>
          <a:stretch>
            <a:fillRect/>
          </a:stretch>
        </p:blipFill>
        <p:spPr>
          <a:xfrm>
            <a:off x="6172200" y="1325880"/>
            <a:ext cx="2183933" cy="2194560"/>
          </a:xfrm>
          <a:prstGeom prst="rect">
            <a:avLst/>
          </a:prstGeom>
        </p:spPr>
      </p:pic>
      <p:sp>
        <p:nvSpPr>
          <p:cNvPr id="14" name="TextBox 13"/>
          <p:cNvSpPr txBox="1"/>
          <p:nvPr/>
        </p:nvSpPr>
        <p:spPr>
          <a:xfrm>
            <a:off x="6172200" y="3538728"/>
            <a:ext cx="219456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Before</a:t>
            </a:r>
          </a:p>
        </p:txBody>
      </p:sp>
      <p:pic>
        <p:nvPicPr>
          <p:cNvPr id="15" name="Picture 14" descr="fail_p1.jpg"/>
          <p:cNvPicPr>
            <a:picLocks noChangeAspect="1"/>
          </p:cNvPicPr>
          <p:nvPr/>
        </p:nvPicPr>
        <p:blipFill>
          <a:blip r:embed="rId3"/>
          <a:stretch>
            <a:fillRect/>
          </a:stretch>
        </p:blipFill>
        <p:spPr>
          <a:xfrm>
            <a:off x="8915400" y="1325880"/>
            <a:ext cx="2178619" cy="2194560"/>
          </a:xfrm>
          <a:prstGeom prst="rect">
            <a:avLst/>
          </a:prstGeom>
        </p:spPr>
      </p:pic>
      <p:sp>
        <p:nvSpPr>
          <p:cNvPr id="16" name="TextBox 15"/>
          <p:cNvSpPr txBox="1"/>
          <p:nvPr/>
        </p:nvSpPr>
        <p:spPr>
          <a:xfrm>
            <a:off x="8915400" y="3538728"/>
            <a:ext cx="219456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After</a:t>
            </a:r>
          </a:p>
        </p:txBody>
      </p:sp>
      <p:pic>
        <p:nvPicPr>
          <p:cNvPr id="17" name="Picture 16" descr="fail_p2.jpg"/>
          <p:cNvPicPr>
            <a:picLocks noChangeAspect="1"/>
          </p:cNvPicPr>
          <p:nvPr/>
        </p:nvPicPr>
        <p:blipFill>
          <a:blip r:embed="rId4"/>
          <a:stretch>
            <a:fillRect/>
          </a:stretch>
        </p:blipFill>
        <p:spPr>
          <a:xfrm>
            <a:off x="6172200" y="3840480"/>
            <a:ext cx="2178619" cy="2194560"/>
          </a:xfrm>
          <a:prstGeom prst="rect">
            <a:avLst/>
          </a:prstGeom>
        </p:spPr>
      </p:pic>
      <p:sp>
        <p:nvSpPr>
          <p:cNvPr id="18" name="TextBox 17"/>
          <p:cNvSpPr txBox="1"/>
          <p:nvPr/>
        </p:nvSpPr>
        <p:spPr>
          <a:xfrm>
            <a:off x="6172200" y="6053328"/>
            <a:ext cx="219456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Ground truth</a:t>
            </a:r>
          </a:p>
        </p:txBody>
      </p:sp>
      <p:pic>
        <p:nvPicPr>
          <p:cNvPr id="19" name="Picture 18" descr="fail_p5.jpg"/>
          <p:cNvPicPr>
            <a:picLocks noChangeAspect="1"/>
          </p:cNvPicPr>
          <p:nvPr/>
        </p:nvPicPr>
        <p:blipFill>
          <a:blip r:embed="rId5"/>
          <a:stretch>
            <a:fillRect/>
          </a:stretch>
        </p:blipFill>
        <p:spPr>
          <a:xfrm>
            <a:off x="8915400" y="3840480"/>
            <a:ext cx="2183933" cy="2194560"/>
          </a:xfrm>
          <a:prstGeom prst="rect">
            <a:avLst/>
          </a:prstGeom>
        </p:spPr>
      </p:pic>
      <p:sp>
        <p:nvSpPr>
          <p:cNvPr id="20" name="TextBox 19"/>
          <p:cNvSpPr txBox="1"/>
          <p:nvPr/>
        </p:nvSpPr>
        <p:spPr>
          <a:xfrm>
            <a:off x="8915400" y="6053328"/>
            <a:ext cx="2194560" cy="274320"/>
          </a:xfrm>
          <a:prstGeom prst="rect">
            <a:avLst/>
          </a:prstGeom>
          <a:noFill/>
        </p:spPr>
        <p:txBody>
          <a:bodyPr wrap="square" anchor="t" lIns="0" rIns="0" tIns="0" bIns="0">
            <a:spAutoFit/>
          </a:bodyPr>
          <a:lstStyle/>
          <a:p>
            <a:pPr algn="ctr">
              <a:spcAft>
                <a:spcPts val="600"/>
              </a:spcAft>
            </a:pPr>
            <a:r>
              <a:rPr sz="1100" b="0" i="0">
                <a:solidFill>
                  <a:srgbClr val="5F6670"/>
                </a:solidFill>
                <a:latin typeface="Calibri"/>
              </a:rPr>
              <a:t>Errors (red FP, cyan FN)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5.4 Limitations of Tools (PO(e))</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2206104</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868680"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Hardware</a:t>
            </a:r>
          </a:p>
          <a:p>
            <a:pPr algn="l" marL="228600" indent="-201168">
              <a:spcAft>
                <a:spcPts val="1000"/>
              </a:spcAft>
              <a:buClr>
                <a:srgbClr val="C00000"/>
              </a:buClr>
              <a:buChar char="▪"/>
            </a:pPr>
            <a:r>
              <a:rPr sz="1400" b="0" i="0">
                <a:solidFill>
                  <a:srgbClr val="262B33"/>
                </a:solidFill>
                <a:latin typeface="Calibri"/>
              </a:rPr>
              <a:t>MacBook GPU (MPS): batch size 4, ≈ 5 h per training run</a:t>
            </a:r>
          </a:p>
          <a:p>
            <a:pPr algn="l" marL="228600" indent="-201168">
              <a:spcAft>
                <a:spcPts val="1000"/>
              </a:spcAft>
              <a:buClr>
                <a:srgbClr val="C00000"/>
              </a:buClr>
              <a:buChar char="▪"/>
            </a:pPr>
            <a:r>
              <a:rPr sz="1400" b="0" i="0">
                <a:solidFill>
                  <a:srgbClr val="262B33"/>
                </a:solidFill>
                <a:latin typeface="Calibri"/>
              </a:rPr>
              <a:t>MPS has no float64 → metrics accumulated on CPU</a:t>
            </a:r>
          </a:p>
          <a:p>
            <a:pPr algn="l" marL="228600" indent="-201168">
              <a:spcAft>
                <a:spcPts val="1000"/>
              </a:spcAft>
              <a:buClr>
                <a:srgbClr val="C00000"/>
              </a:buClr>
              <a:buChar char="▪"/>
            </a:pPr>
            <a:r>
              <a:rPr sz="1400" b="0" i="0">
                <a:solidFill>
                  <a:srgbClr val="262B33"/>
                </a:solidFill>
                <a:latin typeface="Calibri"/>
              </a:rPr>
              <a:t>Inference ≈ 3 s per 1024² image with TTA</a:t>
            </a:r>
          </a:p>
        </p:txBody>
      </p:sp>
      <p:sp>
        <p:nvSpPr>
          <p:cNvPr id="13" name="Rounded Rectangle 12"/>
          <p:cNvSpPr/>
          <p:nvPr/>
        </p:nvSpPr>
        <p:spPr>
          <a:xfrm>
            <a:off x="438912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4572000"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Data</a:t>
            </a:r>
          </a:p>
          <a:p>
            <a:pPr algn="l" marL="228600" indent="-201168">
              <a:spcAft>
                <a:spcPts val="1000"/>
              </a:spcAft>
              <a:buClr>
                <a:srgbClr val="C00000"/>
              </a:buClr>
              <a:buChar char="▪"/>
            </a:pPr>
            <a:r>
              <a:rPr sz="1400" b="0" i="0">
                <a:solidFill>
                  <a:srgbClr val="262B33"/>
                </a:solidFill>
                <a:latin typeface="Calibri"/>
              </a:rPr>
              <a:t>LEVIR-CD: 0.5 m/px, US cities, buildings only (no roads)</a:t>
            </a:r>
          </a:p>
          <a:p>
            <a:pPr algn="l" marL="228600" indent="-201168">
              <a:spcAft>
                <a:spcPts val="1000"/>
              </a:spcAft>
              <a:buClr>
                <a:srgbClr val="C00000"/>
              </a:buClr>
              <a:buChar char="▪"/>
            </a:pPr>
            <a:r>
              <a:rPr sz="1400" b="0" i="0">
                <a:solidFill>
                  <a:srgbClr val="262B33"/>
                </a:solidFill>
                <a:latin typeface="Calibri"/>
              </a:rPr>
              <a:t>Label noise: some re-roofed buildings unlabelled</a:t>
            </a:r>
          </a:p>
          <a:p>
            <a:pPr algn="l" marL="228600" indent="-201168">
              <a:spcAft>
                <a:spcPts val="1000"/>
              </a:spcAft>
              <a:buClr>
                <a:srgbClr val="C00000"/>
              </a:buClr>
              <a:buChar char="▪"/>
            </a:pPr>
            <a:r>
              <a:rPr sz="1400" b="0" i="0">
                <a:solidFill>
                  <a:srgbClr val="262B33"/>
                </a:solidFill>
                <a:latin typeface="Calibri"/>
              </a:rPr>
              <a:t>Domain shift to dense Bangladeshi areas (Purbachal)</a:t>
            </a:r>
          </a:p>
        </p:txBody>
      </p:sp>
      <p:sp>
        <p:nvSpPr>
          <p:cNvPr id="15" name="Rounded Rectangle 14"/>
          <p:cNvSpPr/>
          <p:nvPr/>
        </p:nvSpPr>
        <p:spPr>
          <a:xfrm>
            <a:off x="8092440" y="1325880"/>
            <a:ext cx="3474720" cy="361188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8275319" y="1463040"/>
            <a:ext cx="3154680" cy="3383280"/>
          </a:xfrm>
          <a:prstGeom prst="rect">
            <a:avLst/>
          </a:prstGeom>
          <a:noFill/>
        </p:spPr>
        <p:txBody>
          <a:bodyPr wrap="square" anchor="t" lIns="45720" rIns="45720">
            <a:spAutoFit/>
          </a:bodyPr>
          <a:lstStyle/>
          <a:p>
            <a:pPr algn="l">
              <a:spcAft>
                <a:spcPts val="1000"/>
              </a:spcAft>
            </a:pPr>
            <a:r>
              <a:rPr sz="1600" b="1" i="0">
                <a:solidFill>
                  <a:srgbClr val="C00000"/>
                </a:solidFill>
                <a:latin typeface="Calibri"/>
              </a:rPr>
              <a:t>Algorithms</a:t>
            </a:r>
          </a:p>
          <a:p>
            <a:pPr algn="l" marL="228600" indent="-201168">
              <a:spcAft>
                <a:spcPts val="1000"/>
              </a:spcAft>
              <a:buClr>
                <a:srgbClr val="C00000"/>
              </a:buClr>
              <a:buChar char="▪"/>
            </a:pPr>
            <a:r>
              <a:rPr sz="1400" b="0" i="0">
                <a:solidFill>
                  <a:srgbClr val="262B33"/>
                </a:solidFill>
                <a:latin typeface="Calibri"/>
              </a:rPr>
              <a:t>Canny thresholds fixed (50 / 150) – contrast dependent</a:t>
            </a:r>
          </a:p>
          <a:p>
            <a:pPr algn="l" marL="228600" indent="-201168">
              <a:spcAft>
                <a:spcPts val="1000"/>
              </a:spcAft>
              <a:buClr>
                <a:srgbClr val="C00000"/>
              </a:buClr>
              <a:buChar char="▪"/>
            </a:pPr>
            <a:r>
              <a:rPr sz="1400" b="0" i="0">
                <a:solidFill>
                  <a:srgbClr val="262B33"/>
                </a:solidFill>
                <a:latin typeface="Calibri"/>
              </a:rPr>
              <a:t>Objects under ≈ 4 × 4 px (2 m) are unreliable</a:t>
            </a:r>
          </a:p>
          <a:p>
            <a:pPr algn="l" marL="228600" indent="-201168">
              <a:spcAft>
                <a:spcPts val="1000"/>
              </a:spcAft>
              <a:buClr>
                <a:srgbClr val="C00000"/>
              </a:buClr>
              <a:buChar char="▪"/>
            </a:pPr>
            <a:r>
              <a:rPr sz="1400" b="0" i="0">
                <a:solidFill>
                  <a:srgbClr val="262B33"/>
                </a:solidFill>
                <a:latin typeface="Calibri"/>
              </a:rPr>
              <a:t>Tile context 128 m; mis-registration causes false alarms</a:t>
            </a:r>
          </a:p>
        </p:txBody>
      </p:sp>
      <p:sp>
        <p:nvSpPr>
          <p:cNvPr id="17" name="Rounded Rectangle 16"/>
          <p:cNvSpPr/>
          <p:nvPr/>
        </p:nvSpPr>
        <p:spPr>
          <a:xfrm>
            <a:off x="685800" y="5166360"/>
            <a:ext cx="10972800" cy="1005840"/>
          </a:xfrm>
          <a:prstGeom prst="roundRect">
            <a:avLst>
              <a:gd name="adj" fmla="val 8000"/>
            </a:avLst>
          </a:prstGeom>
          <a:solidFill>
            <a:srgbClr val="262B33"/>
          </a:solidFill>
          <a:ln>
            <a:noFill/>
          </a:ln>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lstStyle/>
          <a:p>
            <a:pPr algn="ctr"/>
            <a:r>
              <a:rPr sz="1500" b="0" i="0">
                <a:solidFill>
                  <a:srgbClr val="FFFFFF"/>
                </a:solidFill>
                <a:latin typeface="Calibri"/>
              </a:rPr>
              <a:t>Mitigations: native-resolution tiling, test-time augmentation, validation-selected threshold and an automated sanity-check script.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5.5 Ethical Issues (PO(h))</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2206104</a:t>
            </a:r>
            <a:endParaRPr lang="en-GB" i="1" dirty="0">
              <a:solidFill>
                <a:srgbClr val="FFFF00"/>
              </a:solidFill>
              <a:latin typeface="Arial Narrow" panose="020B0606020202030204" pitchFamily="34" charset="0"/>
            </a:endParaRPr>
          </a:p>
        </p:txBody>
      </p:sp>
      <p:sp>
        <p:nvSpPr>
          <p:cNvPr id="11" name="Oval 10"/>
          <p:cNvSpPr/>
          <p:nvPr/>
        </p:nvSpPr>
        <p:spPr>
          <a:xfrm>
            <a:off x="685800" y="1463039"/>
            <a:ext cx="685800" cy="6858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1</a:t>
            </a:r>
          </a:p>
        </p:txBody>
      </p:sp>
      <p:sp>
        <p:nvSpPr>
          <p:cNvPr id="12" name="TextBox 11"/>
          <p:cNvSpPr txBox="1"/>
          <p:nvPr/>
        </p:nvSpPr>
        <p:spPr>
          <a:xfrm>
            <a:off x="1600200" y="1325880"/>
            <a:ext cx="10058400" cy="1097280"/>
          </a:xfrm>
          <a:prstGeom prst="rect">
            <a:avLst/>
          </a:prstGeom>
          <a:noFill/>
        </p:spPr>
        <p:txBody>
          <a:bodyPr wrap="square" anchor="ctr" lIns="45720" rIns="45720">
            <a:spAutoFit/>
          </a:bodyPr>
          <a:lstStyle/>
          <a:p>
            <a:pPr algn="l">
              <a:spcAft>
                <a:spcPts val="300"/>
              </a:spcAft>
            </a:pPr>
            <a:r>
              <a:rPr sz="1700" b="1" i="0">
                <a:solidFill>
                  <a:srgbClr val="262B33"/>
                </a:solidFill>
                <a:latin typeface="Calibri"/>
              </a:rPr>
              <a:t>Data and credit</a:t>
            </a:r>
          </a:p>
          <a:p>
            <a:pPr algn="l">
              <a:spcAft>
                <a:spcPts val="300"/>
              </a:spcAft>
            </a:pPr>
            <a:r>
              <a:rPr sz="1400" b="0" i="0">
                <a:solidFill>
                  <a:srgbClr val="5F6670"/>
                </a:solidFill>
                <a:latin typeface="Calibri"/>
              </a:rPr>
              <a:t>Public LEVIR-CD used under its academic licence; every dataset, paper and library is cited.</a:t>
            </a:r>
          </a:p>
        </p:txBody>
      </p:sp>
      <p:sp>
        <p:nvSpPr>
          <p:cNvPr id="13" name="Oval 12"/>
          <p:cNvSpPr/>
          <p:nvPr/>
        </p:nvSpPr>
        <p:spPr>
          <a:xfrm>
            <a:off x="685800" y="2715768"/>
            <a:ext cx="685800" cy="6858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2</a:t>
            </a:r>
          </a:p>
        </p:txBody>
      </p:sp>
      <p:sp>
        <p:nvSpPr>
          <p:cNvPr id="14" name="TextBox 13"/>
          <p:cNvSpPr txBox="1"/>
          <p:nvPr/>
        </p:nvSpPr>
        <p:spPr>
          <a:xfrm>
            <a:off x="1600200" y="2578608"/>
            <a:ext cx="10058400" cy="1097280"/>
          </a:xfrm>
          <a:prstGeom prst="rect">
            <a:avLst/>
          </a:prstGeom>
          <a:noFill/>
        </p:spPr>
        <p:txBody>
          <a:bodyPr wrap="square" anchor="ctr" lIns="45720" rIns="45720">
            <a:spAutoFit/>
          </a:bodyPr>
          <a:lstStyle/>
          <a:p>
            <a:pPr algn="l">
              <a:spcAft>
                <a:spcPts val="300"/>
              </a:spcAft>
            </a:pPr>
            <a:r>
              <a:rPr sz="1700" b="1" i="0">
                <a:solidFill>
                  <a:srgbClr val="262B33"/>
                </a:solidFill>
                <a:latin typeface="Calibri"/>
              </a:rPr>
              <a:t>Privacy and dual use</a:t>
            </a:r>
          </a:p>
          <a:p>
            <a:pPr algn="l">
              <a:spcAft>
                <a:spcPts val="300"/>
              </a:spcAft>
            </a:pPr>
            <a:r>
              <a:rPr sz="1400" b="0" i="0">
                <a:solidFill>
                  <a:srgbClr val="5F6670"/>
                </a:solidFill>
                <a:latin typeface="Calibri"/>
              </a:rPr>
              <a:t>High-resolution imagery reveals private property. Intended for planning and disaster response, not surveillance or forced eviction.</a:t>
            </a:r>
          </a:p>
        </p:txBody>
      </p:sp>
      <p:sp>
        <p:nvSpPr>
          <p:cNvPr id="15" name="Oval 14"/>
          <p:cNvSpPr/>
          <p:nvPr/>
        </p:nvSpPr>
        <p:spPr>
          <a:xfrm>
            <a:off x="685800" y="3968496"/>
            <a:ext cx="685800" cy="6858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3</a:t>
            </a:r>
          </a:p>
        </p:txBody>
      </p:sp>
      <p:sp>
        <p:nvSpPr>
          <p:cNvPr id="16" name="TextBox 15"/>
          <p:cNvSpPr txBox="1"/>
          <p:nvPr/>
        </p:nvSpPr>
        <p:spPr>
          <a:xfrm>
            <a:off x="1600200" y="3831336"/>
            <a:ext cx="10058400" cy="1097280"/>
          </a:xfrm>
          <a:prstGeom prst="rect">
            <a:avLst/>
          </a:prstGeom>
          <a:noFill/>
        </p:spPr>
        <p:txBody>
          <a:bodyPr wrap="square" anchor="ctr" lIns="45720" rIns="45720">
            <a:spAutoFit/>
          </a:bodyPr>
          <a:lstStyle/>
          <a:p>
            <a:pPr algn="l">
              <a:spcAft>
                <a:spcPts val="300"/>
              </a:spcAft>
            </a:pPr>
            <a:r>
              <a:rPr sz="1700" b="1" i="0">
                <a:solidFill>
                  <a:srgbClr val="262B33"/>
                </a:solidFill>
                <a:latin typeface="Calibri"/>
              </a:rPr>
              <a:t>Honest evaluation</a:t>
            </a:r>
          </a:p>
          <a:p>
            <a:pPr algn="l">
              <a:spcAft>
                <a:spcPts val="300"/>
              </a:spcAft>
            </a:pPr>
            <a:r>
              <a:rPr sz="1400" b="0" i="0">
                <a:solidFill>
                  <a:srgbClr val="5F6670"/>
                </a:solidFill>
                <a:latin typeface="Calibri"/>
              </a:rPr>
              <a:t>Test set never used for tuning; threshold chosen on validation; the v1 bugs and the failure cases are reported openly.</a:t>
            </a:r>
          </a:p>
        </p:txBody>
      </p:sp>
      <p:sp>
        <p:nvSpPr>
          <p:cNvPr id="17" name="Oval 16"/>
          <p:cNvSpPr/>
          <p:nvPr/>
        </p:nvSpPr>
        <p:spPr>
          <a:xfrm>
            <a:off x="685800" y="5221224"/>
            <a:ext cx="685800" cy="6858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800" b="1" i="0">
                <a:solidFill>
                  <a:srgbClr val="FFFFFF"/>
                </a:solidFill>
                <a:latin typeface="Calibri"/>
              </a:rPr>
              <a:t>4</a:t>
            </a:r>
          </a:p>
        </p:txBody>
      </p:sp>
      <p:sp>
        <p:nvSpPr>
          <p:cNvPr id="18" name="TextBox 17"/>
          <p:cNvSpPr txBox="1"/>
          <p:nvPr/>
        </p:nvSpPr>
        <p:spPr>
          <a:xfrm>
            <a:off x="1600200" y="5084064"/>
            <a:ext cx="10058400" cy="1097280"/>
          </a:xfrm>
          <a:prstGeom prst="rect">
            <a:avLst/>
          </a:prstGeom>
          <a:noFill/>
        </p:spPr>
        <p:txBody>
          <a:bodyPr wrap="square" anchor="ctr" lIns="45720" rIns="45720">
            <a:spAutoFit/>
          </a:bodyPr>
          <a:lstStyle/>
          <a:p>
            <a:pPr algn="l">
              <a:spcAft>
                <a:spcPts val="300"/>
              </a:spcAft>
            </a:pPr>
            <a:r>
              <a:rPr sz="1700" b="1" i="0">
                <a:solidFill>
                  <a:srgbClr val="262B33"/>
                </a:solidFill>
                <a:latin typeface="Calibri"/>
              </a:rPr>
              <a:t>Transparency</a:t>
            </a:r>
          </a:p>
          <a:p>
            <a:pPr algn="l">
              <a:spcAft>
                <a:spcPts val="300"/>
              </a:spcAft>
            </a:pPr>
            <a:r>
              <a:rPr sz="1400" b="0" i="0">
                <a:solidFill>
                  <a:srgbClr val="5F6670"/>
                </a:solidFill>
                <a:latin typeface="Calibri"/>
              </a:rPr>
              <a:t>Code and model are shared; use of AI coding assistance is disclosed in the report.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6.1 Individual Contribution (PO(i))</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graphicFrame>
        <p:nvGraphicFramePr>
          <p:cNvPr id="11" name="Table 10"/>
          <p:cNvGraphicFramePr>
            <a:graphicFrameLocks noGrp="1"/>
          </p:cNvGraphicFramePr>
          <p:nvPr/>
        </p:nvGraphicFramePr>
        <p:xfrm>
          <a:off x="685800" y="1371600"/>
          <a:ext cx="10972800" cy="2926080"/>
        </p:xfrm>
        <a:graphic>
          <a:graphicData uri="http://schemas.openxmlformats.org/drawingml/2006/table">
            <a:tbl>
              <a:tblPr firstRow="1" bandRow="1">
                <a:tableStyleId>{5C22544A-7EE6-4342-B048-85BDC9FD1C3A}</a:tableStyleId>
              </a:tblPr>
              <a:tblGrid>
                <a:gridCol w="2743200"/>
                <a:gridCol w="1280160"/>
                <a:gridCol w="6949440"/>
              </a:tblGrid>
              <a:tr h="585216">
                <a:tc>
                  <a:txBody>
                    <a:bodyPr/>
                    <a:lstStyle/>
                    <a:p>
                      <a:pPr algn="l"/>
                      <a:r>
                        <a:rPr sz="1400" b="1">
                          <a:solidFill>
                            <a:srgbClr val="FFFFFF"/>
                          </a:solidFill>
                          <a:latin typeface="Calibri"/>
                        </a:rPr>
                        <a:t>Member</a:t>
                      </a:r>
                    </a:p>
                  </a:txBody>
                  <a:tcPr marL="54864" marR="54864" marT="27432" marB="27432" anchor="ctr">
                    <a:solidFill>
                      <a:srgbClr val="262B33"/>
                    </a:solidFill>
                  </a:tcPr>
                </a:tc>
                <a:tc>
                  <a:txBody>
                    <a:bodyPr/>
                    <a:lstStyle/>
                    <a:p>
                      <a:pPr algn="ctr"/>
                      <a:r>
                        <a:rPr sz="1400" b="1">
                          <a:solidFill>
                            <a:srgbClr val="FFFFFF"/>
                          </a:solidFill>
                          <a:latin typeface="Calibri"/>
                        </a:rPr>
                        <a:t>ID</a:t>
                      </a:r>
                    </a:p>
                  </a:txBody>
                  <a:tcPr marL="54864" marR="54864" marT="27432" marB="27432" anchor="ctr">
                    <a:solidFill>
                      <a:srgbClr val="262B33"/>
                    </a:solidFill>
                  </a:tcPr>
                </a:tc>
                <a:tc>
                  <a:txBody>
                    <a:bodyPr/>
                    <a:lstStyle/>
                    <a:p>
                      <a:pPr algn="l"/>
                      <a:r>
                        <a:rPr sz="1400" b="1">
                          <a:solidFill>
                            <a:srgbClr val="FFFFFF"/>
                          </a:solidFill>
                          <a:latin typeface="Calibri"/>
                        </a:rPr>
                        <a:t>Main contributions</a:t>
                      </a:r>
                    </a:p>
                  </a:txBody>
                  <a:tcPr marL="54864" marR="54864" marT="27432" marB="27432" anchor="ctr">
                    <a:solidFill>
                      <a:srgbClr val="262B33"/>
                    </a:solidFill>
                  </a:tcPr>
                </a:tc>
              </a:tr>
              <a:tr h="585216">
                <a:tc>
                  <a:txBody>
                    <a:bodyPr/>
                    <a:lstStyle/>
                    <a:p>
                      <a:pPr algn="l"/>
                      <a:r>
                        <a:rPr sz="1400">
                          <a:solidFill>
                            <a:srgbClr val="262B33"/>
                          </a:solidFill>
                          <a:latin typeface="Calibri"/>
                        </a:rPr>
                        <a:t>Mustasin Rahman</a:t>
                      </a:r>
                    </a:p>
                  </a:txBody>
                  <a:tcPr marL="54864" marR="54864" marT="27432" marB="27432" anchor="ctr">
                    <a:solidFill>
                      <a:srgbClr val="FFFFFF"/>
                    </a:solidFill>
                  </a:tcPr>
                </a:tc>
                <a:tc>
                  <a:txBody>
                    <a:bodyPr/>
                    <a:lstStyle/>
                    <a:p>
                      <a:pPr algn="ctr"/>
                      <a:r>
                        <a:rPr sz="1400">
                          <a:solidFill>
                            <a:srgbClr val="262B33"/>
                          </a:solidFill>
                          <a:latin typeface="Calibri"/>
                        </a:rPr>
                        <a:t>2206104</a:t>
                      </a:r>
                    </a:p>
                  </a:txBody>
                  <a:tcPr marL="54864" marR="54864" marT="27432" marB="27432" anchor="ctr">
                    <a:solidFill>
                      <a:srgbClr val="FFFFFF"/>
                    </a:solidFill>
                  </a:tcPr>
                </a:tc>
                <a:tc>
                  <a:txBody>
                    <a:bodyPr/>
                    <a:lstStyle/>
                    <a:p>
                      <a:pPr algn="l"/>
                      <a:r>
                        <a:rPr sz="1400">
                          <a:solidFill>
                            <a:srgbClr val="262B33"/>
                          </a:solidFill>
                          <a:latin typeface="Calibri"/>
                        </a:rPr>
                        <a:t>Dataset preparation, DSP pre-processing (Gaussian, Canny), augmentation</a:t>
                      </a:r>
                    </a:p>
                  </a:txBody>
                  <a:tcPr marL="54864" marR="54864" marT="27432" marB="27432" anchor="ctr">
                    <a:solidFill>
                      <a:srgbClr val="FFFFFF"/>
                    </a:solidFill>
                  </a:tcPr>
                </a:tc>
              </a:tr>
              <a:tr h="585216">
                <a:tc>
                  <a:txBody>
                    <a:bodyPr/>
                    <a:lstStyle/>
                    <a:p>
                      <a:pPr algn="l"/>
                      <a:r>
                        <a:rPr sz="1400">
                          <a:solidFill>
                            <a:srgbClr val="262B33"/>
                          </a:solidFill>
                          <a:latin typeface="Calibri"/>
                        </a:rPr>
                        <a:t>Fahim Shahriyar</a:t>
                      </a:r>
                    </a:p>
                  </a:txBody>
                  <a:tcPr marL="54864" marR="54864" marT="27432" marB="27432" anchor="ctr">
                    <a:solidFill>
                      <a:srgbClr val="F3F4F6"/>
                    </a:solidFill>
                  </a:tcPr>
                </a:tc>
                <a:tc>
                  <a:txBody>
                    <a:bodyPr/>
                    <a:lstStyle/>
                    <a:p>
                      <a:pPr algn="ctr"/>
                      <a:r>
                        <a:rPr sz="1400">
                          <a:solidFill>
                            <a:srgbClr val="262B33"/>
                          </a:solidFill>
                          <a:latin typeface="Calibri"/>
                        </a:rPr>
                        <a:t>2206114</a:t>
                      </a:r>
                    </a:p>
                  </a:txBody>
                  <a:tcPr marL="54864" marR="54864" marT="27432" marB="27432" anchor="ctr">
                    <a:solidFill>
                      <a:srgbClr val="F3F4F6"/>
                    </a:solidFill>
                  </a:tcPr>
                </a:tc>
                <a:tc>
                  <a:txBody>
                    <a:bodyPr/>
                    <a:lstStyle/>
                    <a:p>
                      <a:pPr algn="l"/>
                      <a:r>
                        <a:rPr sz="1400">
                          <a:solidFill>
                            <a:srgbClr val="262B33"/>
                          </a:solidFill>
                          <a:latin typeface="Calibri"/>
                        </a:rPr>
                        <a:t>Literature review, error-type and spatial analyses, report writing</a:t>
                      </a:r>
                    </a:p>
                  </a:txBody>
                  <a:tcPr marL="54864" marR="54864" marT="27432" marB="27432" anchor="ctr">
                    <a:solidFill>
                      <a:srgbClr val="F3F4F6"/>
                    </a:solidFill>
                  </a:tcPr>
                </a:tc>
              </a:tr>
              <a:tr h="585216">
                <a:tc>
                  <a:txBody>
                    <a:bodyPr/>
                    <a:lstStyle/>
                    <a:p>
                      <a:pPr algn="l"/>
                      <a:r>
                        <a:rPr sz="1400">
                          <a:solidFill>
                            <a:srgbClr val="262B33"/>
                          </a:solidFill>
                          <a:latin typeface="Calibri"/>
                        </a:rPr>
                        <a:t>Md. Ahasan Habib Kawsar</a:t>
                      </a:r>
                    </a:p>
                  </a:txBody>
                  <a:tcPr marL="54864" marR="54864" marT="27432" marB="27432" anchor="ctr">
                    <a:solidFill>
                      <a:srgbClr val="FFFFFF"/>
                    </a:solidFill>
                  </a:tcPr>
                </a:tc>
                <a:tc>
                  <a:txBody>
                    <a:bodyPr/>
                    <a:lstStyle/>
                    <a:p>
                      <a:pPr algn="ctr"/>
                      <a:r>
                        <a:rPr sz="1400">
                          <a:solidFill>
                            <a:srgbClr val="262B33"/>
                          </a:solidFill>
                          <a:latin typeface="Calibri"/>
                        </a:rPr>
                        <a:t>2206119</a:t>
                      </a:r>
                    </a:p>
                  </a:txBody>
                  <a:tcPr marL="54864" marR="54864" marT="27432" marB="27432" anchor="ctr">
                    <a:solidFill>
                      <a:srgbClr val="FFFFFF"/>
                    </a:solidFill>
                  </a:tcPr>
                </a:tc>
                <a:tc>
                  <a:txBody>
                    <a:bodyPr/>
                    <a:lstStyle/>
                    <a:p>
                      <a:pPr algn="l"/>
                      <a:r>
                        <a:rPr sz="1400">
                          <a:solidFill>
                            <a:srgbClr val="262B33"/>
                          </a:solidFill>
                          <a:latin typeface="Calibri"/>
                        </a:rPr>
                        <a:t>Network architecture, training pipeline, v2 debugging, evaluation</a:t>
                      </a:r>
                    </a:p>
                  </a:txBody>
                  <a:tcPr marL="54864" marR="54864" marT="27432" marB="27432" anchor="ctr">
                    <a:solidFill>
                      <a:srgbClr val="FFFFFF"/>
                    </a:solidFill>
                  </a:tcPr>
                </a:tc>
              </a:tr>
              <a:tr h="585216">
                <a:tc>
                  <a:txBody>
                    <a:bodyPr/>
                    <a:lstStyle/>
                    <a:p>
                      <a:pPr algn="l"/>
                      <a:r>
                        <a:rPr sz="1400">
                          <a:solidFill>
                            <a:srgbClr val="262B33"/>
                          </a:solidFill>
                          <a:latin typeface="Calibri"/>
                        </a:rPr>
                        <a:t>Md. Kawsar Ahmed</a:t>
                      </a:r>
                    </a:p>
                  </a:txBody>
                  <a:tcPr marL="54864" marR="54864" marT="27432" marB="27432" anchor="ctr">
                    <a:solidFill>
                      <a:srgbClr val="F3F4F6"/>
                    </a:solidFill>
                  </a:tcPr>
                </a:tc>
                <a:tc>
                  <a:txBody>
                    <a:bodyPr/>
                    <a:lstStyle/>
                    <a:p>
                      <a:pPr algn="ctr"/>
                      <a:r>
                        <a:rPr sz="1400">
                          <a:solidFill>
                            <a:srgbClr val="262B33"/>
                          </a:solidFill>
                          <a:latin typeface="Calibri"/>
                        </a:rPr>
                        <a:t>2206122</a:t>
                      </a:r>
                    </a:p>
                  </a:txBody>
                  <a:tcPr marL="54864" marR="54864" marT="27432" marB="27432" anchor="ctr">
                    <a:solidFill>
                      <a:srgbClr val="F3F4F6"/>
                    </a:solidFill>
                  </a:tcPr>
                </a:tc>
                <a:tc>
                  <a:txBody>
                    <a:bodyPr/>
                    <a:lstStyle/>
                    <a:p>
                      <a:pPr algn="l"/>
                      <a:r>
                        <a:rPr sz="1400">
                          <a:solidFill>
                            <a:srgbClr val="262B33"/>
                          </a:solidFill>
                          <a:latin typeface="Calibri"/>
                        </a:rPr>
                        <a:t>PyQt5 GUI, inference and post-processing, video and presentation</a:t>
                      </a:r>
                    </a:p>
                  </a:txBody>
                  <a:tcPr marL="54864" marR="54864" marT="27432" marB="27432" anchor="ctr">
                    <a:solidFill>
                      <a:srgbClr val="F3F4F6"/>
                    </a:solidFill>
                  </a:tcPr>
                </a:tc>
              </a:tr>
            </a:tbl>
          </a:graphicData>
        </a:graphic>
      </p:graphicFrame>
      <p:sp>
        <p:nvSpPr>
          <p:cNvPr id="12" name="TextBox 11"/>
          <p:cNvSpPr txBox="1"/>
          <p:nvPr/>
        </p:nvSpPr>
        <p:spPr>
          <a:xfrm>
            <a:off x="685800" y="4572000"/>
            <a:ext cx="10972800" cy="1645920"/>
          </a:xfrm>
          <a:prstGeom prst="rect">
            <a:avLst/>
          </a:prstGeom>
          <a:noFill/>
        </p:spPr>
        <p:txBody>
          <a:bodyPr wrap="square" anchor="t" lIns="45720" rIns="45720">
            <a:spAutoFit/>
          </a:bodyPr>
          <a:lstStyle/>
          <a:p>
            <a:pPr algn="l">
              <a:spcAft>
                <a:spcPts val="500"/>
              </a:spcAft>
            </a:pPr>
            <a:r>
              <a:rPr sz="1600" b="1" i="0">
                <a:solidFill>
                  <a:srgbClr val="C00000"/>
                </a:solidFill>
                <a:latin typeface="Calibri"/>
              </a:rPr>
              <a:t>Mode of teamwork</a:t>
            </a:r>
          </a:p>
          <a:p>
            <a:pPr algn="l" marL="228600" indent="-201168">
              <a:spcAft>
                <a:spcPts val="500"/>
              </a:spcAft>
              <a:buClr>
                <a:srgbClr val="C00000"/>
              </a:buClr>
              <a:buChar char="▪"/>
            </a:pPr>
            <a:r>
              <a:rPr sz="1400" b="0" i="0">
                <a:solidFill>
                  <a:srgbClr val="262B33"/>
                </a:solidFill>
                <a:latin typeface="Calibri"/>
              </a:rPr>
              <a:t>Weekly meetings, shared code folder and task list; every module reviewed by a second member</a:t>
            </a:r>
          </a:p>
          <a:p>
            <a:pPr algn="l" marL="228600" indent="-201168">
              <a:spcAft>
                <a:spcPts val="500"/>
              </a:spcAft>
              <a:buClr>
                <a:srgbClr val="C00000"/>
              </a:buClr>
              <a:buChar char="▪"/>
            </a:pPr>
            <a:r>
              <a:rPr sz="1400" b="0" i="0">
                <a:solidFill>
                  <a:srgbClr val="262B33"/>
                </a:solidFill>
                <a:latin typeface="Calibri"/>
              </a:rPr>
              <a:t>Training runs shared across members' laptops; decisions logged in the project logbook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a:t>7 Communication to External Stakeholders (PO(j))</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sp>
        <p:nvSpPr>
          <p:cNvPr id="11" name="Rounded Rectangle 10"/>
          <p:cNvSpPr/>
          <p:nvPr/>
        </p:nvSpPr>
        <p:spPr>
          <a:xfrm>
            <a:off x="685800" y="1371600"/>
            <a:ext cx="10972800" cy="100584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914400" y="1444752"/>
            <a:ext cx="10515600" cy="868680"/>
          </a:xfrm>
          <a:prstGeom prst="rect">
            <a:avLst/>
          </a:prstGeom>
          <a:noFill/>
        </p:spPr>
        <p:txBody>
          <a:bodyPr wrap="square" anchor="ctr" lIns="45720" rIns="45720">
            <a:spAutoFit/>
          </a:bodyPr>
          <a:lstStyle/>
          <a:p>
            <a:pPr algn="l">
              <a:spcAft>
                <a:spcPts val="200"/>
              </a:spcAft>
            </a:pPr>
            <a:r>
              <a:rPr sz="1500" b="1" i="0">
                <a:solidFill>
                  <a:srgbClr val="C00000"/>
                </a:solidFill>
                <a:latin typeface="Calibri"/>
              </a:rPr>
              <a:t>GitHub repository</a:t>
            </a:r>
          </a:p>
          <a:p>
            <a:pPr algn="l">
              <a:spcAft>
                <a:spcPts val="200"/>
              </a:spcAft>
            </a:pPr>
            <a:r>
              <a:rPr sz="1400" b="0" i="0">
                <a:solidFill>
                  <a:srgbClr val="262B33"/>
                </a:solidFill>
                <a:latin typeface="Calibri"/>
              </a:rPr>
              <a:t>github.com/&lt;group-04-repo&gt;  (code, model, user manual)</a:t>
            </a:r>
          </a:p>
        </p:txBody>
      </p:sp>
      <p:sp>
        <p:nvSpPr>
          <p:cNvPr id="13" name="Rounded Rectangle 12"/>
          <p:cNvSpPr/>
          <p:nvPr/>
        </p:nvSpPr>
        <p:spPr>
          <a:xfrm>
            <a:off x="685800" y="2560320"/>
            <a:ext cx="10972800" cy="100584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914400" y="2633472"/>
            <a:ext cx="10515600" cy="868680"/>
          </a:xfrm>
          <a:prstGeom prst="rect">
            <a:avLst/>
          </a:prstGeom>
          <a:noFill/>
        </p:spPr>
        <p:txBody>
          <a:bodyPr wrap="square" anchor="ctr" lIns="45720" rIns="45720">
            <a:spAutoFit/>
          </a:bodyPr>
          <a:lstStyle/>
          <a:p>
            <a:pPr algn="l">
              <a:spcAft>
                <a:spcPts val="200"/>
              </a:spcAft>
            </a:pPr>
            <a:r>
              <a:rPr sz="1500" b="1" i="0">
                <a:solidFill>
                  <a:srgbClr val="C00000"/>
                </a:solidFill>
                <a:latin typeface="Calibri"/>
              </a:rPr>
              <a:t>YouTube video</a:t>
            </a:r>
          </a:p>
          <a:p>
            <a:pPr algn="l">
              <a:spcAft>
                <a:spcPts val="200"/>
              </a:spcAft>
            </a:pPr>
            <a:r>
              <a:rPr sz="1400" b="0" i="0">
                <a:solidFill>
                  <a:srgbClr val="262B33"/>
                </a:solidFill>
                <a:latin typeface="Calibri"/>
              </a:rPr>
              <a:t>youtu.be/&lt;video-id&gt;  (10-minute presentation)</a:t>
            </a:r>
          </a:p>
        </p:txBody>
      </p:sp>
      <p:sp>
        <p:nvSpPr>
          <p:cNvPr id="15" name="Rounded Rectangle 14"/>
          <p:cNvSpPr/>
          <p:nvPr/>
        </p:nvSpPr>
        <p:spPr>
          <a:xfrm>
            <a:off x="685800" y="3749039"/>
            <a:ext cx="10972800" cy="1005840"/>
          </a:xfrm>
          <a:prstGeom prst="roundRect">
            <a:avLst>
              <a:gd name="adj" fmla="val 8000"/>
            </a:avLst>
          </a:prstGeom>
          <a:solidFill>
            <a:srgbClr val="F3F4F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914400" y="3822191"/>
            <a:ext cx="10515600" cy="868680"/>
          </a:xfrm>
          <a:prstGeom prst="rect">
            <a:avLst/>
          </a:prstGeom>
          <a:noFill/>
        </p:spPr>
        <p:txBody>
          <a:bodyPr wrap="square" anchor="ctr" lIns="45720" rIns="45720">
            <a:spAutoFit/>
          </a:bodyPr>
          <a:lstStyle/>
          <a:p>
            <a:pPr algn="l">
              <a:spcAft>
                <a:spcPts val="200"/>
              </a:spcAft>
            </a:pPr>
            <a:r>
              <a:rPr sz="1500" b="1" i="0">
                <a:solidFill>
                  <a:srgbClr val="C00000"/>
                </a:solidFill>
                <a:latin typeface="Calibri"/>
              </a:rPr>
              <a:t>Video title</a:t>
            </a:r>
          </a:p>
          <a:p>
            <a:pPr algn="l">
              <a:spcAft>
                <a:spcPts val="200"/>
              </a:spcAft>
            </a:pPr>
            <a:r>
              <a:rPr sz="1400" b="0" i="0">
                <a:solidFill>
                  <a:srgbClr val="262B33"/>
                </a:solidFill>
                <a:latin typeface="Calibri"/>
              </a:rPr>
              <a:t>Urban Change Detection with DSP &amp; Deep Learning | B2.04 | EEE 312 (Jan 2026) Project | Dept of EEE, BUET</a:t>
            </a:r>
          </a:p>
        </p:txBody>
      </p:sp>
      <p:sp>
        <p:nvSpPr>
          <p:cNvPr id="17" name="TextBox 16"/>
          <p:cNvSpPr txBox="1"/>
          <p:nvPr/>
        </p:nvSpPr>
        <p:spPr>
          <a:xfrm>
            <a:off x="685800" y="5029200"/>
            <a:ext cx="10972800" cy="1188720"/>
          </a:xfrm>
          <a:prstGeom prst="rect">
            <a:avLst/>
          </a:prstGeom>
          <a:noFill/>
        </p:spPr>
        <p:txBody>
          <a:bodyPr wrap="square" anchor="t" lIns="45720" rIns="45720">
            <a:spAutoFit/>
          </a:bodyPr>
          <a:lstStyle/>
          <a:p>
            <a:pPr algn="l" marL="228600" indent="-201168">
              <a:spcAft>
                <a:spcPts val="600"/>
              </a:spcAft>
              <a:buClr>
                <a:srgbClr val="C00000"/>
              </a:buClr>
              <a:buChar char="▪"/>
            </a:pPr>
            <a:r>
              <a:rPr sz="1400" b="0" i="0">
                <a:solidFill>
                  <a:srgbClr val="262B33"/>
                </a:solidFill>
                <a:latin typeface="Calibri"/>
              </a:rPr>
              <a:t>Deliverables: detailed report, user manual (installation, GUI usage), recorded presentation, source code with sanity check.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8. Future Work (PO(l))</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sp>
        <p:nvSpPr>
          <p:cNvPr id="11" name="Oval 10"/>
          <p:cNvSpPr/>
          <p:nvPr/>
        </p:nvSpPr>
        <p:spPr>
          <a:xfrm>
            <a:off x="685800" y="1389888"/>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1</a:t>
            </a:r>
          </a:p>
        </p:txBody>
      </p:sp>
      <p:sp>
        <p:nvSpPr>
          <p:cNvPr id="12" name="TextBox 11"/>
          <p:cNvSpPr txBox="1"/>
          <p:nvPr/>
        </p:nvSpPr>
        <p:spPr>
          <a:xfrm>
            <a:off x="1508760" y="1280160"/>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DSP ablation: </a:t>
            </a:r>
            <a:r>
              <a:rPr sz="1600" b="0" i="0">
                <a:solidFill>
                  <a:srgbClr val="5F6670"/>
                </a:solidFill>
                <a:latin typeface="Calibri"/>
              </a:rPr>
              <a:t>Finish the RGB-only vs RGB + Canny run to measure the edge channel's exact gain.</a:t>
            </a:r>
          </a:p>
        </p:txBody>
      </p:sp>
      <p:sp>
        <p:nvSpPr>
          <p:cNvPr id="13" name="Oval 12"/>
          <p:cNvSpPr/>
          <p:nvPr/>
        </p:nvSpPr>
        <p:spPr>
          <a:xfrm>
            <a:off x="685800" y="2231136"/>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2</a:t>
            </a:r>
          </a:p>
        </p:txBody>
      </p:sp>
      <p:sp>
        <p:nvSpPr>
          <p:cNvPr id="14" name="TextBox 13"/>
          <p:cNvSpPr txBox="1"/>
          <p:nvPr/>
        </p:nvSpPr>
        <p:spPr>
          <a:xfrm>
            <a:off x="1508760" y="2121408"/>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Local dataset: </a:t>
            </a:r>
            <a:r>
              <a:rPr sz="1600" b="0" i="0">
                <a:solidFill>
                  <a:srgbClr val="5F6670"/>
                </a:solidFill>
                <a:latin typeface="Calibri"/>
              </a:rPr>
              <a:t>Label Purbachal / Dhaka image pairs and fine-tune for dense South-Asian settlements.</a:t>
            </a:r>
          </a:p>
        </p:txBody>
      </p:sp>
      <p:sp>
        <p:nvSpPr>
          <p:cNvPr id="15" name="Oval 14"/>
          <p:cNvSpPr/>
          <p:nvPr/>
        </p:nvSpPr>
        <p:spPr>
          <a:xfrm>
            <a:off x="685800" y="3072384"/>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3</a:t>
            </a:r>
          </a:p>
        </p:txBody>
      </p:sp>
      <p:sp>
        <p:nvSpPr>
          <p:cNvPr id="16" name="TextBox 15"/>
          <p:cNvSpPr txBox="1"/>
          <p:nvPr/>
        </p:nvSpPr>
        <p:spPr>
          <a:xfrm>
            <a:off x="1508760" y="2962656"/>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Multi-class change: </a:t>
            </a:r>
            <a:r>
              <a:rPr sz="1600" b="0" i="0">
                <a:solidFill>
                  <a:srgbClr val="5F6670"/>
                </a:solidFill>
                <a:latin typeface="Calibri"/>
              </a:rPr>
              <a:t>Separate buildings, roads, demolition and vegetation loss.</a:t>
            </a:r>
          </a:p>
        </p:txBody>
      </p:sp>
      <p:sp>
        <p:nvSpPr>
          <p:cNvPr id="17" name="Oval 16"/>
          <p:cNvSpPr/>
          <p:nvPr/>
        </p:nvSpPr>
        <p:spPr>
          <a:xfrm>
            <a:off x="685800" y="3913632"/>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4</a:t>
            </a:r>
          </a:p>
        </p:txBody>
      </p:sp>
      <p:sp>
        <p:nvSpPr>
          <p:cNvPr id="18" name="TextBox 17"/>
          <p:cNvSpPr txBox="1"/>
          <p:nvPr/>
        </p:nvSpPr>
        <p:spPr>
          <a:xfrm>
            <a:off x="1508760" y="3803904"/>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Stronger backbones: </a:t>
            </a:r>
            <a:r>
              <a:rPr sz="1600" b="0" i="0">
                <a:solidFill>
                  <a:srgbClr val="5F6670"/>
                </a:solidFill>
                <a:latin typeface="Calibri"/>
              </a:rPr>
              <a:t>Transformer encoders (BIT / ChangeFormer style) and learnable DSP filters.</a:t>
            </a:r>
          </a:p>
        </p:txBody>
      </p:sp>
      <p:sp>
        <p:nvSpPr>
          <p:cNvPr id="19" name="Oval 18"/>
          <p:cNvSpPr/>
          <p:nvPr/>
        </p:nvSpPr>
        <p:spPr>
          <a:xfrm>
            <a:off x="685800" y="4754880"/>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5</a:t>
            </a:r>
          </a:p>
        </p:txBody>
      </p:sp>
      <p:sp>
        <p:nvSpPr>
          <p:cNvPr id="20" name="TextBox 19"/>
          <p:cNvSpPr txBox="1"/>
          <p:nvPr/>
        </p:nvSpPr>
        <p:spPr>
          <a:xfrm>
            <a:off x="1508760" y="4645152"/>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Time series: </a:t>
            </a:r>
            <a:r>
              <a:rPr sz="1600" b="0" i="0">
                <a:solidFill>
                  <a:srgbClr val="5F6670"/>
                </a:solidFill>
                <a:latin typeface="Calibri"/>
              </a:rPr>
              <a:t>Use more than two dates to reject seasonal pseudo-changes.</a:t>
            </a:r>
          </a:p>
        </p:txBody>
      </p:sp>
      <p:sp>
        <p:nvSpPr>
          <p:cNvPr id="21" name="Oval 20"/>
          <p:cNvSpPr/>
          <p:nvPr/>
        </p:nvSpPr>
        <p:spPr>
          <a:xfrm>
            <a:off x="685800" y="5596128"/>
            <a:ext cx="566928" cy="566928"/>
          </a:xfrm>
          <a:prstGeom prst="ellipse">
            <a:avLst/>
          </a:prstGeom>
          <a:solidFill>
            <a:srgbClr val="262B33"/>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i="0">
                <a:solidFill>
                  <a:srgbClr val="FFFFFF"/>
                </a:solidFill>
                <a:latin typeface="Calibri"/>
              </a:rPr>
              <a:t>6</a:t>
            </a:r>
          </a:p>
        </p:txBody>
      </p:sp>
      <p:sp>
        <p:nvSpPr>
          <p:cNvPr id="22" name="TextBox 21"/>
          <p:cNvSpPr txBox="1"/>
          <p:nvPr/>
        </p:nvSpPr>
        <p:spPr>
          <a:xfrm>
            <a:off x="1508760" y="5486400"/>
            <a:ext cx="10149840" cy="786384"/>
          </a:xfrm>
          <a:prstGeom prst="rect">
            <a:avLst/>
          </a:prstGeom>
          <a:noFill/>
        </p:spPr>
        <p:txBody>
          <a:bodyPr wrap="square" anchor="ctr" lIns="45720" rIns="45720">
            <a:spAutoFit/>
          </a:bodyPr>
          <a:lstStyle/>
          <a:p>
            <a:pPr algn="l">
              <a:spcAft>
                <a:spcPts val="600"/>
              </a:spcAft>
            </a:pPr>
            <a:r>
              <a:rPr sz="1600" b="1" i="0">
                <a:solidFill>
                  <a:srgbClr val="262B33"/>
                </a:solidFill>
                <a:latin typeface="Calibri"/>
              </a:rPr>
              <a:t>Deployment: </a:t>
            </a:r>
            <a:r>
              <a:rPr sz="1600" b="0" i="0">
                <a:solidFill>
                  <a:srgbClr val="5F6670"/>
                </a:solidFill>
                <a:latin typeface="Calibri"/>
              </a:rPr>
              <a:t>Web service or GIS plug-in (QGIS) with GeoTIFF input and polygon export.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9. References</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a:t>EEE 312 (Jan 2026) – Project, Section B2, Group 04</a:t>
            </a:r>
            <a:endParaRPr lang="en-BD" dirty="0"/>
          </a:p>
        </p:txBody>
      </p:sp>
      <p:sp>
        <p:nvSpPr>
          <p:cNvPr id="7" name="Footer Placeholder 6">
            <a:extLst>
              <a:ext uri="{FF2B5EF4-FFF2-40B4-BE49-F238E27FC236}">
                <a16:creationId xmlns:a16="http://schemas.microsoft.com/office/drawing/2014/main" id="{E62B1C3D-B08D-D14D-A3BD-DCF2567AB884}"/>
              </a:ext>
            </a:extLst>
          </p:cNvPr>
          <p:cNvSpPr>
            <a:spLocks noGrp="1"/>
          </p:cNvSpPr>
          <p:nvPr>
            <p:ph type="ftr" sz="quarter" idx="11"/>
          </p:nvPr>
        </p:nvSpPr>
        <p:spPr>
          <a:xfrm>
            <a:off x="5100586" y="6482588"/>
            <a:ext cx="6310364" cy="375412"/>
          </a:xfrm>
        </p:spPr>
        <p:txBody>
          <a:bodyPr/>
          <a:lstStyle/>
          <a:p>
            <a:r>
              <a:rPr lang="en-BD" dirty="0"/>
              <a:t>DSP + Deep Learning Urban Change Detection</a:t>
            </a: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3</a:t>
            </a:fld>
            <a:endParaRPr lang="en-BD"/>
          </a:p>
        </p:txBody>
      </p:sp>
      <p:sp>
        <p:nvSpPr>
          <p:cNvPr id="10" name="TextBox 9">
            <a:extLst>
              <a:ext uri="{FF2B5EF4-FFF2-40B4-BE49-F238E27FC236}">
                <a16:creationId xmlns:a16="http://schemas.microsoft.com/office/drawing/2014/main" id="{94FC492C-855C-BBBD-E10E-4FA0A9234E19}"/>
              </a:ext>
            </a:extLst>
          </p:cNvPr>
          <p:cNvSpPr txBox="1"/>
          <p:nvPr/>
        </p:nvSpPr>
        <p:spPr>
          <a:xfrm>
            <a:off x="9459470" y="6470825"/>
            <a:ext cx="2212465" cy="369332"/>
          </a:xfrm>
          <a:prstGeom prst="rect">
            <a:avLst/>
          </a:prstGeom>
          <a:noFill/>
        </p:spPr>
        <p:txBody>
          <a:bodyPr wrap="none" rtlCol="0">
            <a:spAutoFit/>
          </a:bodyPr>
          <a:lstStyle/>
          <a:p>
            <a:r>
              <a:rPr lang="en-US" i="1" dirty="0">
                <a:solidFill>
                  <a:srgbClr val="FFFF00"/>
                </a:solidFill>
                <a:latin typeface="Arial Narrow" panose="020B0606020202030204" pitchFamily="34" charset="0"/>
              </a:rPr>
              <a:t>Presented by: 2206122</a:t>
            </a:r>
            <a:endParaRPr lang="en-GB" i="1" dirty="0">
              <a:solidFill>
                <a:srgbClr val="FFFF00"/>
              </a:solidFill>
              <a:latin typeface="Arial Narrow" panose="020B0606020202030204" pitchFamily="34" charset="0"/>
            </a:endParaRPr>
          </a:p>
        </p:txBody>
      </p:sp>
      <p:sp>
        <p:nvSpPr>
          <p:cNvPr id="11" name="TextBox 10"/>
          <p:cNvSpPr txBox="1"/>
          <p:nvPr/>
        </p:nvSpPr>
        <p:spPr>
          <a:xfrm>
            <a:off x="685800" y="1280160"/>
            <a:ext cx="10972800" cy="5029200"/>
          </a:xfrm>
          <a:prstGeom prst="rect">
            <a:avLst/>
          </a:prstGeom>
          <a:noFill/>
        </p:spPr>
        <p:txBody>
          <a:bodyPr wrap="square" anchor="t" lIns="45720" rIns="45720">
            <a:spAutoFit/>
          </a:bodyPr>
          <a:lstStyle/>
          <a:p>
            <a:pPr algn="l">
              <a:spcAft>
                <a:spcPts val="500"/>
              </a:spcAft>
            </a:pPr>
            <a:r>
              <a:rPr sz="1300" b="1" i="0">
                <a:solidFill>
                  <a:srgbClr val="C00000"/>
                </a:solidFill>
                <a:latin typeface="Calibri"/>
              </a:rPr>
              <a:t>[1]  </a:t>
            </a:r>
            <a:r>
              <a:rPr sz="1300" b="0" i="0">
                <a:solidFill>
                  <a:srgbClr val="262B33"/>
                </a:solidFill>
                <a:latin typeface="Calibri"/>
              </a:rPr>
              <a:t>H. Chen and Z. Shi, “A spatial-temporal attention-based method and a new dataset for remote sensing image change detection,” Remote Sensing, vol. 12, no. 10, p. 1662, 2020.</a:t>
            </a:r>
          </a:p>
          <a:p>
            <a:pPr algn="l">
              <a:spcAft>
                <a:spcPts val="500"/>
              </a:spcAft>
            </a:pPr>
            <a:r>
              <a:rPr sz="1300" b="1" i="0">
                <a:solidFill>
                  <a:srgbClr val="C00000"/>
                </a:solidFill>
                <a:latin typeface="Calibri"/>
              </a:rPr>
              <a:t>[2]  </a:t>
            </a:r>
            <a:r>
              <a:rPr sz="1300" b="0" i="0">
                <a:solidFill>
                  <a:srgbClr val="262B33"/>
                </a:solidFill>
                <a:latin typeface="Calibri"/>
              </a:rPr>
              <a:t>R. C. Daudt, B. Le Saux, and A. Boulch, “Fully convolutional Siamese networks for change detection,” in Proc. IEEE ICIP, 2018.</a:t>
            </a:r>
          </a:p>
          <a:p>
            <a:pPr algn="l">
              <a:spcAft>
                <a:spcPts val="500"/>
              </a:spcAft>
            </a:pPr>
            <a:r>
              <a:rPr sz="1300" b="1" i="0">
                <a:solidFill>
                  <a:srgbClr val="C00000"/>
                </a:solidFill>
                <a:latin typeface="Calibri"/>
              </a:rPr>
              <a:t>[3]  </a:t>
            </a:r>
            <a:r>
              <a:rPr sz="1300" b="0" i="0">
                <a:solidFill>
                  <a:srgbClr val="262B33"/>
                </a:solidFill>
                <a:latin typeface="Calibri"/>
              </a:rPr>
              <a:t>H. Chen, Z. Qi, and Z. Shi, “Remote sensing image change detection with transformers,” IEEE Trans. Geosci. Remote Sens., vol. 60, 2022.</a:t>
            </a:r>
          </a:p>
          <a:p>
            <a:pPr algn="l">
              <a:spcAft>
                <a:spcPts val="500"/>
              </a:spcAft>
            </a:pPr>
            <a:r>
              <a:rPr sz="1300" b="1" i="0">
                <a:solidFill>
                  <a:srgbClr val="C00000"/>
                </a:solidFill>
                <a:latin typeface="Calibri"/>
              </a:rPr>
              <a:t>[4]  </a:t>
            </a:r>
            <a:r>
              <a:rPr sz="1300" b="0" i="0">
                <a:solidFill>
                  <a:srgbClr val="262B33"/>
                </a:solidFill>
                <a:latin typeface="Calibri"/>
              </a:rPr>
              <a:t>W. G. C. Bandara and V. M. Patel, “A transformer-based Siamese network for change detection,” in Proc. IEEE IGARSS, 2022.</a:t>
            </a:r>
          </a:p>
          <a:p>
            <a:pPr algn="l">
              <a:spcAft>
                <a:spcPts val="500"/>
              </a:spcAft>
            </a:pPr>
            <a:r>
              <a:rPr sz="1300" b="1" i="0">
                <a:solidFill>
                  <a:srgbClr val="C00000"/>
                </a:solidFill>
                <a:latin typeface="Calibri"/>
              </a:rPr>
              <a:t>[5]  </a:t>
            </a:r>
            <a:r>
              <a:rPr sz="1300" b="0" i="0">
                <a:solidFill>
                  <a:srgbClr val="262B33"/>
                </a:solidFill>
                <a:latin typeface="Calibri"/>
              </a:rPr>
              <a:t>K. He, X. Zhang, S. Ren, and J. Sun, “Deep residual learning for image recognition,” in Proc. IEEE CVPR, 2016.</a:t>
            </a:r>
          </a:p>
          <a:p>
            <a:pPr algn="l">
              <a:spcAft>
                <a:spcPts val="500"/>
              </a:spcAft>
            </a:pPr>
            <a:r>
              <a:rPr sz="1300" b="1" i="0">
                <a:solidFill>
                  <a:srgbClr val="C00000"/>
                </a:solidFill>
                <a:latin typeface="Calibri"/>
              </a:rPr>
              <a:t>[6]  </a:t>
            </a:r>
            <a:r>
              <a:rPr sz="1300" b="0" i="0">
                <a:solidFill>
                  <a:srgbClr val="262B33"/>
                </a:solidFill>
                <a:latin typeface="Calibri"/>
              </a:rPr>
              <a:t>O. Ronneberger, P. Fischer, and T. Brox, “U-Net: Convolutional networks for biomedical image segmentation,” in Proc. MICCAI, 2015.</a:t>
            </a:r>
          </a:p>
          <a:p>
            <a:pPr algn="l">
              <a:spcAft>
                <a:spcPts val="500"/>
              </a:spcAft>
            </a:pPr>
            <a:r>
              <a:rPr sz="1300" b="1" i="0">
                <a:solidFill>
                  <a:srgbClr val="C00000"/>
                </a:solidFill>
                <a:latin typeface="Calibri"/>
              </a:rPr>
              <a:t>[7]  </a:t>
            </a:r>
            <a:r>
              <a:rPr sz="1300" b="0" i="0">
                <a:solidFill>
                  <a:srgbClr val="262B33"/>
                </a:solidFill>
                <a:latin typeface="Calibri"/>
              </a:rPr>
              <a:t>J. Canny, “A computational approach to edge detection,” IEEE Trans. Pattern Anal. Mach. Intell., vol. 8, no. 6, pp. 679–698, 1986.</a:t>
            </a:r>
          </a:p>
          <a:p>
            <a:pPr algn="l">
              <a:spcAft>
                <a:spcPts val="500"/>
              </a:spcAft>
            </a:pPr>
            <a:r>
              <a:rPr sz="1300" b="1" i="0">
                <a:solidFill>
                  <a:srgbClr val="C00000"/>
                </a:solidFill>
                <a:latin typeface="Calibri"/>
              </a:rPr>
              <a:t>[8]  </a:t>
            </a:r>
            <a:r>
              <a:rPr sz="1300" b="0" i="0">
                <a:solidFill>
                  <a:srgbClr val="262B33"/>
                </a:solidFill>
                <a:latin typeface="Calibri"/>
              </a:rPr>
              <a:t>S. Xie and Z. Tu, “Holistically-nested edge detection,” in Proc. IEEE ICCV, 2015.</a:t>
            </a:r>
          </a:p>
          <a:p>
            <a:pPr algn="l">
              <a:spcAft>
                <a:spcPts val="500"/>
              </a:spcAft>
            </a:pPr>
            <a:r>
              <a:rPr sz="1300" b="1" i="0">
                <a:solidFill>
                  <a:srgbClr val="C00000"/>
                </a:solidFill>
                <a:latin typeface="Calibri"/>
              </a:rPr>
              <a:t>[9]  </a:t>
            </a:r>
            <a:r>
              <a:rPr sz="1300" b="0" i="0">
                <a:solidFill>
                  <a:srgbClr val="262B33"/>
                </a:solidFill>
                <a:latin typeface="Calibri"/>
              </a:rPr>
              <a:t>F. Milletari, N. Navab, and S.-A. Ahmadi, “V-Net: Fully convolutional neural networks for volumetric medical image segmentation,” in Proc. 3DV, 2016.</a:t>
            </a:r>
          </a:p>
          <a:p>
            <a:pPr algn="l">
              <a:spcAft>
                <a:spcPts val="500"/>
              </a:spcAft>
            </a:pPr>
            <a:r>
              <a:rPr sz="1300" b="1" i="0">
                <a:solidFill>
                  <a:srgbClr val="C00000"/>
                </a:solidFill>
                <a:latin typeface="Calibri"/>
              </a:rPr>
              <a:t>[10]  </a:t>
            </a:r>
            <a:r>
              <a:rPr sz="1300" b="0" i="0">
                <a:solidFill>
                  <a:srgbClr val="262B33"/>
                </a:solidFill>
                <a:latin typeface="Calibri"/>
              </a:rPr>
              <a:t>A. Paszke et al., “PyTorch: An imperative style, high-performance deep learning library,” in Proc. NeurIPS, 2019.</a:t>
            </a:r>
          </a:p>
          <a:p>
            <a:pPr algn="l">
              <a:spcAft>
                <a:spcPts val="500"/>
              </a:spcAft>
            </a:pPr>
            <a:r>
              <a:rPr sz="1300" b="1" i="0">
                <a:solidFill>
                  <a:srgbClr val="C00000"/>
                </a:solidFill>
                <a:latin typeface="Calibri"/>
              </a:rPr>
              <a:t>[11]  </a:t>
            </a:r>
            <a:r>
              <a:rPr sz="1300" b="0" i="0">
                <a:solidFill>
                  <a:srgbClr val="262B33"/>
                </a:solidFill>
                <a:latin typeface="Calibri"/>
              </a:rPr>
              <a:t>G. Bradski, “The OpenCV library,” Dr. Dobb’s Journal of Software Tools, 2000.</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{05D23346-88B9-1E48-85E6-2D29E7791F05}tf10001067</Template>
  <TotalTime>165</TotalTime>
  <Words>2905</Words>
  <Application>Microsoft Macintosh PowerPoint</Application>
  <PresentationFormat>Widescreen</PresentationFormat>
  <Paragraphs>271</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Angsana New</vt:lpstr>
      <vt:lpstr>Arial</vt:lpstr>
      <vt:lpstr>Arial Narrow</vt:lpstr>
      <vt:lpstr>Calibri</vt:lpstr>
      <vt:lpstr>Century Gothic</vt:lpstr>
      <vt:lpstr>Garamond</vt:lpstr>
      <vt:lpstr>Times New Roman</vt:lpstr>
      <vt:lpstr>Savon</vt:lpstr>
      <vt:lpstr>Digital Signal Processing and Deep Learning-Based Urban Change Detection Using Satellite Imagery</vt:lpstr>
      <vt:lpstr>Outline</vt:lpstr>
      <vt:lpstr>1. Summary / Abstract</vt:lpstr>
      <vt:lpstr>2. Introduction</vt:lpstr>
      <vt:lpstr>3.1 Design: Problem Formulation (PO(b))</vt:lpstr>
      <vt:lpstr>3.1 Design: Problem Formulation (PO(b))</vt:lpstr>
      <vt:lpstr>3.1 Design: Problem Formulation (PO(b))</vt:lpstr>
      <vt:lpstr>3.1 Design: Problem Formulation (PO(b))</vt:lpstr>
      <vt:lpstr>3.2 Design Methods (PO(a))</vt:lpstr>
      <vt:lpstr>3.3 Design: Circuit Diagram</vt:lpstr>
      <vt:lpstr>3.4 Design: Simulation</vt:lpstr>
      <vt:lpstr>3.5 CAD/Hardware Design</vt:lpstr>
      <vt:lpstr>3.5 CAD/Hardware Design</vt:lpstr>
      <vt:lpstr>3.6 Design: PCB Layout and 3d rendering</vt:lpstr>
      <vt:lpstr>4 Implementation: Demonstration</vt:lpstr>
      <vt:lpstr>4.1 Implementation: Photo Gallary</vt:lpstr>
      <vt:lpstr>5. Design Analysis and Evaluation</vt:lpstr>
      <vt:lpstr>5.1 Novelty</vt:lpstr>
      <vt:lpstr>5.2 Design Considerations (PO(c))</vt:lpstr>
      <vt:lpstr>5.3 Investigations (PO(d))</vt:lpstr>
      <vt:lpstr>5.4 Limitations of Tools (PO(e))</vt:lpstr>
      <vt:lpstr>5.5 Impact Assessment (PO(f))</vt:lpstr>
      <vt:lpstr>5.6 Sustainability Evaluation (PO(g))</vt:lpstr>
      <vt:lpstr>5.7 Sustainability Evaluation (PO(g))</vt:lpstr>
      <vt:lpstr>6. Reflection on Individual and Team work </vt:lpstr>
      <vt:lpstr>6.1 Individual Contribution of Each Member</vt:lpstr>
      <vt:lpstr>6.2 Mode of TeamWork and Diversity</vt:lpstr>
      <vt:lpstr>6.3 Logbook of Project</vt:lpstr>
      <vt:lpstr>7 Communication to External Stakeholders (PO(j))</vt:lpstr>
      <vt:lpstr>8. Project Management and Cost Analysis (PO(k))</vt:lpstr>
      <vt:lpstr>9. Future Work (PO(l))</vt:lpstr>
      <vt:lpstr>10.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Sajid Muhaimin Choudhury</dc:creator>
  <cp:lastModifiedBy>2206119 - Md. Ahasan Habib Kawsar</cp:lastModifiedBy>
  <cp:revision>36</cp:revision>
  <cp:lastPrinted>2023-06-08T10:53:35Z</cp:lastPrinted>
  <dcterms:created xsi:type="dcterms:W3CDTF">2021-07-11T09:27:00Z</dcterms:created>
  <dcterms:modified xsi:type="dcterms:W3CDTF">2026-09-29T02:17:58Z</dcterms:modified>
</cp:coreProperties>
</file>