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92" r:id="rId2"/>
    <p:sldId id="291" r:id="rId3"/>
    <p:sldId id="293" r:id="rId4"/>
    <p:sldId id="294" r:id="rId5"/>
    <p:sldId id="295" r:id="rId6"/>
    <p:sldId id="296" r:id="rId7"/>
    <p:sldId id="256" r:id="rId8"/>
    <p:sldId id="257" r:id="rId9"/>
    <p:sldId id="258" r:id="rId10"/>
    <p:sldId id="259" r:id="rId11"/>
    <p:sldId id="260" r:id="rId12"/>
    <p:sldId id="261" r:id="rId13"/>
    <p:sldId id="288" r:id="rId14"/>
    <p:sldId id="314" r:id="rId15"/>
    <p:sldId id="315" r:id="rId16"/>
    <p:sldId id="316" r:id="rId17"/>
    <p:sldId id="317" r:id="rId28"/>
    <p:sldId id="306" r:id="rId19"/>
    <p:sldId id="318" r:id="rId29"/>
    <p:sldId id="319" r:id="rId30"/>
    <p:sldId id="320" r:id="rId31"/>
    <p:sldId id="321" r:id="rId32"/>
    <p:sldId id="322" r:id="rId33"/>
    <p:sldId id="323" r:id="rId34"/>
    <p:sldId id="324" r:id="rId35"/>
    <p:sldId id="325" r:id="rId36"/>
    <p:sldId id="326" r:id="rId37"/>
    <p:sldId id="327" r:id="rId38"/>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72" autoAdjust="0"/>
    <p:restoredTop sz="94590" autoAdjust="0"/>
  </p:normalViewPr>
  <p:slideViewPr>
    <p:cSldViewPr snapToGrid="0" snapToObjects="1">
      <p:cViewPr varScale="1">
        <p:scale>
          <a:sx n="176" d="100"/>
          <a:sy n="176" d="100"/>
        </p:scale>
        <p:origin x="200" y="416"/>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9" Type="http://schemas.openxmlformats.org/officeDocument/2006/relationships/slide" Target="slides/slide18.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en-US" sz="1300" b="1"/>
              <a:t>F1 on the LEVIR-CD test set (%)</a:t>
            </a:r>
          </a:p>
        </c:rich>
      </c:tx>
      <c:overlay val="0"/>
    </c:title>
    <c:autoTitleDeleted val="0"/>
    <c:plotArea>
      <c:layout/>
      <c:barChart>
        <c:barDir val="bar"/>
        <c:grouping val="clustered"/>
        <c:varyColors val="1"/>
        <c:ser>
          <c:idx val="0"/>
          <c:order val="0"/>
          <c:tx>
            <c:strRef>
              <c:f>Sheet1!$B$1</c:f>
              <c:strCache>
                <c:ptCount val="1"/>
                <c:pt idx="0">
                  <c:v>F1 (%)</c:v>
                </c:pt>
              </c:strCache>
            </c:strRef>
          </c:tx>
          <c:spPr>
            <a:solidFill>
              <a:srgbClr val="B8BEC6"/>
            </a:solidFill>
          </c:spPr>
          <c:invertIfNegative val="1"/>
          <c:dPt>
            <c:idx val="6"/>
            <c:invertIfNegative val="1"/>
            <c:bubble3D val="0"/>
            <c:spPr>
              <a:solidFill>
                <a:srgbClr val="C00000"/>
              </a:solidFill>
            </c:spPr>
            <c:extLst>
              <c:ext xmlns:c16="http://schemas.microsoft.com/office/drawing/2014/chart" uri="{C3380CC4-5D6E-409C-BE32-E72D297353CC}">
                <c16:uniqueId val="{00000001-E394-47AC-B4D3-A4D698386C34}"/>
              </c:ext>
            </c:extLst>
          </c:dPt>
          <c:dLbls>
            <c:numFmt formatCode="0.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FC-EF</c:v>
                </c:pt>
                <c:pt idx="1">
                  <c:v>FC-Siam-diff</c:v>
                </c:pt>
                <c:pt idx="2">
                  <c:v>STANet</c:v>
                </c:pt>
                <c:pt idx="3">
                  <c:v>SNUNet</c:v>
                </c:pt>
                <c:pt idx="4">
                  <c:v>BIT</c:v>
                </c:pt>
                <c:pt idx="5">
                  <c:v>ChangeFormer</c:v>
                </c:pt>
                <c:pt idx="6">
                  <c:v>Ours (v2)</c:v>
                </c:pt>
              </c:strCache>
            </c:strRef>
          </c:cat>
          <c:val>
            <c:numRef>
              <c:f>Sheet1!$B$2:$B$8</c:f>
              <c:numCache>
                <c:formatCode>General</c:formatCode>
                <c:ptCount val="7"/>
                <c:pt idx="0">
                  <c:v>83.4</c:v>
                </c:pt>
                <c:pt idx="1">
                  <c:v>86.31</c:v>
                </c:pt>
                <c:pt idx="2">
                  <c:v>87.26</c:v>
                </c:pt>
                <c:pt idx="3">
                  <c:v>88.16</c:v>
                </c:pt>
                <c:pt idx="4">
                  <c:v>89.31</c:v>
                </c:pt>
                <c:pt idx="5">
                  <c:v>90.4</c:v>
                </c:pt>
                <c:pt idx="6">
                  <c:v>91.17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394-47AC-B4D3-A4D698386C34}"/>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max val="94"/>
          <c:min val="80"/>
        </c:scaling>
        <c:delete val="0"/>
        <c:axPos val="b"/>
        <c:majorGridlines>
          <c:spPr>
            <a:ln>
              <a:solidFill>
                <a:srgbClr val="D9DCE1"/>
              </a:solidFill>
            </a:ln>
          </c:spPr>
        </c:majorGridlines>
        <c:numFmt formatCode="General" sourceLinked="1"/>
        <c:majorTickMark val="out"/>
        <c:minorTickMark val="none"/>
        <c:tickLblPos val="nextTo"/>
        <c:txPr>
          <a:bodyPr/>
          <a:lstStyle/>
          <a:p>
            <a:pPr>
              <a:defRPr sz="1000"/>
            </a:pPr>
            <a:endParaRPr lang="en-US"/>
          </a:p>
        </c:txPr>
        <c:crossAx val="-2068027336"/>
        <c:crosses val="autoZero"/>
        <c:crossBetween val="between"/>
      </c:valAx>
    </c:plotArea>
    <c:plotVisOnly val="1"/>
    <c:dispBlanksAs val="gap"/>
    <c:showDLblsOverMax val="1"/>
  </c:chart>
  <c:txPr>
    <a:bodyPr/>
    <a:lstStyle/>
    <a:p>
      <a:pPr>
        <a:defRPr sz="1100">
          <a:solidFill>
            <a:srgbClr val="5F667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800" b="1" dirty="0">
                <a:latin typeface="Times New Roman" panose="02020603050405020304" pitchFamily="18" charset="0"/>
                <a:cs typeface="Times New Roman" panose="02020603050405020304" pitchFamily="18" charset="0"/>
              </a:rPr>
              <a:t>Learning curves (RGB + Canny model)</a:t>
            </a:r>
          </a:p>
        </c:rich>
      </c:tx>
      <c:overlay val="0"/>
    </c:title>
    <c:autoTitleDeleted val="0"/>
    <c:plotArea>
      <c:layout/>
      <c:lineChart>
        <c:grouping val="standard"/>
        <c:varyColors val="0"/>
        <c:ser>
          <c:idx val="0"/>
          <c:order val="0"/>
          <c:tx>
            <c:strRef>
              <c:f>Sheet1!$B$1</c:f>
              <c:strCache>
                <c:ptCount val="1"/>
                <c:pt idx="0">
                  <c:v>Validation F1</c:v>
                </c:pt>
              </c:strCache>
            </c:strRef>
          </c:tx>
          <c:spPr>
            <a:ln w="28575">
              <a:solidFill>
                <a:srgbClr val="C00000"/>
              </a:solidFill>
            </a:ln>
          </c:spPr>
          <c:marker>
            <c:symbol val="none"/>
          </c:marker>
          <c:cat>
            <c:numRef>
              <c:f>Sheet1!$A$2:$A$48</c:f>
              <c:numCache>
                <c:formatCode>General</c:formatCode>
                <c:ptCount val="47"/>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numCache>
            </c:numRef>
          </c:cat>
          <c:val>
            <c:numRef>
              <c:f>Sheet1!$B$2:$B$48</c:f>
              <c:numCache>
                <c:formatCode>General</c:formatCode>
                <c:ptCount val="47"/>
                <c:pt idx="0">
                  <c:v>0.79720000000000002</c:v>
                </c:pt>
                <c:pt idx="1">
                  <c:v>0.86240000000000006</c:v>
                </c:pt>
                <c:pt idx="2">
                  <c:v>0.85129999999999995</c:v>
                </c:pt>
                <c:pt idx="3">
                  <c:v>0.87260000000000004</c:v>
                </c:pt>
                <c:pt idx="4">
                  <c:v>0.87370000000000003</c:v>
                </c:pt>
                <c:pt idx="5">
                  <c:v>0.88100000000000001</c:v>
                </c:pt>
                <c:pt idx="6">
                  <c:v>0.88400000000000001</c:v>
                </c:pt>
                <c:pt idx="7">
                  <c:v>0.88519999999999999</c:v>
                </c:pt>
                <c:pt idx="8">
                  <c:v>0.89059999999999995</c:v>
                </c:pt>
                <c:pt idx="9">
                  <c:v>0.88539999999999996</c:v>
                </c:pt>
                <c:pt idx="10">
                  <c:v>0.88629999999999998</c:v>
                </c:pt>
                <c:pt idx="11">
                  <c:v>0.8891</c:v>
                </c:pt>
                <c:pt idx="12">
                  <c:v>0.8972</c:v>
                </c:pt>
                <c:pt idx="13">
                  <c:v>0.88749999999999996</c:v>
                </c:pt>
                <c:pt idx="14">
                  <c:v>0.8861</c:v>
                </c:pt>
                <c:pt idx="15">
                  <c:v>0.89319999999999999</c:v>
                </c:pt>
                <c:pt idx="16">
                  <c:v>0.89970000000000006</c:v>
                </c:pt>
                <c:pt idx="17">
                  <c:v>0.89839999999999998</c:v>
                </c:pt>
                <c:pt idx="18">
                  <c:v>0.90080000000000005</c:v>
                </c:pt>
                <c:pt idx="19">
                  <c:v>0.8972</c:v>
                </c:pt>
                <c:pt idx="20">
                  <c:v>0.90610000000000002</c:v>
                </c:pt>
                <c:pt idx="21">
                  <c:v>0.90139999999999998</c:v>
                </c:pt>
                <c:pt idx="22">
                  <c:v>0.89680000000000004</c:v>
                </c:pt>
                <c:pt idx="23">
                  <c:v>0.89880000000000004</c:v>
                </c:pt>
                <c:pt idx="24">
                  <c:v>0.90100000000000002</c:v>
                </c:pt>
                <c:pt idx="25">
                  <c:v>0.90329999999999999</c:v>
                </c:pt>
                <c:pt idx="26">
                  <c:v>0.90229999999999999</c:v>
                </c:pt>
                <c:pt idx="27">
                  <c:v>0.90249999999999997</c:v>
                </c:pt>
                <c:pt idx="28">
                  <c:v>0.90549999999999997</c:v>
                </c:pt>
                <c:pt idx="29">
                  <c:v>0.90339999999999998</c:v>
                </c:pt>
                <c:pt idx="30">
                  <c:v>0.91010000000000002</c:v>
                </c:pt>
                <c:pt idx="31">
                  <c:v>0.91069999999999995</c:v>
                </c:pt>
                <c:pt idx="32">
                  <c:v>0.9042</c:v>
                </c:pt>
                <c:pt idx="33">
                  <c:v>0.90620000000000001</c:v>
                </c:pt>
                <c:pt idx="34">
                  <c:v>0.90649999999999997</c:v>
                </c:pt>
                <c:pt idx="35">
                  <c:v>0.90629999999999999</c:v>
                </c:pt>
                <c:pt idx="36">
                  <c:v>0.90710000000000002</c:v>
                </c:pt>
                <c:pt idx="37">
                  <c:v>0.90810000000000002</c:v>
                </c:pt>
                <c:pt idx="38">
                  <c:v>0.90839999999999999</c:v>
                </c:pt>
                <c:pt idx="39">
                  <c:v>0.90669999999999995</c:v>
                </c:pt>
                <c:pt idx="40">
                  <c:v>0.90700000000000003</c:v>
                </c:pt>
                <c:pt idx="41">
                  <c:v>0.90859999999999996</c:v>
                </c:pt>
                <c:pt idx="42">
                  <c:v>0.90749999999999997</c:v>
                </c:pt>
                <c:pt idx="43">
                  <c:v>0.90820000000000001</c:v>
                </c:pt>
                <c:pt idx="44">
                  <c:v>0.90839999999999999</c:v>
                </c:pt>
                <c:pt idx="45">
                  <c:v>0.90839999999999999</c:v>
                </c:pt>
                <c:pt idx="46">
                  <c:v>0.90900000000000003</c:v>
                </c:pt>
              </c:numCache>
            </c:numRef>
          </c:val>
          <c:smooth val="0"/>
          <c:extLst>
            <c:ext xmlns:c16="http://schemas.microsoft.com/office/drawing/2014/chart" uri="{C3380CC4-5D6E-409C-BE32-E72D297353CC}">
              <c16:uniqueId val="{00000000-A242-4146-A5CA-D93B1AE73452}"/>
            </c:ext>
          </c:extLst>
        </c:ser>
        <c:ser>
          <c:idx val="1"/>
          <c:order val="1"/>
          <c:tx>
            <c:strRef>
              <c:f>Sheet1!$C$1</c:f>
              <c:strCache>
                <c:ptCount val="1"/>
                <c:pt idx="0">
                  <c:v>Training loss</c:v>
                </c:pt>
              </c:strCache>
            </c:strRef>
          </c:tx>
          <c:spPr>
            <a:ln w="28575">
              <a:solidFill>
                <a:srgbClr val="262B33"/>
              </a:solidFill>
            </a:ln>
          </c:spPr>
          <c:marker>
            <c:symbol val="none"/>
          </c:marker>
          <c:cat>
            <c:numRef>
              <c:f>Sheet1!$A$2:$A$48</c:f>
              <c:numCache>
                <c:formatCode>General</c:formatCode>
                <c:ptCount val="47"/>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numCache>
            </c:numRef>
          </c:cat>
          <c:val>
            <c:numRef>
              <c:f>Sheet1!$C$2:$C$48</c:f>
              <c:numCache>
                <c:formatCode>General</c:formatCode>
                <c:ptCount val="47"/>
                <c:pt idx="0">
                  <c:v>1.2749999999999999</c:v>
                </c:pt>
                <c:pt idx="1">
                  <c:v>1.0188999999999999</c:v>
                </c:pt>
                <c:pt idx="2">
                  <c:v>0.85870000000000002</c:v>
                </c:pt>
                <c:pt idx="3">
                  <c:v>0.73419999999999996</c:v>
                </c:pt>
                <c:pt idx="4">
                  <c:v>0.63929999999999998</c:v>
                </c:pt>
                <c:pt idx="5">
                  <c:v>0.53559999999999997</c:v>
                </c:pt>
                <c:pt idx="6">
                  <c:v>0.47889999999999999</c:v>
                </c:pt>
                <c:pt idx="7">
                  <c:v>0.42509999999999998</c:v>
                </c:pt>
                <c:pt idx="8">
                  <c:v>0.38600000000000001</c:v>
                </c:pt>
                <c:pt idx="9">
                  <c:v>0.35930000000000001</c:v>
                </c:pt>
                <c:pt idx="10">
                  <c:v>0.33379999999999999</c:v>
                </c:pt>
                <c:pt idx="11">
                  <c:v>0.31609999999999999</c:v>
                </c:pt>
                <c:pt idx="12">
                  <c:v>0.30709999999999998</c:v>
                </c:pt>
                <c:pt idx="13">
                  <c:v>0.28720000000000001</c:v>
                </c:pt>
                <c:pt idx="14">
                  <c:v>0.25829999999999997</c:v>
                </c:pt>
                <c:pt idx="15">
                  <c:v>0.25090000000000001</c:v>
                </c:pt>
                <c:pt idx="16">
                  <c:v>0.25600000000000001</c:v>
                </c:pt>
                <c:pt idx="17">
                  <c:v>0.2392</c:v>
                </c:pt>
                <c:pt idx="18">
                  <c:v>0.2288</c:v>
                </c:pt>
                <c:pt idx="19">
                  <c:v>0.2281</c:v>
                </c:pt>
                <c:pt idx="20">
                  <c:v>0.2341</c:v>
                </c:pt>
                <c:pt idx="21">
                  <c:v>0.21440000000000001</c:v>
                </c:pt>
                <c:pt idx="22">
                  <c:v>0.19919999999999999</c:v>
                </c:pt>
                <c:pt idx="23">
                  <c:v>0.2172</c:v>
                </c:pt>
                <c:pt idx="24">
                  <c:v>0.21390000000000001</c:v>
                </c:pt>
                <c:pt idx="25">
                  <c:v>0.214</c:v>
                </c:pt>
                <c:pt idx="26">
                  <c:v>0.19900000000000001</c:v>
                </c:pt>
                <c:pt idx="27">
                  <c:v>0.18229999999999999</c:v>
                </c:pt>
                <c:pt idx="28">
                  <c:v>0.20619999999999999</c:v>
                </c:pt>
                <c:pt idx="29">
                  <c:v>0.18690000000000001</c:v>
                </c:pt>
                <c:pt idx="30">
                  <c:v>0.2046</c:v>
                </c:pt>
                <c:pt idx="31">
                  <c:v>0.1908</c:v>
                </c:pt>
                <c:pt idx="32">
                  <c:v>0.19489999999999999</c:v>
                </c:pt>
                <c:pt idx="33">
                  <c:v>0.17749999999999999</c:v>
                </c:pt>
                <c:pt idx="34">
                  <c:v>0.18179999999999999</c:v>
                </c:pt>
                <c:pt idx="35">
                  <c:v>0.1772</c:v>
                </c:pt>
                <c:pt idx="36">
                  <c:v>0.18160000000000001</c:v>
                </c:pt>
                <c:pt idx="37">
                  <c:v>0.17199999999999999</c:v>
                </c:pt>
                <c:pt idx="38">
                  <c:v>0.18329999999999999</c:v>
                </c:pt>
                <c:pt idx="39">
                  <c:v>0.19900000000000001</c:v>
                </c:pt>
                <c:pt idx="40">
                  <c:v>0.182</c:v>
                </c:pt>
                <c:pt idx="41">
                  <c:v>0.1799</c:v>
                </c:pt>
                <c:pt idx="42">
                  <c:v>0.1729</c:v>
                </c:pt>
                <c:pt idx="43">
                  <c:v>0.17799999999999999</c:v>
                </c:pt>
                <c:pt idx="44">
                  <c:v>0.1704</c:v>
                </c:pt>
                <c:pt idx="45">
                  <c:v>0.1759</c:v>
                </c:pt>
                <c:pt idx="46">
                  <c:v>0.1729</c:v>
                </c:pt>
              </c:numCache>
            </c:numRef>
          </c:val>
          <c:smooth val="0"/>
          <c:extLst>
            <c:ext xmlns:c16="http://schemas.microsoft.com/office/drawing/2014/chart" uri="{C3380CC4-5D6E-409C-BE32-E72D297353CC}">
              <c16:uniqueId val="{00000001-A242-4146-A5CA-D93B1AE73452}"/>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title>
          <c:tx>
            <c:rich>
              <a:bodyPr/>
              <a:lstStyle/>
              <a:p>
                <a:r>
                  <a:rPr lang="en-US" sz="1100"/>
                  <a:t>Epoch</a:t>
                </a:r>
              </a:p>
            </c:rich>
          </c:tx>
          <c:overlay val="0"/>
        </c:title>
        <c:numFmt formatCode="General" sourceLinked="0"/>
        <c:majorTickMark val="out"/>
        <c:minorTickMark val="none"/>
        <c:tickLblPos val="nextTo"/>
        <c:txPr>
          <a:bodyPr/>
          <a:lstStyle/>
          <a:p>
            <a:pPr>
              <a:defRPr sz="1000"/>
            </a:pPr>
            <a:endParaRPr lang="en-US"/>
          </a:p>
        </c:txPr>
        <c:crossAx val="2140495176"/>
        <c:crosses val="autoZero"/>
        <c:auto val="1"/>
        <c:lblAlgn val="ctr"/>
        <c:lblOffset val="100"/>
        <c:tickLblSkip val="5"/>
        <c:tickMarkSkip val="5"/>
        <c:noMultiLvlLbl val="0"/>
      </c:catAx>
      <c:valAx>
        <c:axId val="2140495176"/>
        <c:scaling>
          <c:orientation val="minMax"/>
          <c:max val="1.4"/>
          <c:min val="0"/>
        </c:scaling>
        <c:delete val="0"/>
        <c:axPos val="l"/>
        <c:majorGridlines>
          <c:spPr>
            <a:ln>
              <a:solidFill>
                <a:srgbClr val="D9DCE1"/>
              </a:solidFill>
            </a:ln>
          </c:spPr>
        </c:majorGridlines>
        <c:numFmt formatCode="General" sourceLinked="1"/>
        <c:majorTickMark val="out"/>
        <c:minorTickMark val="none"/>
        <c:tickLblPos val="nextTo"/>
        <c:txPr>
          <a:bodyPr/>
          <a:lstStyle/>
          <a:p>
            <a:pPr>
              <a:defRPr sz="1000"/>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solidFill>
            <a:srgbClr val="5F667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latin typeface="Times New Roman"/>
              </a:rPr>
              <a:t>Mean predicted change (% of pixels)</a:t>
            </a:r>
          </a:p>
        </c:rich>
      </c:tx>
      <c:layout/>
      <c:overlay val="0"/>
    </c:title>
    <c:autoTitleDeleted val="0"/>
    <c:plotArea>
      <c:barChart>
        <c:barDir val="bar"/>
        <c:grouping val="clustered"/>
        <c:ser>
          <c:idx val="0"/>
          <c:order val="0"/>
          <c:tx>
            <c:strRef>
              <c:f>Sheet1!$B$1</c:f>
              <c:strCache>
                <c:ptCount val="1"/>
                <c:pt idx="0">
                  <c:v>Changed pixels (%)</c:v>
                </c:pt>
              </c:strCache>
            </c:strRef>
          </c:tx>
          <c:spPr>
            <a:solidFill>
              <a:srgbClr val="1F497D"/>
            </a:solidFill>
          </c:spPr>
          <c:cat>
            <c:strRef>
              <c:f>Sheet1!$A$2:$A$6</c:f>
              <c:strCache>
                <c:ptCount val="5"/>
                <c:pt idx="0">
                  <c:v>Ensemble avg</c:v>
                </c:pt>
                <c:pt idx="1">
                  <c:v>v2 4-ch</c:v>
                </c:pt>
                <c:pt idx="2">
                  <c:v>Ensemble max</c:v>
                </c:pt>
                <c:pt idx="3">
                  <c:v>v2 3-ch</c:v>
                </c:pt>
                <c:pt idx="4">
                  <c:v>v1 (old)</c:v>
                </c:pt>
              </c:strCache>
            </c:strRef>
          </c:cat>
          <c:val>
            <c:numRef>
              <c:f>Sheet1!$B$2:$B$6</c:f>
              <c:numCache>
                <c:formatCode>General</c:formatCode>
                <c:ptCount val="5"/>
                <c:pt idx="0">
                  <c:v>1.32</c:v>
                </c:pt>
                <c:pt idx="1">
                  <c:v>1.82</c:v>
                </c:pt>
                <c:pt idx="2">
                  <c:v>4.44</c:v>
                </c:pt>
                <c:pt idx="3">
                  <c:v>7.92</c:v>
                </c:pt>
                <c:pt idx="4">
                  <c:v>9.71</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2.0"/>
          <c:min val="0.0"/>
        </c:scaling>
        <c:delete val="0"/>
        <c:axPos val="b"/>
        <c:majorGridlines>
          <c:spPr>
            <a:ln>
              <a:solidFill>
                <a:srgbClr val="DDDDDD"/>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200">
          <a:solidFill>
            <a:srgbClr val="1A1A1A"/>
          </a:solidFill>
          <a:latin typeface="Times New Roman"/>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latin typeface="Times New Roman"/>
              </a:rPr>
              <a:t>Test-set metrics (%)</a:t>
            </a:r>
          </a:p>
        </c:rich>
      </c:tx>
      <c:layout/>
      <c:overlay val="0"/>
    </c:title>
    <c:autoTitleDeleted val="0"/>
    <c:plotArea>
      <c:barChart>
        <c:barDir val="col"/>
        <c:grouping val="clustered"/>
        <c:ser>
          <c:idx val="0"/>
          <c:order val="0"/>
          <c:tx>
            <c:strRef>
              <c:f>Sheet1!$B$1</c:f>
              <c:strCache>
                <c:ptCount val="1"/>
                <c:pt idx="0">
                  <c:v>Final model</c:v>
                </c:pt>
              </c:strCache>
            </c:strRef>
          </c:tx>
          <c:spPr>
            <a:solidFill>
              <a:srgbClr val="1F497D"/>
            </a:solidFill>
          </c:spPr>
          <c:cat>
            <c:strRef>
              <c:f>Sheet1!$A$2:$A$5</c:f>
              <c:strCache>
                <c:ptCount val="4"/>
                <c:pt idx="0">
                  <c:v>Precision</c:v>
                </c:pt>
                <c:pt idx="1">
                  <c:v>Recall</c:v>
                </c:pt>
                <c:pt idx="2">
                  <c:v>F1</c:v>
                </c:pt>
                <c:pt idx="3">
                  <c:v>IoU</c:v>
                </c:pt>
              </c:strCache>
            </c:strRef>
          </c:cat>
          <c:val>
            <c:numRef>
              <c:f>Sheet1!$B$2:$B$5</c:f>
              <c:numCache>
                <c:formatCode>General</c:formatCode>
                <c:ptCount val="4"/>
                <c:pt idx="0">
                  <c:v>91.76</c:v>
                </c:pt>
                <c:pt idx="1">
                  <c:v>90.59</c:v>
                </c:pt>
                <c:pt idx="2">
                  <c:v>91.17</c:v>
                </c:pt>
                <c:pt idx="3">
                  <c:v>83.78</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0.0"/>
          <c:min val="0.0"/>
        </c:scaling>
        <c:delete val="0"/>
        <c:axPos val="l"/>
        <c:majorGridlines>
          <c:spPr>
            <a:ln>
              <a:solidFill>
                <a:srgbClr val="DDDDDD"/>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200">
          <a:solidFill>
            <a:srgbClr val="1A1A1A"/>
          </a:solidFill>
          <a:latin typeface="Times New Roman"/>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latin typeface="Times New Roman"/>
              </a:rPr>
              <a:t>F1 (%) vs. share of changed pixels in the image</a:t>
            </a:r>
          </a:p>
        </c:rich>
      </c:tx>
      <c:layout/>
      <c:overlay val="0"/>
    </c:title>
    <c:autoTitleDeleted val="0"/>
    <c:plotArea>
      <c:barChart>
        <c:barDir val="col"/>
        <c:grouping val="clustered"/>
        <c:ser>
          <c:idx val="0"/>
          <c:order val="0"/>
          <c:tx>
            <c:strRef>
              <c:f>Sheet1!$B$1</c:f>
              <c:strCache>
                <c:ptCount val="1"/>
                <c:pt idx="0">
                  <c:v>F1</c:v>
                </c:pt>
              </c:strCache>
            </c:strRef>
          </c:tx>
          <c:spPr>
            <a:solidFill>
              <a:srgbClr val="C00000"/>
            </a:solidFill>
          </c:spPr>
          <c:cat>
            <c:strRef>
              <c:f>Sheet1!$A$2:$A$6</c:f>
              <c:strCache>
                <c:ptCount val="5"/>
                <c:pt idx="0">
                  <c:v>&lt; 1 %</c:v>
                </c:pt>
                <c:pt idx="1">
                  <c:v>1–3 %</c:v>
                </c:pt>
                <c:pt idx="2">
                  <c:v>3–6 %</c:v>
                </c:pt>
                <c:pt idx="3">
                  <c:v>6–10 %</c:v>
                </c:pt>
                <c:pt idx="4">
                  <c:v>&gt; 10 %</c:v>
                </c:pt>
              </c:strCache>
            </c:strRef>
          </c:cat>
          <c:val>
            <c:numRef>
              <c:f>Sheet1!$B$2:$B$6</c:f>
              <c:numCache>
                <c:formatCode>General</c:formatCode>
                <c:ptCount val="5"/>
                <c:pt idx="0">
                  <c:v>84.5</c:v>
                </c:pt>
                <c:pt idx="1">
                  <c:v>87.7</c:v>
                </c:pt>
                <c:pt idx="2">
                  <c:v>89.6</c:v>
                </c:pt>
                <c:pt idx="3">
                  <c:v>91.1</c:v>
                </c:pt>
                <c:pt idx="4">
                  <c:v>92.4</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0.0"/>
          <c:min val="70.0"/>
        </c:scaling>
        <c:delete val="0"/>
        <c:axPos val="l"/>
        <c:majorGridlines>
          <c:spPr>
            <a:ln>
              <a:solidFill>
                <a:srgbClr val="DDDDDD"/>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200">
          <a:solidFill>
            <a:srgbClr val="1A1A1A"/>
          </a:solidFill>
          <a:latin typeface="Times New Roman"/>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latin typeface="Times New Roman"/>
              </a:rPr>
              <a:t>Test F1 (%)</a:t>
            </a:r>
          </a:p>
        </c:rich>
      </c:tx>
      <c:layout/>
      <c:overlay val="0"/>
    </c:title>
    <c:autoTitleDeleted val="0"/>
    <c:plotArea>
      <c:barChart>
        <c:barDir val="col"/>
        <c:grouping val="clustered"/>
        <c:ser>
          <c:idx val="0"/>
          <c:order val="0"/>
          <c:tx>
            <c:strRef>
              <c:f>Sheet1!$B$1</c:f>
              <c:strCache>
                <c:ptCount val="1"/>
                <c:pt idx="0">
                  <c:v>F1</c:v>
                </c:pt>
              </c:strCache>
            </c:strRef>
          </c:tx>
          <c:spPr>
            <a:solidFill>
              <a:srgbClr val="1F497D"/>
            </a:solidFill>
          </c:spPr>
          <c:dPt>
            <c:idx val="0"/>
            <c:spPr>
              <a:solidFill>
                <a:srgbClr val="A6A6A6"/>
              </a:solidFill>
            </c:spPr>
          </c:dPt>
          <c:dPt>
            <c:idx val="3"/>
            <c:spPr>
              <a:solidFill>
                <a:srgbClr val="C00000"/>
              </a:solidFill>
            </c:spPr>
          </c:dPt>
          <c:cat>
            <c:strRef>
              <c:f>Sheet1!$A$2:$A$5</c:f>
              <c:strCache>
                <c:ptCount val="4"/>
                <c:pt idx="0">
                  <c:v>v1</c:v>
                </c:pt>
                <c:pt idx="1">
                  <c:v>v2 no TTA</c:v>
                </c:pt>
                <c:pt idx="2">
                  <c:v>v2 + TTA</c:v>
                </c:pt>
                <c:pt idx="3">
                  <c:v>RGB only</c:v>
                </c:pt>
              </c:strCache>
            </c:strRef>
          </c:cat>
          <c:val>
            <c:numRef>
              <c:f>Sheet1!$B$2:$B$5</c:f>
              <c:numCache>
                <c:formatCode>General</c:formatCode>
                <c:ptCount val="4"/>
                <c:pt idx="0">
                  <c:v>77.12</c:v>
                </c:pt>
                <c:pt idx="1">
                  <c:v>90.77</c:v>
                </c:pt>
                <c:pt idx="2">
                  <c:v>91.17</c:v>
                </c:pt>
                <c:pt idx="3">
                  <c:v>91.63</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95.0"/>
          <c:min val="70.0"/>
        </c:scaling>
        <c:delete val="0"/>
        <c:axPos val="l"/>
        <c:majorGridlines>
          <c:spPr>
            <a:ln>
              <a:solidFill>
                <a:srgbClr val="DDDDDD"/>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200">
          <a:solidFill>
            <a:srgbClr val="1A1A1A"/>
          </a:solidFill>
          <a:latin typeface="Times New Roman"/>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latin typeface="Times New Roman"/>
              </a:rPr>
              <a:t>F1-score (%)</a:t>
            </a:r>
          </a:p>
        </c:rich>
      </c:tx>
      <c:layout/>
      <c:overlay val="0"/>
    </c:title>
    <c:autoTitleDeleted val="0"/>
    <c:plotArea>
      <c:barChart>
        <c:barDir val="col"/>
        <c:grouping val="clustered"/>
        <c:ser>
          <c:idx val="0"/>
          <c:order val="0"/>
          <c:tx>
            <c:strRef>
              <c:f>Sheet1!$B$1</c:f>
              <c:strCache>
                <c:ptCount val="1"/>
                <c:pt idx="0">
                  <c:v>v1 old</c:v>
                </c:pt>
              </c:strCache>
            </c:strRef>
          </c:tx>
          <c:spPr>
            <a:solidFill>
              <a:srgbClr val="2A78D6"/>
            </a:solidFill>
            <a:ln>
              <a:solidFill>
                <a:srgbClr val="FFFFFF"/>
              </a:solidFill>
            </a:ln>
          </c:spPr>
          <c:cat>
            <c:strRef>
              <c:f>Sheet1!$A$2:$A$3</c:f>
              <c:strCache>
                <c:ptCount val="2"/>
                <c:pt idx="0">
                  <c:v>LEVIR-CD test</c:v>
                </c:pt>
                <c:pt idx="1">
                  <c:v>WHU-CD test</c:v>
                </c:pt>
              </c:strCache>
            </c:strRef>
          </c:cat>
          <c:val>
            <c:numRef>
              <c:f>Sheet1!$B$2:$B$3</c:f>
              <c:numCache>
                <c:formatCode>General</c:formatCode>
                <c:ptCount val="2"/>
                <c:pt idx="0">
                  <c:v>78.21</c:v>
                </c:pt>
                <c:pt idx="1">
                  <c:v>66.72</c:v>
                </c:pt>
              </c:numCache>
            </c:numRef>
          </c:val>
        </c:ser>
        <c:ser>
          <c:idx val="1"/>
          <c:order val="1"/>
          <c:tx>
            <c:strRef>
              <c:f>Sheet1!$C$1</c:f>
              <c:strCache>
                <c:ptCount val="1"/>
                <c:pt idx="0">
                  <c:v>v2 4-ch</c:v>
                </c:pt>
              </c:strCache>
            </c:strRef>
          </c:tx>
          <c:spPr>
            <a:solidFill>
              <a:srgbClr val="EB6834"/>
            </a:solidFill>
            <a:ln>
              <a:solidFill>
                <a:srgbClr val="FFFFFF"/>
              </a:solidFill>
            </a:ln>
          </c:spPr>
          <c:cat>
            <c:strRef>
              <c:f>Sheet1!$A$2:$A$3</c:f>
              <c:strCache>
                <c:ptCount val="2"/>
                <c:pt idx="0">
                  <c:v>LEVIR-CD test</c:v>
                </c:pt>
                <c:pt idx="1">
                  <c:v>WHU-CD test</c:v>
                </c:pt>
              </c:strCache>
            </c:strRef>
          </c:cat>
          <c:val>
            <c:numRef>
              <c:f>Sheet1!$C$2:$C$3</c:f>
              <c:numCache>
                <c:formatCode>General</c:formatCode>
                <c:ptCount val="2"/>
                <c:pt idx="0">
                  <c:v>91.17</c:v>
                </c:pt>
                <c:pt idx="1">
                  <c:v>82.85</c:v>
                </c:pt>
              </c:numCache>
            </c:numRef>
          </c:val>
        </c:ser>
        <c:ser>
          <c:idx val="2"/>
          <c:order val="2"/>
          <c:tx>
            <c:strRef>
              <c:f>Sheet1!$D$1</c:f>
              <c:strCache>
                <c:ptCount val="1"/>
                <c:pt idx="0">
                  <c:v>v2 3-ch</c:v>
                </c:pt>
              </c:strCache>
            </c:strRef>
          </c:tx>
          <c:spPr>
            <a:solidFill>
              <a:srgbClr val="1BAF7A"/>
            </a:solidFill>
            <a:ln>
              <a:solidFill>
                <a:srgbClr val="FFFFFF"/>
              </a:solidFill>
            </a:ln>
          </c:spPr>
          <c:cat>
            <c:strRef>
              <c:f>Sheet1!$A$2:$A$3</c:f>
              <c:strCache>
                <c:ptCount val="2"/>
                <c:pt idx="0">
                  <c:v>LEVIR-CD test</c:v>
                </c:pt>
                <c:pt idx="1">
                  <c:v>WHU-CD test</c:v>
                </c:pt>
              </c:strCache>
            </c:strRef>
          </c:cat>
          <c:val>
            <c:numRef>
              <c:f>Sheet1!$D$2:$D$3</c:f>
              <c:numCache>
                <c:formatCode>General</c:formatCode>
                <c:ptCount val="2"/>
                <c:pt idx="0">
                  <c:v>91.69</c:v>
                </c:pt>
                <c:pt idx="1">
                  <c:v>83.09</c:v>
                </c:pt>
              </c:numCache>
            </c:numRef>
          </c:val>
        </c:ser>
        <c:ser>
          <c:idx val="3"/>
          <c:order val="3"/>
          <c:tx>
            <c:strRef>
              <c:f>Sheet1!$E$1</c:f>
              <c:strCache>
                <c:ptCount val="1"/>
                <c:pt idx="0">
                  <c:v>Ens. avg</c:v>
                </c:pt>
              </c:strCache>
            </c:strRef>
          </c:tx>
          <c:spPr>
            <a:solidFill>
              <a:srgbClr val="EDA100"/>
            </a:solidFill>
            <a:ln>
              <a:solidFill>
                <a:srgbClr val="FFFFFF"/>
              </a:solidFill>
            </a:ln>
          </c:spPr>
          <c:cat>
            <c:strRef>
              <c:f>Sheet1!$A$2:$A$3</c:f>
              <c:strCache>
                <c:ptCount val="2"/>
                <c:pt idx="0">
                  <c:v>LEVIR-CD test</c:v>
                </c:pt>
                <c:pt idx="1">
                  <c:v>WHU-CD test</c:v>
                </c:pt>
              </c:strCache>
            </c:strRef>
          </c:cat>
          <c:val>
            <c:numRef>
              <c:f>Sheet1!$E$2:$E$3</c:f>
              <c:numCache>
                <c:formatCode>General</c:formatCode>
                <c:ptCount val="2"/>
                <c:pt idx="0">
                  <c:v>89.13</c:v>
                </c:pt>
                <c:pt idx="1">
                  <c:v>83.01</c:v>
                </c:pt>
              </c:numCache>
            </c:numRef>
          </c:val>
        </c:ser>
        <c:ser>
          <c:idx val="4"/>
          <c:order val="4"/>
          <c:tx>
            <c:strRef>
              <c:f>Sheet1!$F$1</c:f>
              <c:strCache>
                <c:ptCount val="1"/>
                <c:pt idx="0">
                  <c:v>Ens. max</c:v>
                </c:pt>
              </c:strCache>
            </c:strRef>
          </c:tx>
          <c:spPr>
            <a:solidFill>
              <a:srgbClr val="E87BA4"/>
            </a:solidFill>
            <a:ln>
              <a:solidFill>
                <a:srgbClr val="FFFFFF"/>
              </a:solidFill>
            </a:ln>
          </c:spPr>
          <c:cat>
            <c:strRef>
              <c:f>Sheet1!$A$2:$A$3</c:f>
              <c:strCache>
                <c:ptCount val="2"/>
                <c:pt idx="0">
                  <c:v>LEVIR-CD test</c:v>
                </c:pt>
                <c:pt idx="1">
                  <c:v>WHU-CD test</c:v>
                </c:pt>
              </c:strCache>
            </c:strRef>
          </c:cat>
          <c:val>
            <c:numRef>
              <c:f>Sheet1!$F$2:$F$3</c:f>
              <c:numCache>
                <c:formatCode>General</c:formatCode>
                <c:ptCount val="2"/>
                <c:pt idx="0">
                  <c:v>87.18</c:v>
                </c:pt>
                <c:pt idx="1">
                  <c:v>76.81</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overlap val="-8"/>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0.0"/>
          <c:min val="0.0"/>
        </c:scaling>
        <c:delete val="0"/>
        <c:axPos val="l"/>
        <c:majorGridlines>
          <c:spPr>
            <a:ln>
              <a:solidFill>
                <a:srgbClr val="DDDDDD"/>
              </a:solidFill>
            </a:ln>
          </c:spPr>
        </c:majorGridlines>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200">
          <a:solidFill>
            <a:srgbClr val="1A1A1A"/>
          </a:solidFill>
          <a:latin typeface="Times New Roman"/>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latin typeface="Times New Roman"/>
              </a:rPr>
              <a:t>False-positive pixels per image (%)</a:t>
            </a:r>
          </a:p>
        </c:rich>
      </c:tx>
      <c:layout/>
      <c:overlay val="0"/>
    </c:title>
    <c:autoTitleDeleted val="0"/>
    <c:plotArea>
      <c:barChart>
        <c:barDir val="col"/>
        <c:grouping val="clustered"/>
        <c:ser>
          <c:idx val="0"/>
          <c:order val="0"/>
          <c:tx>
            <c:strRef>
              <c:f>Sheet1!$B$1</c:f>
              <c:strCache>
                <c:ptCount val="1"/>
                <c:pt idx="0">
                  <c:v>Images</c:v>
                </c:pt>
              </c:strCache>
            </c:strRef>
          </c:tx>
          <c:spPr>
            <a:solidFill>
              <a:srgbClr val="C00000"/>
            </a:solidFill>
          </c:spPr>
          <c:cat>
            <c:strRef>
              <c:f>Sheet1!$A$2:$A$6</c:f>
              <c:strCache>
                <c:ptCount val="5"/>
                <c:pt idx="0">
                  <c:v>0–0.25</c:v>
                </c:pt>
                <c:pt idx="1">
                  <c:v>0.25–0.5</c:v>
                </c:pt>
                <c:pt idx="2">
                  <c:v>0.5–1</c:v>
                </c:pt>
                <c:pt idx="3">
                  <c:v>1–2</c:v>
                </c:pt>
                <c:pt idx="4">
                  <c:v>2–5</c:v>
                </c:pt>
              </c:strCache>
            </c:strRef>
          </c:cat>
          <c:val>
            <c:numRef>
              <c:f>Sheet1!$B$2:$B$6</c:f>
              <c:numCache>
                <c:formatCode>General</c:formatCode>
                <c:ptCount val="5"/>
                <c:pt idx="0">
                  <c:v>63</c:v>
                </c:pt>
                <c:pt idx="1">
                  <c:v>22</c:v>
                </c:pt>
                <c:pt idx="2">
                  <c:v>30</c:v>
                </c:pt>
                <c:pt idx="3">
                  <c:v>12</c:v>
                </c:pt>
                <c:pt idx="4">
                  <c:v>1</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DDDDDD"/>
              </a:solidFill>
            </a:ln>
          </c:spPr>
        </c:majorGridlines>
        <c:title>
          <c:tx>
            <c:rich>
              <a:bodyPr/>
              <a:lstStyle/>
              <a:p>
                <a:r>
                  <a:rPr sz="1100"/>
                  <a:t>Number of images</a:t>
                </a:r>
              </a:p>
            </c:rich>
          </c:tx>
          <c:layout/>
          <c:overlay val="0"/>
        </c:title>
        <c:majorTickMark val="out"/>
        <c:minorTickMark val="none"/>
        <c:tickLblPos val="nextTo"/>
        <c:txPr>
          <a:bodyPr/>
          <a:lstStyle/>
          <a:p>
            <a:pPr>
              <a:defRPr sz="1100"/>
            </a:pPr>
          </a:p>
        </c:txPr>
        <c:crossAx val="-2068027336"/>
        <c:crosses val="autoZero"/>
      </c:valAx>
    </c:plotArea>
    <c:dispBlanksAs val="gap"/>
  </c:chart>
  <c:txPr>
    <a:bodyPr/>
    <a:lstStyle/>
    <a:p>
      <a:pPr>
        <a:defRPr sz="1200">
          <a:solidFill>
            <a:srgbClr val="1A1A1A"/>
          </a:solidFill>
          <a:latin typeface="Times New Roman"/>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latin typeface="Times New Roman"/>
              </a:rPr>
              <a:t>False-negative pixels per image (%)</a:t>
            </a:r>
          </a:p>
        </c:rich>
      </c:tx>
      <c:layout/>
      <c:overlay val="0"/>
    </c:title>
    <c:autoTitleDeleted val="0"/>
    <c:plotArea>
      <c:barChart>
        <c:barDir val="col"/>
        <c:grouping val="clustered"/>
        <c:ser>
          <c:idx val="0"/>
          <c:order val="0"/>
          <c:tx>
            <c:strRef>
              <c:f>Sheet1!$B$1</c:f>
              <c:strCache>
                <c:ptCount val="1"/>
                <c:pt idx="0">
                  <c:v>Images</c:v>
                </c:pt>
              </c:strCache>
            </c:strRef>
          </c:tx>
          <c:spPr>
            <a:solidFill>
              <a:srgbClr val="1F497D"/>
            </a:solidFill>
          </c:spPr>
          <c:cat>
            <c:strRef>
              <c:f>Sheet1!$A$2:$A$6</c:f>
              <c:strCache>
                <c:ptCount val="5"/>
                <c:pt idx="0">
                  <c:v>0–0.25</c:v>
                </c:pt>
                <c:pt idx="1">
                  <c:v>0.25–0.5</c:v>
                </c:pt>
                <c:pt idx="2">
                  <c:v>0.5–1</c:v>
                </c:pt>
                <c:pt idx="3">
                  <c:v>1–2</c:v>
                </c:pt>
                <c:pt idx="4">
                  <c:v>2–5</c:v>
                </c:pt>
              </c:strCache>
            </c:strRef>
          </c:cat>
          <c:val>
            <c:numRef>
              <c:f>Sheet1!$B$2:$B$6</c:f>
              <c:numCache>
                <c:formatCode>General</c:formatCode>
                <c:ptCount val="5"/>
                <c:pt idx="0">
                  <c:v>57</c:v>
                </c:pt>
                <c:pt idx="1">
                  <c:v>21</c:v>
                </c:pt>
                <c:pt idx="2">
                  <c:v>37</c:v>
                </c:pt>
                <c:pt idx="3">
                  <c:v>10</c:v>
                </c:pt>
                <c:pt idx="4">
                  <c:v>3</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DDDDDD"/>
              </a:solidFill>
            </a:ln>
          </c:spPr>
        </c:majorGridlines>
        <c:title>
          <c:tx>
            <c:rich>
              <a:bodyPr/>
              <a:lstStyle/>
              <a:p>
                <a:r>
                  <a:rPr sz="1100"/>
                  <a:t>Number of images</a:t>
                </a:r>
              </a:p>
            </c:rich>
          </c:tx>
          <c:layout/>
          <c:overlay val="0"/>
        </c:title>
        <c:majorTickMark val="out"/>
        <c:minorTickMark val="none"/>
        <c:tickLblPos val="nextTo"/>
        <c:txPr>
          <a:bodyPr/>
          <a:lstStyle/>
          <a:p>
            <a:pPr>
              <a:defRPr sz="1100"/>
            </a:pPr>
          </a:p>
        </c:txPr>
        <c:crossAx val="-2068027336"/>
        <c:crosses val="autoZero"/>
      </c:valAx>
    </c:plotArea>
    <c:dispBlanksAs val="gap"/>
  </c:chart>
  <c:txPr>
    <a:bodyPr/>
    <a:lstStyle/>
    <a:p>
      <a:pPr>
        <a:defRPr sz="1200">
          <a:solidFill>
            <a:srgbClr val="1A1A1A"/>
          </a:solidFill>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02414577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0696710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9/29/26</a:t>
            </a:fld>
            <a:endParaRPr lang="en-US"/>
          </a:p>
        </p:txBody>
      </p:sp>
      <p:sp>
        <p:nvSpPr>
          <p:cNvPr id="1603600925"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774327170"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74033362"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95519211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r>
              <a:t>[Md. Ahasan Habib Kawsar (2206119) · about 21 s]</a:t>
            </a:r>
          </a:p>
          <a:p/>
          <a:p>
            <a:r>
              <a:t>Assalamu Alaikum. We are Group 04 from Section B2 of EEE 312, Digital Signal Processing One Laboratory. Our project is Digital Signal Processing and Deep Learning-Based Urban Change Detection Using Satellite Imagery. I am Md. Ahasan Habib Kawsar, and my teammates are Mustasin Rahman, Fahim Shahriyar and Md. Kawsar Ahmed.</a:t>
            </a:r>
          </a:p>
        </p:txBody>
      </p:sp>
      <p:sp>
        <p:nvSpPr>
          <p:cNvPr id="4" name="Slide Number Placeholder 3"/>
          <p:cNvSpPr>
            <a:spLocks noGrp="1"/>
          </p:cNvSpPr>
          <p:nvPr>
            <p:ph type="sldNum" sz="quarter" idx="10"/>
          </p:nvPr>
        </p:nvSpPr>
        <p:spPr bwMode="auto"/>
        <p:txBody>
          <a:bodyPr/>
          <a:lstStyle/>
          <a:p>
            <a:pPr>
              <a:defRPr/>
            </a:pPr>
            <a:fld id="{3B125087-D65E-02E3-B7A8-D50C53C050F8}"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r>
              <a:t>[Md. Ahasan Habib Kawsar (2206119) · about 12 s]</a:t>
            </a:r>
          </a:p>
          <a:p/>
          <a:p>
            <a:r>
              <a:t>We will summarise the project, explain the problem and our design, demonstrate the software, evaluate the results against the program outcomes, and finish with teamwork, future work and references.</a:t>
            </a:r>
          </a:p>
        </p:txBody>
      </p:sp>
      <p:sp>
        <p:nvSpPr>
          <p:cNvPr id="4" name="Slide Number Placeholder 3"/>
          <p:cNvSpPr>
            <a:spLocks noGrp="1"/>
          </p:cNvSpPr>
          <p:nvPr>
            <p:ph type="sldNum" sz="quarter" idx="10"/>
          </p:nvPr>
        </p:nvSpPr>
        <p:spPr bwMode="auto"/>
        <p:txBody>
          <a:bodyPr/>
          <a:lstStyle/>
          <a:p>
            <a:pPr>
              <a:defRPr/>
            </a:pPr>
            <a:fld id="{2C3AD3CA-2050-2F3B-A429-0348B90A2F78}"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r>
              <a:t>[Md. Ahasan Habib Kawsar (2206119) · about 25 s]</a:t>
            </a:r>
          </a:p>
          <a:p/>
          <a:p>
            <a:r>
              <a:t>Our system takes two satellite images of the same place, taken years apart, and marks every pixel where a building has appeared. A Gaussian filter and the Canny detector extract edges as a fourth input channel, and a Siamese network compares the two dates. On 128 unseen test images it reaches 91.2 percent F1 and 83.8 percent IoU.</a:t>
            </a:r>
          </a:p>
        </p:txBody>
      </p:sp>
      <p:sp>
        <p:nvSpPr>
          <p:cNvPr id="4" name="Slide Number Placeholder 3"/>
          <p:cNvSpPr>
            <a:spLocks noGrp="1"/>
          </p:cNvSpPr>
          <p:nvPr>
            <p:ph type="sldNum" sz="quarter" idx="10"/>
          </p:nvPr>
        </p:nvSpPr>
        <p:spPr bwMode="auto"/>
        <p:txBody>
          <a:bodyPr/>
          <a:lstStyle/>
          <a:p>
            <a:pPr>
              <a:defRPr/>
            </a:pPr>
            <a:fld id="{E58E6881-85ED-0B0E-3EE3-F8ACA9683495}"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r>
              <a:t>[Md. Ahasan Habib Kawsar (2206119) · about 26 s]</a:t>
            </a:r>
          </a:p>
          <a:p/>
          <a:p>
            <a:r>
              <a:t>Cities like Dhaka grow faster than manual surveys can map them, so planners need an automatic way to find new construction and post-disaster damage. The task is hard for three reasons: shadows and seasons change the image even when nothing is built; only a small fraction of pixels actually change; and a house is only ten to twenty pixels wide.</a:t>
            </a:r>
          </a:p>
        </p:txBody>
      </p:sp>
      <p:sp>
        <p:nvSpPr>
          <p:cNvPr id="4" name="Slide Number Placeholder 3"/>
          <p:cNvSpPr>
            <a:spLocks noGrp="1"/>
          </p:cNvSpPr>
          <p:nvPr>
            <p:ph type="sldNum" sz="quarter" idx="10"/>
          </p:nvPr>
        </p:nvSpPr>
        <p:spPr bwMode="auto"/>
        <p:txBody>
          <a:bodyPr/>
          <a:lstStyle/>
          <a:p>
            <a:pPr>
              <a:defRPr/>
            </a:pPr>
            <a:fld id="{F1EFD314-E02E-5C77-D713-8217290B45BF}"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r>
              <a:t>[Fahim Shahriyar (2206114) · about 29 s]</a:t>
            </a:r>
          </a:p>
          <a:p/>
          <a:p>
            <a:r>
              <a:t>Classical methods simply subtract the two images, which is fast but very sensitive to lighting. Siamese networks pass both images through the same encoder, and attention and transformer models such as STANet, BIT and ChangeFormer reach around ninety percent F1. We combine explicit DSP edge features with attention in a network that trains on a laptop. The chart compares our F1 with published results; the protocols differ slightly.</a:t>
            </a:r>
          </a:p>
        </p:txBody>
      </p:sp>
      <p:sp>
        <p:nvSpPr>
          <p:cNvPr id="4" name="Slide Number Placeholder 3"/>
          <p:cNvSpPr>
            <a:spLocks noGrp="1"/>
          </p:cNvSpPr>
          <p:nvPr>
            <p:ph type="sldNum" sz="quarter" idx="10"/>
          </p:nvPr>
        </p:nvSpPr>
        <p:spPr bwMode="auto"/>
        <p:txBody>
          <a:bodyPr/>
          <a:lstStyle/>
          <a:p>
            <a:pPr>
              <a:defRPr/>
            </a:pPr>
            <a:fld id="{C65A79F8-E25F-D120-9AFF-E622A24EF455}"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r>
              <a:t>[Md. Ahasan Habib Kawsar (2206119) · about 14 s]</a:t>
            </a:r>
          </a:p>
          <a:p/>
          <a:p>
            <a:r>
              <a:t>This is our complete design flow in six steps: data preparation, preprocessing, DSP feature engineering, the Siamese U-Net model, training, and finally evaluation and demonstration. My teammates will now explain each step.</a:t>
            </a:r>
          </a:p>
        </p:txBody>
      </p:sp>
      <p:sp>
        <p:nvSpPr>
          <p:cNvPr id="4" name="Slide Number Placeholder 3"/>
          <p:cNvSpPr>
            <a:spLocks noGrp="1"/>
          </p:cNvSpPr>
          <p:nvPr>
            <p:ph type="sldNum" sz="quarter" idx="10"/>
          </p:nvPr>
        </p:nvSpPr>
        <p:spPr bwMode="auto"/>
        <p:txBody>
          <a:bodyPr/>
          <a:lstStyle/>
          <a:p>
            <a:pPr>
              <a:defRPr/>
            </a:pPr>
            <a:fld id="{F66BEE2F-526A-22F9-1F1B-5D58D7597552}"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58163511" name="Slide Image Placeholder 1"/>
          <p:cNvSpPr>
            <a:spLocks noGrp="1" noRot="1" noChangeAspect="1"/>
          </p:cNvSpPr>
          <p:nvPr>
            <p:ph type="sldImg"/>
          </p:nvPr>
        </p:nvSpPr>
        <p:spPr bwMode="auto"/>
        <p:txBody>
          <a:bodyPr/>
          <a:lstStyle/>
          <a:p>
            <a:endParaRPr lang="en-US"/>
          </a:p>
        </p:txBody>
      </p:sp>
      <p:sp>
        <p:nvSpPr>
          <p:cNvPr id="166736790" name="Notes Placeholder 2"/>
          <p:cNvSpPr>
            <a:spLocks noGrp="1"/>
          </p:cNvSpPr>
          <p:nvPr>
            <p:ph type="body" idx="1"/>
          </p:nvPr>
        </p:nvSpPr>
        <p:spPr bwMode="auto"/>
        <p:txBody>
          <a:bodyPr/>
          <a:lstStyle/>
          <a:p>
            <a:r>
              <a:t>[Mustasin Rahman (2206104) · about 22 s]</a:t>
            </a:r>
          </a:p>
          <a:p/>
          <a:p>
            <a:r>
              <a:t>I am Mustasin Rahman. We use the LEVIR-CD dataset: 637 pairs of before and after images, each 1024 by 1024 pixels at half a metre per pixel, with a ground-truth mask that marks every changed pixel. The official split is 445 pairs for training, 64 for validation and 128 for testing.</a:t>
            </a:r>
          </a:p>
        </p:txBody>
      </p:sp>
      <p:sp>
        <p:nvSpPr>
          <p:cNvPr id="875900301"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64215792" name="Slide Image Placeholder 1"/>
          <p:cNvSpPr>
            <a:spLocks noGrp="1" noRot="1" noChangeAspect="1"/>
          </p:cNvSpPr>
          <p:nvPr>
            <p:ph type="sldImg"/>
          </p:nvPr>
        </p:nvSpPr>
        <p:spPr bwMode="auto"/>
        <p:txBody>
          <a:bodyPr/>
          <a:lstStyle/>
          <a:p>
            <a:endParaRPr lang="en-US"/>
          </a:p>
        </p:txBody>
      </p:sp>
      <p:sp>
        <p:nvSpPr>
          <p:cNvPr id="1033778156" name="Notes Placeholder 2"/>
          <p:cNvSpPr>
            <a:spLocks noGrp="1"/>
          </p:cNvSpPr>
          <p:nvPr>
            <p:ph type="body" idx="1"/>
          </p:nvPr>
        </p:nvSpPr>
        <p:spPr bwMode="auto"/>
        <p:txBody>
          <a:bodyPr/>
          <a:lstStyle/>
          <a:p>
            <a:r>
              <a:t>[Mustasin Rahman (2206104) · about 27 s]</a:t>
            </a:r>
          </a:p>
          <a:p/>
          <a:p>
            <a:r>
              <a:t>Instead of shrinking the images, we cut random 256 by 256 crops at full resolution, so small buildings keep their detail. Flips and rotations are applied identically to both dates and the mask, while brightness and colour are changed separately for each date. Every channel is then standardised. At test time, the full image is covered by 25 overlapping tiles that are blended smoothly.</a:t>
            </a:r>
          </a:p>
        </p:txBody>
      </p:sp>
      <p:sp>
        <p:nvSpPr>
          <p:cNvPr id="116222559"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54166842" name="Slide Image Placeholder 1"/>
          <p:cNvSpPr>
            <a:spLocks noGrp="1" noRot="1" noChangeAspect="1"/>
          </p:cNvSpPr>
          <p:nvPr>
            <p:ph type="sldImg"/>
          </p:nvPr>
        </p:nvSpPr>
        <p:spPr bwMode="auto"/>
        <p:txBody>
          <a:bodyPr/>
          <a:lstStyle/>
          <a:p>
            <a:endParaRPr lang="en-US"/>
          </a:p>
        </p:txBody>
      </p:sp>
      <p:sp>
        <p:nvSpPr>
          <p:cNvPr id="938623740" name="Notes Placeholder 2"/>
          <p:cNvSpPr>
            <a:spLocks noGrp="1"/>
          </p:cNvSpPr>
          <p:nvPr>
            <p:ph type="body" idx="1"/>
          </p:nvPr>
        </p:nvSpPr>
        <p:spPr bwMode="auto"/>
        <p:txBody>
          <a:bodyPr/>
          <a:lstStyle/>
          <a:p>
            <a:r>
              <a:t>[Mustasin Rahman (2206104) · about 17 s]</a:t>
            </a:r>
          </a:p>
          <a:p/>
          <a:p>
            <a:r>
              <a:t>Our DSP front-end turns each RGB image into a four-channel input. The image is converted to grayscale, smoothed with a Gaussian filter, and passed through the Canny edge detector; the edge map is then stacked with the original colour channels.</a:t>
            </a:r>
          </a:p>
        </p:txBody>
      </p:sp>
      <p:sp>
        <p:nvSpPr>
          <p:cNvPr id="1070119047"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6106206" name="Slide Image Placeholder 1"/>
          <p:cNvSpPr>
            <a:spLocks noGrp="1" noRot="1" noChangeAspect="1"/>
          </p:cNvSpPr>
          <p:nvPr>
            <p:ph type="sldImg"/>
          </p:nvPr>
        </p:nvSpPr>
        <p:spPr bwMode="auto"/>
        <p:txBody>
          <a:bodyPr/>
          <a:lstStyle/>
          <a:p>
            <a:endParaRPr lang="en-US"/>
          </a:p>
        </p:txBody>
      </p:sp>
      <p:sp>
        <p:nvSpPr>
          <p:cNvPr id="1126883166" name="Notes Placeholder 2"/>
          <p:cNvSpPr>
            <a:spLocks noGrp="1"/>
          </p:cNvSpPr>
          <p:nvPr>
            <p:ph type="body" idx="1"/>
          </p:nvPr>
        </p:nvSpPr>
        <p:spPr bwMode="auto"/>
        <p:txBody>
          <a:bodyPr/>
          <a:lstStyle/>
          <a:p>
            <a:r>
              <a:t>[Mustasin Rahman (2206104) · about 15 s]</a:t>
            </a:r>
          </a:p>
          <a:p/>
          <a:p>
            <a:r>
              <a:t>Grayscale conversion uses the ITU-R BT.601 weights: Y equals 0.299 R plus 0.587 G plus 0.114 B. This reduces three colour channels to one intensity map while keeping the geometry of buildings for gradient analysis.</a:t>
            </a:r>
          </a:p>
        </p:txBody>
      </p:sp>
      <p:sp>
        <p:nvSpPr>
          <p:cNvPr id="643373422"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80863049" name="Slide Image Placeholder 1"/>
          <p:cNvSpPr>
            <a:spLocks noGrp="1" noRot="1" noChangeAspect="1"/>
          </p:cNvSpPr>
          <p:nvPr>
            <p:ph type="sldImg"/>
          </p:nvPr>
        </p:nvSpPr>
        <p:spPr bwMode="auto"/>
        <p:txBody>
          <a:bodyPr/>
          <a:lstStyle/>
          <a:p>
            <a:endParaRPr lang="en-US"/>
          </a:p>
        </p:txBody>
      </p:sp>
      <p:sp>
        <p:nvSpPr>
          <p:cNvPr id="1241113607" name="Notes Placeholder 2"/>
          <p:cNvSpPr>
            <a:spLocks noGrp="1"/>
          </p:cNvSpPr>
          <p:nvPr>
            <p:ph type="body" idx="1"/>
          </p:nvPr>
        </p:nvSpPr>
        <p:spPr bwMode="auto"/>
        <p:txBody>
          <a:bodyPr/>
          <a:lstStyle/>
          <a:p>
            <a:r>
              <a:t>[Mustasin Rahman (2206104) · about 15 s]</a:t>
            </a:r>
          </a:p>
          <a:p/>
          <a:p>
            <a:r>
              <a:t>Next, we convolve the grayscale image with a five-by-five Gaussian kernel with sigma equal to one. This low-pass filter removes high-frequency noise, so the gradient operators respond to real structural edges instead of pixel noise.</a:t>
            </a:r>
          </a:p>
        </p:txBody>
      </p:sp>
      <p:sp>
        <p:nvSpPr>
          <p:cNvPr id="1979825005"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73991584" name="Slide Image Placeholder 1"/>
          <p:cNvSpPr>
            <a:spLocks noGrp="1" noRot="1" noChangeAspect="1"/>
          </p:cNvSpPr>
          <p:nvPr>
            <p:ph type="sldImg"/>
          </p:nvPr>
        </p:nvSpPr>
        <p:spPr bwMode="auto"/>
        <p:txBody>
          <a:bodyPr/>
          <a:lstStyle/>
          <a:p>
            <a:endParaRPr lang="en-US"/>
          </a:p>
        </p:txBody>
      </p:sp>
      <p:sp>
        <p:nvSpPr>
          <p:cNvPr id="22832731" name="Notes Placeholder 2"/>
          <p:cNvSpPr>
            <a:spLocks noGrp="1"/>
          </p:cNvSpPr>
          <p:nvPr>
            <p:ph type="body" idx="1"/>
          </p:nvPr>
        </p:nvSpPr>
        <p:spPr bwMode="auto"/>
        <p:txBody>
          <a:bodyPr/>
          <a:lstStyle/>
          <a:p>
            <a:r>
              <a:t>[Mustasin Rahman (2206104) · about 22 s]</a:t>
            </a:r>
          </a:p>
          <a:p/>
          <a:p>
            <a:r>
              <a:t>Canny computes the horizontal and vertical Sobel gradients and their magnitude, thins the edges by non-maximum suppression, and applies hysteresis thresholds of 50 and 150. The binary edge map is appended as a fourth channel, and all four channels are standardised so that the edge channel carries the same weight as colour.</a:t>
            </a:r>
          </a:p>
        </p:txBody>
      </p:sp>
      <p:sp>
        <p:nvSpPr>
          <p:cNvPr id="663138211"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[Md. Ahasan Habib Kawsar (2206119) · about 21 s]</a:t>
            </a:r>
          </a:p>
          <a:p/>
          <a:p>
            <a:r>
              <a:t>The attention module places both dates side by side, so every pixel can attend to every pixel of both images. The fusion keeps the before features, the after features and their absolute difference. The loss combines binary cross-entropy, Dice loss for the class imbalance, and a class-balanced edge loss.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[Md. Ahasan Habib Kawsar (2206119) · about 20 s]</a:t>
            </a:r>
          </a:p>
          <a:p/>
          <a:p>
            <a:r>
              <a:t>We trained with the AdamW optimiser and a cosine learning-rate schedule on a MacBook GPU, at about six minutes per epoch. Validation F1 reached 0.91 at epoch 32, and training stopped automatically at epoch 47. The decision threshold, 0.41, was chosen on the validation set only.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[Md. Kawsar Ahmed (2206122) · about 33 s]</a:t>
            </a:r>
          </a:p>
          <a:p/>
          <a:p>
            <a:r>
              <a:t>I am Md. Kawsar Ahmed, and this is our PyQt5 application. We load the before and after images and the ground truth, and press Run Inference; the model runs in a background thread, so the window never freezes. The Model menu lets us switch between the final model, the RGB-only model, our old model and two ensembles, and Compare all models shows them side by side. On this test image, the final model reaches 95.8 percent F1.</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Ahasan Habib Kawsar (2206119) · about 20 s]</a:t>
            </a:r>
          </a:p>
          <a:p/>
          <a:p>
            <a:r>
              <a:t>Both four-channel images pass through the same pre-trained ResNet-34 encoder, which gives features at five scales. At every scale, a fusion block compares the two dates. The U-Net decoder rebuilds a full-resolution change map, guided by an edge head that predicts the outlines of changed buildings.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[Fahim Shahriyar (2206114) · about 19 s]</a:t>
            </a:r>
          </a:p>
          <a:p/>
          <a:p>
            <a:r>
              <a:t>I am Fahim Shahriyar. Here an empty field has become a new housing estate. The probability map is confident on the new houses and clean on the background, and the error map shows mostly white, meaning correct pixels. F1 on this image is 0.939.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[Fahim Shahriyar (2206114) · about 30 s]</a:t>
            </a:r>
          </a:p>
          <a:p/>
          <a:p>
            <a:r>
              <a:t>We also tested twelve image pairs from Purbachal in Dhaka, where open plots became dense apartment blocks. Here our old model marks almost ten percent of the pixels as changed, while the final model marks under two percent, so the old model seems to catch more of the new construction. But these images have no labels, so we cannot score them, and making the input larger did not help.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[Fahim Shahriyar (2206114) · about 20 s]</a:t>
            </a:r>
          </a:p>
          <a:p/>
          <a:p>
            <a:r>
              <a:t>On all 128 test images the final model reaches 91.8 percent precision, 90.6 percent recall, 91.2 percent F1 and 83.8 percent IoU. False alarms and misses are balanced. F1 rises with the amount of change, from 84 percent for small changes to 92 percent for large ones.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[Fahim Shahriyar (2206114) · about 21 s]</a:t>
            </a:r>
          </a:p>
          <a:p/>
          <a:p>
            <a:r>
              <a:t>We ran controlled experiments. Fixing three bugs in our first version raised F1 from 77 to 91 percent, and test-time augmentation added 0.4 points. Our key finding: without the Canny channel, F1 did not drop; it was 91.6 percent with RGB only, because the encoder already learns edge filters itself.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Ahasan Habib Kawsar (2206119) · about 29 s]</a:t>
            </a:r>
          </a:p>
          <a:p/>
          <a:p>
            <a:r>
              <a:t>To compare the old and new models fairly, we also tested on WHU-CD, a labelled dataset from New Zealand that neither model has seen. The final model reaches 82.9 percent F1 there, and the old model only 66.7 percent, with many false alarms. The RGB-only model is as good as the four-channel model on both datasets, and combining the old and new models gave no real gain.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[Fahim Shahriyar (2206114) · about 15 s]</a:t>
            </a:r>
          </a:p>
          <a:p/>
          <a:p>
            <a:r>
              <a:t>Tiny mobile homes, only three to five pixels wide, are missed; re-roofed buildings are mistaken for new ones; and dense Bangladeshi scenes cause a domain shift. A laptop GPU allowed only batch size four.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[Mustasin Rahman (2206104) · about 17 s]</a:t>
            </a:r>
          </a:p>
          <a:p/>
          <a:p>
            <a:r>
              <a:t>For public health and safety, the system can flag unauthorised construction in flood-prone or earthquake-risk areas and map damage after a disaster, but a human always verifies the output. It also monitors encroachment on wetlands and farmland without field trips.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[Mustasin Rahman (2206104) · about 21 s]</a:t>
            </a:r>
          </a:p>
          <a:p/>
          <a:p>
            <a:r>
              <a:t>We used the public LEVIR-CD dataset under its licence and cite every source. High-resolution imagery can reveal private property, so the intended use is planning and disaster response, not surveillance or eviction. We never tuned on the test set, and we report our negative DSP result and failure cases openly.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Kawsar Ahmed (2206122) · about 17 s]</a:t>
            </a:r>
          </a:p>
          <a:p/>
          <a:p>
            <a:r>
              <a:t>Each member led one part: Mustasin the data and DSP pre-processing, Fahim the literature review and error analysis, Ahasan the network and training, and I built the GUI and inference pipeline. Every module was reviewed by a second member.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Kawsar Ahmed (2206122) · about 9 s]</a:t>
            </a:r>
          </a:p>
          <a:p/>
          <a:p>
            <a:r>
              <a:t>Our code, trained model and user manual are on GitHub, and this video is on YouTube. The links are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Kawsar Ahmed (2206122) · about 17 s]</a:t>
            </a:r>
          </a:p>
          <a:p/>
          <a:p>
            <a:r>
              <a:t>Next, we want to build a labelled dataset of Dhaka image pairs and fine-tune the model on it, learn adaptive edge filters instead of fixed Canny thresholds, classify the type of change, and deploy the tool for large-scale imagery.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Kawsar Ahmed (2206122) · about 3 s]</a:t>
            </a:r>
          </a:p>
          <a:p/>
          <a:p>
            <a:r>
              <a:t>These are our references. Thank you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Slide Number Placeholder 4"/>
          <p:cNvSpPr>
            <a:spLocks noGrp="1"/>
          </p:cNvSpPr>
          <p:nvPr>
            <p:ph type="sldNum" sz="quarter" idx="12"/>
          </p:nvPr>
        </p:nvSpPr>
        <p:spPr/>
        <p:txBody>
          <a:bodyPr/>
          <a:lstStyle/>
          <a:p>
            <a:fld id="{E9C29D53-9981-884B-B5B6-B5743DF81FD1}" type="slidenum">
              <a:rPr lang="en-BD" smtClean="0"/>
              <a:t>‹#›</a:t>
            </a:fld>
            <a:endParaRPr lang="en-BD"/>
          </a:p>
        </p:txBody>
      </p:sp>
      <p:sp>
        <p:nvSpPr>
          <p:cNvPr id="6" name="Date Placeholder 5">
            <a:extLst>
              <a:ext uri="{FF2B5EF4-FFF2-40B4-BE49-F238E27FC236}">
                <a16:creationId xmlns:a16="http://schemas.microsoft.com/office/drawing/2014/main" id="{24A8BE3A-860F-304A-9628-0D1C6721E98C}"/>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7" name="Footer Placeholder 6">
            <a:extLst>
              <a:ext uri="{FF2B5EF4-FFF2-40B4-BE49-F238E27FC236}">
                <a16:creationId xmlns:a16="http://schemas.microsoft.com/office/drawing/2014/main" id="{78BF763A-9E9F-6745-958E-87128C40B814}"/>
              </a:ext>
            </a:extLst>
          </p:cNvPr>
          <p:cNvSpPr>
            <a:spLocks noGrp="1"/>
          </p:cNvSpPr>
          <p:nvPr>
            <p:ph type="ftr" sz="quarter" idx="11"/>
          </p:nvPr>
        </p:nvSpPr>
        <p:spPr>
          <a:xfrm>
            <a:off x="5257800" y="6482588"/>
            <a:ext cx="6153150" cy="375412"/>
          </a:xfrm>
        </p:spPr>
        <p:txBody>
          <a:bodyPr/>
          <a:lstStyle/>
          <a:p>
            <a:r>
              <a:rPr lang="en-BD" dirty="0"/>
              <a:t>Title of the Project</a:t>
            </a:r>
          </a:p>
        </p:txBody>
      </p:sp>
    </p:spTree>
    <p:extLst>
      <p:ext uri="{BB962C8B-B14F-4D97-AF65-F5344CB8AC3E}">
        <p14:creationId xmlns:p14="http://schemas.microsoft.com/office/powerpoint/2010/main" val="2000284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userDrawn="1">
  <p:cSld name="Title and Content">
    <p:spTree>
      <p:nvGrpSpPr>
        <p:cNvPr id="1" name=""/>
        <p:cNvGrpSpPr/>
        <p:nvPr/>
      </p:nvGrpSpPr>
      <p:grpSpPr bwMode="auto">
        <a:xfrm>
          <a:off x="0" y="0"/>
          <a:ext cx="0" cy="0"/>
          <a:chOff x="0" y="0"/>
          <a:chExt cx="0" cy="0"/>
        </a:xfrm>
      </p:grpSpPr>
      <p:sp>
        <p:nvSpPr>
          <p:cNvPr id="223720471" name="Title 1"/>
          <p:cNvSpPr>
            <a:spLocks noGrp="1"/>
          </p:cNvSpPr>
          <p:nvPr>
            <p:ph type="title"/>
          </p:nvPr>
        </p:nvSpPr>
        <p:spPr bwMode="auto"/>
        <p:txBody>
          <a:bodyPr/>
          <a:lstStyle/>
          <a:p>
            <a:pPr>
              <a:defRPr/>
            </a:pPr>
            <a:r>
              <a:rPr lang="en-GB"/>
              <a:t>Click to edit Master title style</a:t>
            </a:r>
            <a:endParaRPr lang="en-US"/>
          </a:p>
        </p:txBody>
      </p:sp>
      <p:sp>
        <p:nvSpPr>
          <p:cNvPr id="1661809086" name="Content Placeholder 2"/>
          <p:cNvSpPr>
            <a:spLocks noGrp="1"/>
          </p:cNvSpPr>
          <p:nvPr>
            <p:ph idx="1"/>
          </p:nvPr>
        </p:nvSpPr>
        <p:spPr bwMode="auto"/>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US"/>
          </a:p>
        </p:txBody>
      </p:sp>
      <p:sp>
        <p:nvSpPr>
          <p:cNvPr id="1600047634" name="Date Placeholder 3"/>
          <p:cNvSpPr>
            <a:spLocks noGrp="1"/>
          </p:cNvSpPr>
          <p:nvPr>
            <p:ph type="dt" sz="half" idx="10"/>
          </p:nvPr>
        </p:nvSpPr>
        <p:spPr bwMode="auto"/>
        <p:txBody>
          <a:bodyPr/>
          <a:lstStyle/>
          <a:p>
            <a:pPr>
              <a:defRPr/>
            </a:pPr>
            <a:r>
              <a:rPr lang="en-US"/>
              <a:t>EEE 416 (2022) – Final Project Group A.XY</a:t>
            </a:r>
            <a:endParaRPr/>
          </a:p>
        </p:txBody>
      </p:sp>
      <p:sp>
        <p:nvSpPr>
          <p:cNvPr id="1846208046" name="Footer Placeholder 4"/>
          <p:cNvSpPr>
            <a:spLocks noGrp="1"/>
          </p:cNvSpPr>
          <p:nvPr>
            <p:ph type="ftr" sz="quarter" idx="11"/>
          </p:nvPr>
        </p:nvSpPr>
        <p:spPr bwMode="auto"/>
        <p:txBody>
          <a:bodyPr/>
          <a:lstStyle/>
          <a:p>
            <a:pPr algn="ctr">
              <a:defRPr/>
            </a:pPr>
            <a:r>
              <a:t>Title of the Project</a:t>
            </a:r>
          </a:p>
        </p:txBody>
      </p:sp>
      <p:sp>
        <p:nvSpPr>
          <p:cNvPr id="1820291977" name="Slide Number Placeholder 5"/>
          <p:cNvSpPr>
            <a:spLocks noGrp="1"/>
          </p:cNvSpPr>
          <p:nvPr>
            <p:ph type="sldNum" sz="quarter" idx="12"/>
          </p:nvPr>
        </p:nvSpPr>
        <p:spPr bwMode="auto"/>
        <p:txBody>
          <a:bodyPr/>
          <a:lstStyle/>
          <a:p>
            <a:pPr>
              <a:defRPr/>
            </a:pPr>
            <a:fld id="{E9C29D53-9981-884B-B5B6-B5743DF81FD1}" type="slidenum">
              <a:rPr/>
              <a:t>‹#›</a:t>
            </a:fld>
            <a:endParaRPr/>
          </a:p>
        </p:txBody>
      </p:sp>
    </p:spTree>
    <p:extLst>
      <p:ext uri="{BB962C8B-B14F-4D97-AF65-F5344CB8AC3E}">
        <p14:creationId xmlns:p14="http://schemas.microsoft.com/office/powerpoint/2010/main" val="1677266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itle" userDrawn="1">
  <p:cSld name="Title Slide">
    <p:bg>
      <p:bgRef idx="1001">
        <a:schemeClr val="bg1"/>
      </p:bgRef>
    </p:bg>
    <p:spTree>
      <p:nvGrpSpPr>
        <p:cNvPr id="1" name=""/>
        <p:cNvGrpSpPr/>
        <p:nvPr/>
      </p:nvGrpSpPr>
      <p:grpSpPr bwMode="auto">
        <a:xfrm>
          <a:off x="0" y="0"/>
          <a:ext cx="0" cy="0"/>
          <a:chOff x="0" y="0"/>
          <a:chExt cx="0" cy="0"/>
        </a:xfrm>
      </p:grpSpPr>
      <p:sp>
        <p:nvSpPr>
          <p:cNvPr id="41322152" name="Title 1"/>
          <p:cNvSpPr>
            <a:spLocks noGrp="1"/>
          </p:cNvSpPr>
          <p:nvPr>
            <p:ph type="ctrTitle"/>
          </p:nvPr>
        </p:nvSpPr>
        <p:spPr bwMode="auto">
          <a:xfrm>
            <a:off x="1561708" y="2091263"/>
            <a:ext cx="9068586" cy="2590800"/>
          </a:xfrm>
        </p:spPr>
        <p:txBody>
          <a:bodyPr tIns="45720" bIns="45720" anchor="ctr">
            <a:noAutofit/>
          </a:bodyPr>
          <a:lstStyle>
            <a:lvl1pPr algn="ctr">
              <a:lnSpc>
                <a:spcPct val="83000"/>
              </a:lnSpc>
              <a:defRPr lang="en-US" sz="7200" b="0" cap="all" spc="-100">
                <a:solidFill>
                  <a:schemeClr val="tx1">
                    <a:lumMod val="85000"/>
                    <a:lumOff val="15000"/>
                  </a:schemeClr>
                </a:solidFill>
                <a:latin typeface="+mj-lt"/>
                <a:ea typeface="+mn-ea"/>
                <a:cs typeface="+mn-cs"/>
              </a:defRPr>
            </a:lvl1pPr>
          </a:lstStyle>
          <a:p>
            <a:pPr>
              <a:defRPr/>
            </a:pPr>
            <a:r>
              <a:rPr lang="en-GB"/>
              <a:t>Click to edit Master title style</a:t>
            </a:r>
            <a:endParaRPr lang="en-US"/>
          </a:p>
        </p:txBody>
      </p:sp>
      <p:sp>
        <p:nvSpPr>
          <p:cNvPr id="998967821" name="Subtitle 2"/>
          <p:cNvSpPr>
            <a:spLocks noGrp="1"/>
          </p:cNvSpPr>
          <p:nvPr>
            <p:ph type="subTitle" idx="1"/>
          </p:nvPr>
        </p:nvSpPr>
        <p:spPr bwMode="auto">
          <a:xfrm>
            <a:off x="1562100" y="4682062"/>
            <a:ext cx="9070848" cy="457201"/>
          </a:xfrm>
        </p:spPr>
        <p:txBody>
          <a:bodyPr>
            <a:normAutofit/>
          </a:bodyPr>
          <a:lstStyle>
            <a:lvl1pPr marL="0" indent="0" algn="ctr">
              <a:spcBef>
                <a:spcPts val="0"/>
              </a:spcBef>
              <a:buNone/>
              <a:defRPr sz="1600" spc="8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GB"/>
              <a:t>Click to edit Master subtitle style</a:t>
            </a:r>
            <a:endParaRPr lang="en-US"/>
          </a:p>
        </p:txBody>
      </p:sp>
      <p:sp>
        <p:nvSpPr>
          <p:cNvPr id="774204351" name="Footer Placeholder 20"/>
          <p:cNvSpPr>
            <a:spLocks noGrp="1"/>
          </p:cNvSpPr>
          <p:nvPr>
            <p:ph type="ftr" sz="quarter" idx="11"/>
          </p:nvPr>
        </p:nvSpPr>
        <p:spPr bwMode="auto">
          <a:xfrm>
            <a:off x="1453896" y="5211060"/>
            <a:ext cx="5905500" cy="228600"/>
          </a:xfrm>
          <a:prstGeom prst="rect">
            <a:avLst/>
          </a:prstGeom>
        </p:spPr>
        <p:txBody>
          <a:bodyPr/>
          <a:lstStyle>
            <a:lvl1pPr algn="l">
              <a:defRPr>
                <a:solidFill>
                  <a:schemeClr val="tx1">
                    <a:lumMod val="75000"/>
                    <a:lumOff val="25000"/>
                  </a:schemeClr>
                </a:solidFill>
              </a:defRPr>
            </a:lvl1pPr>
          </a:lstStyle>
          <a:p>
            <a:pPr>
              <a:defRPr/>
            </a:pPr>
            <a:r>
              <a:rPr lang="en-GB"/>
              <a:t>Title of the Project</a:t>
            </a:r>
            <a:endParaRPr/>
          </a:p>
        </p:txBody>
      </p:sp>
      <p:sp>
        <p:nvSpPr>
          <p:cNvPr id="32051858" name="Slide Number Placeholder 21"/>
          <p:cNvSpPr>
            <a:spLocks noGrp="1"/>
          </p:cNvSpPr>
          <p:nvPr>
            <p:ph type="sldNum" sz="quarter" idx="12"/>
          </p:nvPr>
        </p:nvSpPr>
        <p:spPr bwMode="auto">
          <a:xfrm>
            <a:off x="8606919" y="5212080"/>
            <a:ext cx="2111881" cy="228600"/>
          </a:xfrm>
        </p:spPr>
        <p:txBody>
          <a:bodyPr/>
          <a:lstStyle>
            <a:lvl1pPr>
              <a:defRPr>
                <a:solidFill>
                  <a:schemeClr val="tx1">
                    <a:lumMod val="75000"/>
                    <a:lumOff val="25000"/>
                  </a:schemeClr>
                </a:solidFill>
              </a:defRPr>
            </a:lvl1pPr>
          </a:lstStyle>
          <a:p>
            <a:pPr>
              <a:defRPr/>
            </a:pPr>
            <a:fld id="{E9C29D53-9981-884B-B5B6-B5743DF81FD1}" type="slidenum">
              <a:rPr/>
              <a:t>‹#›</a:t>
            </a:fld>
            <a:endParaRPr/>
          </a:p>
        </p:txBody>
      </p:sp>
      <p:sp>
        <p:nvSpPr>
          <p:cNvPr id="38712194" name="Rectangle 22"/>
          <p:cNvSpPr/>
          <p:nvPr userDrawn="1"/>
        </p:nvSpPr>
        <p:spPr bwMode="auto">
          <a:xfrm>
            <a:off x="0" y="0"/>
            <a:ext cx="12192000" cy="15622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sz="2400">
                <a:latin typeface="Arial"/>
                <a:cs typeface="Arial"/>
              </a:rPr>
              <a:t>EEE </a:t>
            </a:r>
            <a:r>
              <a:rPr lang="en-US" sz="2400">
                <a:latin typeface="Arial"/>
                <a:cs typeface="Arial"/>
              </a:rPr>
              <a:t>xxx</a:t>
            </a:r>
            <a:r>
              <a:rPr sz="2400">
                <a:latin typeface="Arial"/>
                <a:cs typeface="Arial"/>
              </a:rPr>
              <a:t> – </a:t>
            </a:r>
            <a:r>
              <a:rPr lang="en-US" sz="2400">
                <a:latin typeface="Arial"/>
                <a:cs typeface="Arial"/>
              </a:rPr>
              <a:t>Course Title</a:t>
            </a:r>
            <a:r>
              <a:rPr sz="2400">
                <a:latin typeface="Arial"/>
                <a:cs typeface="Arial"/>
              </a:rPr>
              <a:t> Laboratory</a:t>
            </a:r>
            <a:endParaRPr/>
          </a:p>
          <a:p>
            <a:pPr marL="0" marR="0" lvl="0" indent="0" algn="ctr" defTabSz="457200" rtl="0">
              <a:lnSpc>
                <a:spcPct val="100000"/>
              </a:lnSpc>
              <a:spcBef>
                <a:spcPts val="0"/>
              </a:spcBef>
              <a:spcAft>
                <a:spcPts val="0"/>
              </a:spcAft>
              <a:buClrTx/>
              <a:buSzTx/>
              <a:buFontTx/>
              <a:buNone/>
              <a:defRPr/>
            </a:pPr>
            <a:r>
              <a:rPr sz="2800">
                <a:latin typeface="Arial"/>
                <a:cs typeface="Arial"/>
              </a:rPr>
              <a:t>Jan 202</a:t>
            </a:r>
            <a:r>
              <a:rPr lang="en-US" sz="2800">
                <a:latin typeface="Arial"/>
                <a:cs typeface="Arial"/>
              </a:rPr>
              <a:t>x </a:t>
            </a:r>
            <a:r>
              <a:rPr sz="2800">
                <a:latin typeface="Arial"/>
                <a:cs typeface="Arial"/>
              </a:rPr>
              <a:t>Level-</a:t>
            </a:r>
            <a:r>
              <a:rPr lang="en-US" sz="2800">
                <a:latin typeface="Arial"/>
                <a:cs typeface="Arial"/>
              </a:rPr>
              <a:t>x</a:t>
            </a:r>
            <a:r>
              <a:rPr sz="2800">
                <a:latin typeface="Arial"/>
                <a:cs typeface="Arial"/>
              </a:rPr>
              <a:t> Term-I Section </a:t>
            </a:r>
            <a:r>
              <a:rPr lang="en-US" sz="2800">
                <a:latin typeface="Arial"/>
                <a:cs typeface="Arial"/>
              </a:rPr>
              <a:t>Z</a:t>
            </a:r>
            <a:endParaRPr sz="2800">
              <a:latin typeface="Arial"/>
              <a:cs typeface="Arial"/>
            </a:endParaRPr>
          </a:p>
          <a:p>
            <a:pPr algn="ctr">
              <a:defRPr/>
            </a:pPr>
            <a:r>
              <a:rPr sz="3600">
                <a:latin typeface="Arial"/>
                <a:cs typeface="Arial"/>
              </a:rPr>
              <a:t>Final Project Demonstration</a:t>
            </a:r>
            <a:endParaRPr/>
          </a:p>
        </p:txBody>
      </p:sp>
      <p:sp>
        <p:nvSpPr>
          <p:cNvPr id="357076976" name="Rectangle 23"/>
          <p:cNvSpPr/>
          <p:nvPr userDrawn="1"/>
        </p:nvSpPr>
        <p:spPr bwMode="auto">
          <a:xfrm>
            <a:off x="0" y="5968657"/>
            <a:ext cx="12192000" cy="88934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2865755" algn="ctr"/>
                <a:tab pos="5731510" algn="r"/>
              </a:tabLst>
              <a:defRPr/>
            </a:pPr>
            <a:r>
              <a:rPr lang="en-US" sz="1800" cap="small" spc="160">
                <a:latin typeface="Arial"/>
                <a:ea typeface="Times New Roman"/>
                <a:cs typeface="Arial"/>
              </a:rPr>
              <a:t>Bangladesh University of Engineering and Technology</a:t>
            </a:r>
            <a:endParaRPr lang="en-GB" sz="1800">
              <a:latin typeface="Arial"/>
              <a:ea typeface="Times New Roman"/>
              <a:cs typeface="Arial"/>
            </a:endParaRPr>
          </a:p>
          <a:p>
            <a:pPr algn="ctr">
              <a:defRPr/>
            </a:pPr>
            <a:r>
              <a:rPr lang="en-US" sz="1800" cap="small" spc="160">
                <a:latin typeface="Arial"/>
                <a:ea typeface="Times New Roman"/>
                <a:cs typeface="Arial"/>
              </a:rPr>
              <a:t>Department of Electrical and Electronic Engineering</a:t>
            </a:r>
            <a:endParaRPr sz="2400">
              <a:latin typeface="Arial"/>
              <a:cs typeface="Arial"/>
            </a:endParaRPr>
          </a:p>
        </p:txBody>
      </p:sp>
      <p:pic>
        <p:nvPicPr>
          <p:cNvPr id="18729101" name="Graphic 8"/>
          <p:cNvPicPr>
            <a:picLocks noChangeAspect="1"/>
          </p:cNvPicPr>
          <p:nvPr userDrawn="1"/>
        </p:nvPicPr>
        <p:blipFill rotWithShape="1">
          <a:blip r:embed="rId2"/>
          <a:srcRect r="84048"/>
          <a:stretch/>
        </p:blipFill>
        <p:spPr bwMode="auto">
          <a:xfrm>
            <a:off x="1682496" y="6046043"/>
            <a:ext cx="793630" cy="734567"/>
          </a:xfrm>
          <a:prstGeom prst="rect">
            <a:avLst/>
          </a:prstGeom>
        </p:spPr>
      </p:pic>
    </p:spTree>
    <p:extLst>
      <p:ext uri="{BB962C8B-B14F-4D97-AF65-F5344CB8AC3E}">
        <p14:creationId xmlns:p14="http://schemas.microsoft.com/office/powerpoint/2010/main" val="77883575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jpeg"/><Relationship Id="rId5" Type="http://schemas.openxmlformats.org/officeDocument/2006/relationships/image" Target="../media/image15.jpe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jpeg"/><Relationship Id="rId9" Type="http://schemas.openxmlformats.org/officeDocument/2006/relationships/image" Target="../media/image19.png"/><Relationship Id="rId10" Type="http://schemas.openxmlformats.org/officeDocument/2006/relationships/image" Target="../media/image20.jpeg"/><Relationship Id="rId11" Type="http://schemas.openxmlformats.org/officeDocument/2006/relationships/image" Target="../media/image2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jpe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jpe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60.png"/><Relationship Id="rId6" Type="http://schemas.openxmlformats.org/officeDocument/2006/relationships/image" Target="../media/image7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2.jpeg"/><Relationship Id="rId6" Type="http://schemas.openxmlformats.org/officeDocument/2006/relationships/image" Target="../media/image2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jpeg"/><Relationship Id="rId3" Type="http://schemas.openxmlformats.org/officeDocument/2006/relationships/image" Target="../media/image30.jpeg"/><Relationship Id="rId4" Type="http://schemas.openxmlformats.org/officeDocument/2006/relationships/chart" Target="../charts/chart3.xml"/><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image" Target="../media/image38.jpg"/><Relationship Id="rId9" Type="http://schemas.openxmlformats.org/officeDocument/2006/relationships/image" Target="../media/image39.jpg"/><Relationship Id="rId10" Type="http://schemas.openxmlformats.org/officeDocument/2006/relationships/image" Target="../media/image40.jpg"/><Relationship Id="rId11" Type="http://schemas.openxmlformats.org/officeDocument/2006/relationships/image" Target="../media/image41.jpg"/><Relationship Id="rId12" Type="http://schemas.openxmlformats.org/officeDocument/2006/relationships/image" Target="../media/image42.jpg"/><Relationship Id="rId13" Type="http://schemas.openxmlformats.org/officeDocument/2006/relationships/image" Target="../media/image43.jpg"/><Relationship Id="rId14" Type="http://schemas.openxmlformats.org/officeDocument/2006/relationships/image" Target="../media/image44.jpg"/><Relationship Id="rId15"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jpg"/><Relationship Id="rId3" Type="http://schemas.openxmlformats.org/officeDocument/2006/relationships/image" Target="../media/image46.jpg"/><Relationship Id="rId4" Type="http://schemas.openxmlformats.org/officeDocument/2006/relationships/image" Target="../media/image47.jpg"/><Relationship Id="rId5" Type="http://schemas.openxmlformats.org/officeDocument/2006/relationships/image" Target="../media/image48.jpg"/><Relationship Id="rId6" Type="http://schemas.openxmlformats.org/officeDocument/2006/relationships/image" Target="../media/image49.jpg"/><Relationship Id="rId7" Type="http://schemas.openxmlformats.org/officeDocument/2006/relationships/image" Target="../media/image50.jpg"/><Relationship Id="rId8"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6.xml"/><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7.xml"/><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image" Target="../media/image51.jpg"/><Relationship Id="rId5" Type="http://schemas.openxmlformats.org/officeDocument/2006/relationships/image" Target="../media/image52.jpg"/><Relationship Id="rId6"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87068749" name="Title 1"/>
          <p:cNvSpPr>
            <a:spLocks noGrp="1"/>
          </p:cNvSpPr>
          <p:nvPr>
            <p:ph type="ctrTitle"/>
          </p:nvPr>
        </p:nvSpPr>
        <p:spPr bwMode="auto">
          <a:xfrm>
            <a:off x="-1038" y="1694453"/>
            <a:ext cx="12193037" cy="1734547"/>
          </a:xfrm>
        </p:spPr>
        <p:txBody>
          <a:bodyPr/>
          <a:lstStyle/>
          <a:p>
            <a:pPr>
              <a:defRPr/>
            </a:pPr>
            <a:r>
              <a:rPr lang="en-US" sz="3800" b="1" dirty="0">
                <a:latin typeface="Angsana New"/>
                <a:cs typeface="Angsana New"/>
              </a:rPr>
              <a:t>Digital Signal Processing and Deep Learning-Based Urban Change Detection Using Satellite Imagery</a:t>
            </a:r>
            <a:endParaRPr sz="3800" dirty="0">
              <a:latin typeface="Angsana New"/>
              <a:cs typeface="Angsana New"/>
            </a:endParaRPr>
          </a:p>
        </p:txBody>
      </p:sp>
      <p:sp>
        <p:nvSpPr>
          <p:cNvPr id="1031628163" name="Subtitle 2"/>
          <p:cNvSpPr>
            <a:spLocks noGrp="1"/>
          </p:cNvSpPr>
          <p:nvPr>
            <p:ph type="subTitle" idx="1"/>
          </p:nvPr>
        </p:nvSpPr>
        <p:spPr bwMode="auto">
          <a:xfrm>
            <a:off x="1453570" y="5163547"/>
            <a:ext cx="2350475" cy="885432"/>
          </a:xfrm>
        </p:spPr>
        <p:txBody>
          <a:bodyPr>
            <a:normAutofit/>
          </a:bodyPr>
          <a:lstStyle/>
          <a:p>
            <a:pPr>
              <a:defRPr/>
            </a:pPr>
            <a:r>
              <a:rPr lang="en-US">
                <a:latin typeface="Times New Roman"/>
                <a:cs typeface="Times New Roman"/>
              </a:rPr>
              <a:t>Mustasin Rahman </a:t>
            </a:r>
            <a:r>
              <a:rPr lang="en-US" sz="2000">
                <a:latin typeface="Times New Roman"/>
                <a:cs typeface="Times New Roman"/>
              </a:rPr>
              <a:t>2206104</a:t>
            </a:r>
            <a:endParaRPr sz="2000">
              <a:latin typeface="Times New Roman"/>
              <a:cs typeface="Times New Roman"/>
            </a:endParaRPr>
          </a:p>
        </p:txBody>
      </p:sp>
      <p:sp>
        <p:nvSpPr>
          <p:cNvPr id="1354749068" name="Subtitle 2"/>
          <p:cNvSpPr txBox="1"/>
          <p:nvPr/>
        </p:nvSpPr>
        <p:spPr bwMode="auto">
          <a:xfrm>
            <a:off x="3863924" y="5163547"/>
            <a:ext cx="2350475" cy="885432"/>
          </a:xfrm>
          <a:prstGeom prst="rect">
            <a:avLst/>
          </a:prstGeom>
        </p:spPr>
        <p:txBody>
          <a:bodyPr vert="horz" lIns="91440" tIns="45720" rIns="91440" bIns="45720" rtlCol="0">
            <a:normAutofit/>
          </a:bodyPr>
          <a:lstStyle>
            <a:lvl1pPr marL="0" indent="0" algn="ctr" defTabSz="914400" rtl="0">
              <a:lnSpc>
                <a:spcPct val="100000"/>
              </a:lnSpc>
              <a:spcBef>
                <a:spcPts val="0"/>
              </a:spcBef>
              <a:spcAft>
                <a:spcPts val="0"/>
              </a:spcAft>
              <a:buClr>
                <a:schemeClr val="tx1">
                  <a:lumMod val="85000"/>
                  <a:lumOff val="15000"/>
                </a:schemeClr>
              </a:buClr>
              <a:buFont typeface="Garamond"/>
              <a:buNone/>
              <a:defRPr sz="1600" spc="80">
                <a:solidFill>
                  <a:schemeClr val="tx1"/>
                </a:solidFill>
                <a:latin typeface="+mn-lt"/>
                <a:ea typeface="+mn-ea"/>
                <a:cs typeface="+mn-cs"/>
              </a:defRPr>
            </a:lvl1pPr>
            <a:lvl2pPr marL="4572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2pPr>
            <a:lvl3pPr marL="9144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3pPr>
            <a:lvl4pPr marL="13716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4pPr>
            <a:lvl5pPr marL="18288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5pPr>
            <a:lvl6pPr marL="22860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6pPr>
            <a:lvl7pPr marL="27432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7pPr>
            <a:lvl8pPr marL="32004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8pPr>
            <a:lvl9pPr marL="36576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9pPr>
          </a:lstStyle>
          <a:p>
            <a:pPr>
              <a:defRPr/>
            </a:pPr>
            <a:r>
              <a:rPr lang="en-US">
                <a:latin typeface="Times New Roman"/>
                <a:cs typeface="Times New Roman"/>
              </a:rPr>
              <a:t>Fahim Shahriyar</a:t>
            </a:r>
            <a:endParaRPr/>
          </a:p>
          <a:p>
            <a:pPr>
              <a:defRPr/>
            </a:pPr>
            <a:r>
              <a:rPr lang="en-US" sz="2000">
                <a:latin typeface="Times New Roman"/>
                <a:cs typeface="Times New Roman"/>
              </a:rPr>
              <a:t>2206114</a:t>
            </a:r>
            <a:endParaRPr sz="2000">
              <a:latin typeface="Times New Roman"/>
              <a:cs typeface="Times New Roman"/>
            </a:endParaRPr>
          </a:p>
        </p:txBody>
      </p:sp>
      <p:sp>
        <p:nvSpPr>
          <p:cNvPr id="249950032" name="Subtitle 2"/>
          <p:cNvSpPr txBox="1"/>
          <p:nvPr/>
        </p:nvSpPr>
        <p:spPr bwMode="auto">
          <a:xfrm>
            <a:off x="6117109" y="5170582"/>
            <a:ext cx="3033537" cy="885432"/>
          </a:xfrm>
          <a:prstGeom prst="rect">
            <a:avLst/>
          </a:prstGeom>
        </p:spPr>
        <p:txBody>
          <a:bodyPr vert="horz" lIns="91440" tIns="45720" rIns="91440" bIns="45720" rtlCol="0">
            <a:normAutofit/>
          </a:bodyPr>
          <a:lstStyle>
            <a:lvl1pPr marL="0" indent="0" algn="ctr" defTabSz="914400" rtl="0">
              <a:lnSpc>
                <a:spcPct val="100000"/>
              </a:lnSpc>
              <a:spcBef>
                <a:spcPts val="0"/>
              </a:spcBef>
              <a:spcAft>
                <a:spcPts val="0"/>
              </a:spcAft>
              <a:buClr>
                <a:schemeClr val="tx1">
                  <a:lumMod val="85000"/>
                  <a:lumOff val="15000"/>
                </a:schemeClr>
              </a:buClr>
              <a:buFont typeface="Garamond"/>
              <a:buNone/>
              <a:defRPr sz="1600" spc="80">
                <a:solidFill>
                  <a:schemeClr val="tx1"/>
                </a:solidFill>
                <a:latin typeface="+mn-lt"/>
                <a:ea typeface="+mn-ea"/>
                <a:cs typeface="+mn-cs"/>
              </a:defRPr>
            </a:lvl1pPr>
            <a:lvl2pPr marL="4572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2pPr>
            <a:lvl3pPr marL="9144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3pPr>
            <a:lvl4pPr marL="13716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4pPr>
            <a:lvl5pPr marL="18288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5pPr>
            <a:lvl6pPr marL="22860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6pPr>
            <a:lvl7pPr marL="27432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7pPr>
            <a:lvl8pPr marL="32004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8pPr>
            <a:lvl9pPr marL="36576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9pPr>
          </a:lstStyle>
          <a:p>
            <a:pPr>
              <a:defRPr/>
            </a:pPr>
            <a:r>
              <a:rPr lang="en-US">
                <a:latin typeface="Times New Roman"/>
                <a:cs typeface="Times New Roman"/>
              </a:rPr>
              <a:t>Md. Ahasan Habib Kawsar</a:t>
            </a:r>
            <a:endParaRPr/>
          </a:p>
          <a:p>
            <a:pPr>
              <a:defRPr/>
            </a:pPr>
            <a:r>
              <a:rPr lang="en-US" sz="2000">
                <a:latin typeface="Times New Roman"/>
                <a:cs typeface="Times New Roman"/>
              </a:rPr>
              <a:t>2206119</a:t>
            </a:r>
            <a:endParaRPr sz="2000">
              <a:latin typeface="Times New Roman"/>
              <a:cs typeface="Times New Roman"/>
            </a:endParaRPr>
          </a:p>
        </p:txBody>
      </p:sp>
      <p:sp>
        <p:nvSpPr>
          <p:cNvPr id="968844152" name="Subtitle 2"/>
          <p:cNvSpPr txBox="1"/>
          <p:nvPr/>
        </p:nvSpPr>
        <p:spPr bwMode="auto">
          <a:xfrm>
            <a:off x="9001008" y="5177617"/>
            <a:ext cx="2462702" cy="885432"/>
          </a:xfrm>
          <a:prstGeom prst="rect">
            <a:avLst/>
          </a:prstGeom>
        </p:spPr>
        <p:txBody>
          <a:bodyPr vert="horz" lIns="91440" tIns="45720" rIns="91440" bIns="45720" rtlCol="0">
            <a:normAutofit/>
          </a:bodyPr>
          <a:lstStyle>
            <a:lvl1pPr marL="0" indent="0" algn="ctr" defTabSz="914400" rtl="0">
              <a:lnSpc>
                <a:spcPct val="100000"/>
              </a:lnSpc>
              <a:spcBef>
                <a:spcPts val="0"/>
              </a:spcBef>
              <a:spcAft>
                <a:spcPts val="0"/>
              </a:spcAft>
              <a:buClr>
                <a:schemeClr val="tx1">
                  <a:lumMod val="85000"/>
                  <a:lumOff val="15000"/>
                </a:schemeClr>
              </a:buClr>
              <a:buFont typeface="Garamond"/>
              <a:buNone/>
              <a:defRPr sz="1600" spc="80">
                <a:solidFill>
                  <a:schemeClr val="tx1"/>
                </a:solidFill>
                <a:latin typeface="+mn-lt"/>
                <a:ea typeface="+mn-ea"/>
                <a:cs typeface="+mn-cs"/>
              </a:defRPr>
            </a:lvl1pPr>
            <a:lvl2pPr marL="4572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2pPr>
            <a:lvl3pPr marL="9144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3pPr>
            <a:lvl4pPr marL="13716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4pPr>
            <a:lvl5pPr marL="18288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5pPr>
            <a:lvl6pPr marL="22860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6pPr>
            <a:lvl7pPr marL="27432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7pPr>
            <a:lvl8pPr marL="32004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8pPr>
            <a:lvl9pPr marL="36576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9pPr>
          </a:lstStyle>
          <a:p>
            <a:pPr>
              <a:defRPr/>
            </a:pPr>
            <a:r>
              <a:rPr lang="en-US">
                <a:latin typeface="Times New Roman"/>
                <a:cs typeface="Times New Roman"/>
              </a:rPr>
              <a:t>Md. Kawsar Ahmed</a:t>
            </a:r>
            <a:endParaRPr/>
          </a:p>
          <a:p>
            <a:pPr>
              <a:defRPr/>
            </a:pPr>
            <a:r>
              <a:rPr lang="en-US" sz="2000">
                <a:latin typeface="Times New Roman"/>
                <a:cs typeface="Times New Roman"/>
              </a:rPr>
              <a:t>2206122</a:t>
            </a:r>
            <a:endParaRPr sz="2000">
              <a:latin typeface="Times New Roman"/>
              <a:cs typeface="Times New Roman"/>
            </a:endParaRPr>
          </a:p>
        </p:txBody>
      </p:sp>
      <p:sp>
        <p:nvSpPr>
          <p:cNvPr id="1510731081" name="Subtitle 2"/>
          <p:cNvSpPr txBox="1"/>
          <p:nvPr/>
        </p:nvSpPr>
        <p:spPr bwMode="auto">
          <a:xfrm>
            <a:off x="3772090" y="3260456"/>
            <a:ext cx="4646780" cy="552593"/>
          </a:xfrm>
          <a:prstGeom prst="rect">
            <a:avLst/>
          </a:prstGeom>
        </p:spPr>
        <p:txBody>
          <a:bodyPr vert="horz" lIns="91440" tIns="45720" rIns="91440" bIns="45720" rtlCol="0">
            <a:noAutofit/>
          </a:bodyPr>
          <a:lstStyle>
            <a:lvl1pPr marL="0" indent="0" algn="ctr" defTabSz="914400" rtl="0">
              <a:lnSpc>
                <a:spcPct val="100000"/>
              </a:lnSpc>
              <a:spcBef>
                <a:spcPts val="0"/>
              </a:spcBef>
              <a:spcAft>
                <a:spcPts val="0"/>
              </a:spcAft>
              <a:buClr>
                <a:schemeClr val="tx1">
                  <a:lumMod val="85000"/>
                  <a:lumOff val="15000"/>
                </a:schemeClr>
              </a:buClr>
              <a:buFont typeface="Garamond"/>
              <a:buNone/>
              <a:defRPr sz="1600" spc="80">
                <a:solidFill>
                  <a:schemeClr val="tx1"/>
                </a:solidFill>
                <a:latin typeface="+mn-lt"/>
                <a:ea typeface="+mn-ea"/>
                <a:cs typeface="+mn-cs"/>
              </a:defRPr>
            </a:lvl1pPr>
            <a:lvl2pPr marL="4572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2pPr>
            <a:lvl3pPr marL="9144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3pPr>
            <a:lvl4pPr marL="13716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4pPr>
            <a:lvl5pPr marL="18288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5pPr>
            <a:lvl6pPr marL="22860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6pPr>
            <a:lvl7pPr marL="27432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7pPr>
            <a:lvl8pPr marL="32004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8pPr>
            <a:lvl9pPr marL="3657600" indent="0" algn="ctr" defTabSz="914400" rtl="0">
              <a:lnSpc>
                <a:spcPct val="100000"/>
              </a:lnSpc>
              <a:spcBef>
                <a:spcPts val="500"/>
              </a:spcBef>
              <a:buClr>
                <a:schemeClr val="tx1">
                  <a:lumMod val="85000"/>
                  <a:lumOff val="15000"/>
                </a:schemeClr>
              </a:buClr>
              <a:buFont typeface="Garamond"/>
              <a:buNone/>
              <a:defRPr sz="1600">
                <a:solidFill>
                  <a:schemeClr val="tx1"/>
                </a:solidFill>
                <a:latin typeface="+mn-lt"/>
                <a:ea typeface="+mn-ea"/>
                <a:cs typeface="+mn-cs"/>
              </a:defRPr>
            </a:lvl9pPr>
          </a:lstStyle>
          <a:p>
            <a:pPr>
              <a:defRPr/>
            </a:pPr>
            <a:r>
              <a:rPr sz="2400" b="1" cap="small">
                <a:solidFill>
                  <a:schemeClr val="accent2">
                    <a:lumMod val="50000"/>
                  </a:schemeClr>
                </a:solidFill>
                <a:latin typeface="Times New Roman"/>
                <a:cs typeface="Times New Roman"/>
              </a:rPr>
              <a:t>Submitted by – Group </a:t>
            </a:r>
            <a:r>
              <a:rPr lang="en-US" sz="2400" b="1" cap="small">
                <a:solidFill>
                  <a:schemeClr val="accent2">
                    <a:lumMod val="50000"/>
                  </a:schemeClr>
                </a:solidFill>
                <a:latin typeface="Times New Roman"/>
                <a:cs typeface="Times New Roman"/>
              </a:rPr>
              <a:t>04</a:t>
            </a:r>
            <a:endParaRPr sz="4000" b="1" cap="small">
              <a:solidFill>
                <a:schemeClr val="accent2">
                  <a:lumMod val="50000"/>
                </a:schemeClr>
              </a:solidFill>
              <a:latin typeface="Times New Roman"/>
              <a:cs typeface="Times New Roman"/>
            </a:endParaRPr>
          </a:p>
        </p:txBody>
      </p:sp>
      <p:pic>
        <p:nvPicPr>
          <p:cNvPr id="2077872532" name="Picture 19"/>
          <p:cNvPicPr>
            <a:picLocks noChangeAspect="1"/>
          </p:cNvPicPr>
          <p:nvPr/>
        </p:nvPicPr>
        <p:blipFill rotWithShape="1">
          <a:blip r:embed="rId3"/>
          <a:srcRect b="17046"/>
          <a:stretch/>
        </p:blipFill>
        <p:spPr bwMode="auto">
          <a:xfrm>
            <a:off x="4454" y="-40094"/>
            <a:ext cx="12187546" cy="1765922"/>
          </a:xfrm>
          <a:prstGeom prst="rect">
            <a:avLst/>
          </a:prstGeom>
        </p:spPr>
      </p:pic>
      <p:pic>
        <p:nvPicPr>
          <p:cNvPr id="155909152" name="Picture 11"/>
          <p:cNvPicPr>
            <a:picLocks noChangeAspect="1"/>
          </p:cNvPicPr>
          <p:nvPr/>
        </p:nvPicPr>
        <p:blipFill rotWithShape="1">
          <a:blip r:embed="rId4"/>
          <a:stretch/>
        </p:blipFill>
        <p:spPr bwMode="auto">
          <a:xfrm>
            <a:off x="2058042" y="3628289"/>
            <a:ext cx="1159128" cy="1549328"/>
          </a:xfrm>
          <a:prstGeom prst="rect">
            <a:avLst/>
          </a:prstGeom>
        </p:spPr>
      </p:pic>
      <p:pic>
        <p:nvPicPr>
          <p:cNvPr id="555941157" name="Picture 13"/>
          <p:cNvPicPr>
            <a:picLocks noChangeAspect="1"/>
          </p:cNvPicPr>
          <p:nvPr/>
        </p:nvPicPr>
        <p:blipFill rotWithShape="1">
          <a:blip r:embed="rId5"/>
          <a:stretch/>
        </p:blipFill>
        <p:spPr bwMode="auto">
          <a:xfrm>
            <a:off x="7028139" y="3673051"/>
            <a:ext cx="1159128" cy="1459804"/>
          </a:xfrm>
          <a:prstGeom prst="rect">
            <a:avLst/>
          </a:prstGeom>
        </p:spPr>
      </p:pic>
      <p:pic>
        <p:nvPicPr>
          <p:cNvPr id="1194118047" name="Picture 15"/>
          <p:cNvPicPr>
            <a:picLocks noChangeAspect="1"/>
          </p:cNvPicPr>
          <p:nvPr/>
        </p:nvPicPr>
        <p:blipFill rotWithShape="1">
          <a:blip r:embed="rId6"/>
          <a:stretch/>
        </p:blipFill>
        <p:spPr bwMode="auto">
          <a:xfrm flipH="1">
            <a:off x="9580267" y="3708617"/>
            <a:ext cx="1178679" cy="1424238"/>
          </a:xfrm>
          <a:prstGeom prst="rect">
            <a:avLst/>
          </a:prstGeom>
        </p:spPr>
      </p:pic>
      <p:pic>
        <p:nvPicPr>
          <p:cNvPr id="1959336580" name="Picture 17"/>
          <p:cNvPicPr>
            <a:picLocks noChangeAspect="1"/>
          </p:cNvPicPr>
          <p:nvPr/>
        </p:nvPicPr>
        <p:blipFill rotWithShape="1">
          <a:blip r:embed="rId7"/>
          <a:stretch/>
        </p:blipFill>
        <p:spPr bwMode="auto">
          <a:xfrm>
            <a:off x="4499032" y="3732274"/>
            <a:ext cx="1080257" cy="1424238"/>
          </a:xfrm>
          <a:prstGeom prst="rect">
            <a:avLst/>
          </a:prstGeom>
        </p:spPr>
      </p:pic>
      <p:sp>
        <p:nvSpPr>
          <p:cNvPr id="217381045" name="TextBox 5"/>
          <p:cNvSpPr txBox="1"/>
          <p:nvPr/>
        </p:nvSpPr>
        <p:spPr bwMode="auto">
          <a:xfrm>
            <a:off x="783245" y="124417"/>
            <a:ext cx="10663610" cy="1569660"/>
          </a:xfrm>
          <a:prstGeom prst="rect">
            <a:avLst/>
          </a:prstGeom>
          <a:noFill/>
        </p:spPr>
        <p:txBody>
          <a:bodyPr wrap="square" rtlCol="0">
            <a:spAutoFit/>
          </a:bodyPr>
          <a:lstStyle/>
          <a:p>
            <a:pPr algn="ctr">
              <a:defRPr/>
            </a:pPr>
            <a:r>
              <a:rPr lang="en-US" sz="3200" dirty="0">
                <a:solidFill>
                  <a:schemeClr val="bg1">
                    <a:lumMod val="95000"/>
                  </a:schemeClr>
                </a:solidFill>
                <a:latin typeface="Times New Roman"/>
                <a:cs typeface="Times New Roman"/>
              </a:rPr>
              <a:t>EEE 312 – Digital Signal Processing I Laboratory</a:t>
            </a:r>
            <a:endParaRPr dirty="0"/>
          </a:p>
          <a:p>
            <a:pPr algn="ctr">
              <a:defRPr/>
            </a:pPr>
            <a:r>
              <a:rPr lang="en-US" sz="3200" dirty="0">
                <a:solidFill>
                  <a:schemeClr val="bg1">
                    <a:lumMod val="95000"/>
                  </a:schemeClr>
                </a:solidFill>
                <a:latin typeface="Times New Roman"/>
                <a:cs typeface="Times New Roman"/>
              </a:rPr>
              <a:t>January 2026 - Level-3 Term-I -  Section B2</a:t>
            </a:r>
            <a:endParaRPr dirty="0"/>
          </a:p>
          <a:p>
            <a:pPr algn="ctr">
              <a:defRPr/>
            </a:pPr>
            <a:r>
              <a:rPr lang="en-US" sz="3200" dirty="0">
                <a:solidFill>
                  <a:schemeClr val="bg1">
                    <a:lumMod val="95000"/>
                  </a:schemeClr>
                </a:solidFill>
                <a:latin typeface="Times New Roman"/>
                <a:cs typeface="Times New Roman"/>
              </a:rPr>
              <a:t>Project Presentation </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34913885" name="Title 1"/>
          <p:cNvSpPr>
            <a:spLocks noGrp="1"/>
          </p:cNvSpPr>
          <p:nvPr>
            <p:ph type="title"/>
          </p:nvPr>
        </p:nvSpPr>
        <p:spPr bwMode="auto">
          <a:xfrm>
            <a:off x="1066800" y="29320"/>
            <a:ext cx="10058400" cy="1025758"/>
          </a:xfrm>
        </p:spPr>
        <p:txBody>
          <a:bodyPr>
            <a:normAutofit fontScale="90000"/>
          </a:bodyPr>
          <a:lstStyle/>
          <a:p>
            <a:pPr algn="ctr">
              <a:defRPr/>
            </a:pPr>
            <a:r>
              <a:rPr sz="9800" dirty="0">
                <a:solidFill>
                  <a:schemeClr val="accent2">
                    <a:lumMod val="50000"/>
                  </a:schemeClr>
                </a:solidFill>
                <a:latin typeface="Andalus"/>
                <a:cs typeface="Andalus"/>
              </a:rPr>
              <a:t>Outline</a:t>
            </a:r>
            <a:endParaRPr dirty="0">
              <a:solidFill>
                <a:schemeClr val="accent2">
                  <a:lumMod val="50000"/>
                </a:schemeClr>
              </a:solidFill>
              <a:latin typeface="Andalus"/>
              <a:cs typeface="Andalus"/>
            </a:endParaRPr>
          </a:p>
        </p:txBody>
      </p:sp>
      <p:sp>
        <p:nvSpPr>
          <p:cNvPr id="3" name="Content Placeholder 2">
            <a:extLst>
              <a:ext uri="{FF2B5EF4-FFF2-40B4-BE49-F238E27FC236}">
                <a16:creationId xmlns:a16="http://schemas.microsoft.com/office/drawing/2014/main" id="{6517D4D7-684D-702A-2505-56CF5C484166}"/>
              </a:ext>
            </a:extLst>
          </p:cNvPr>
          <p:cNvSpPr>
            <a:spLocks noGrp="1"/>
          </p:cNvSpPr>
          <p:nvPr>
            <p:ph idx="1"/>
          </p:nvPr>
        </p:nvSpPr>
        <p:spPr/>
        <p:txBody>
          <a:bodyPr/>
          <a:lstStyle/>
          <a:p>
            <a:pPr marL="0" indent="0">
              <a:buNone/>
            </a:pPr>
            <a:r>
              <a:rPr lang="en-US" dirty="0"/>
              <a:t>.</a:t>
            </a:r>
          </a:p>
        </p:txBody>
      </p:sp>
      <p:sp>
        <p:nvSpPr>
          <p:cNvPr id="6" name="Title 1"/>
          <p:cNvSpPr txBox="1">
            <a:spLocks/>
          </p:cNvSpPr>
          <p:nvPr/>
        </p:nvSpPr>
        <p:spPr bwMode="auto">
          <a:xfrm>
            <a:off x="1066800" y="312160"/>
            <a:ext cx="10058400" cy="729006"/>
          </a:xfrm>
        </p:spPr>
        <p:txBody>
          <a:bodyPr>
            <a:normAutofit lnSpcReduction="10000"/>
          </a:bodyPr>
          <a:lstStyle>
            <a:lvl1pPr algn="ctr" defTabSz="914400" rtl="0">
              <a:spcBef>
                <a:spcPts val="0"/>
              </a:spcBef>
              <a:buNone/>
              <a:defRPr sz="4400">
                <a:solidFill>
                  <a:schemeClr val="tx1"/>
                </a:solidFill>
                <a:latin typeface="+mj-lt"/>
                <a:ea typeface="+mj-ea"/>
                <a:cs typeface="+mj-cs"/>
              </a:defRPr>
            </a:lvl1pPr>
          </a:lstStyle>
          <a:p>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11" name="Rounded Rectangle 10"/>
          <p:cNvSpPr/>
          <p:nvPr/>
        </p:nvSpPr>
        <p:spPr>
          <a:xfrm>
            <a:off x="685800" y="14173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Oval 11"/>
          <p:cNvSpPr/>
          <p:nvPr/>
        </p:nvSpPr>
        <p:spPr>
          <a:xfrm>
            <a:off x="701040" y="17373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3600" b="1" i="0" dirty="0">
                <a:solidFill>
                  <a:schemeClr val="bg1"/>
                </a:solidFill>
                <a:latin typeface="Times New Roman" panose="02020603050405020304" pitchFamily="18" charset="0"/>
                <a:cs typeface="Times New Roman" panose="02020603050405020304" pitchFamily="18" charset="0"/>
              </a:rPr>
              <a:t>1</a:t>
            </a:r>
          </a:p>
        </p:txBody>
      </p:sp>
      <p:sp>
        <p:nvSpPr>
          <p:cNvPr id="13" name="TextBox 12"/>
          <p:cNvSpPr txBox="1"/>
          <p:nvPr/>
        </p:nvSpPr>
        <p:spPr>
          <a:xfrm>
            <a:off x="1737360" y="1838166"/>
            <a:ext cx="2331720" cy="584775"/>
          </a:xfrm>
          <a:prstGeom prst="rect">
            <a:avLst/>
          </a:prstGeom>
          <a:noFill/>
        </p:spPr>
        <p:txBody>
          <a:bodyPr wrap="square" lIns="45720" rIns="45720" anchor="ctr">
            <a:spAutoFit/>
          </a:bodyPr>
          <a:lstStyle/>
          <a:p>
            <a:pPr algn="ctr">
              <a:spcAft>
                <a:spcPts val="200"/>
              </a:spcAft>
            </a:pPr>
            <a:r>
              <a:rPr sz="3200" b="1" i="0" dirty="0">
                <a:solidFill>
                  <a:schemeClr val="tx1">
                    <a:lumMod val="95000"/>
                    <a:lumOff val="5000"/>
                  </a:schemeClr>
                </a:solidFill>
                <a:latin typeface="Times New Roman" panose="02020603050405020304" pitchFamily="18" charset="0"/>
                <a:cs typeface="Times New Roman" panose="02020603050405020304" pitchFamily="18" charset="0"/>
              </a:rPr>
              <a:t>Abstract</a:t>
            </a:r>
          </a:p>
        </p:txBody>
      </p:sp>
      <p:sp>
        <p:nvSpPr>
          <p:cNvPr id="14" name="Rounded Rectangle 13"/>
          <p:cNvSpPr/>
          <p:nvPr/>
        </p:nvSpPr>
        <p:spPr>
          <a:xfrm>
            <a:off x="4389120" y="14173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5" name="Oval 14"/>
          <p:cNvSpPr/>
          <p:nvPr/>
        </p:nvSpPr>
        <p:spPr>
          <a:xfrm>
            <a:off x="4572000" y="17373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3600" b="1" i="0" dirty="0">
                <a:solidFill>
                  <a:schemeClr val="bg1"/>
                </a:solidFill>
                <a:latin typeface="Times New Roman" panose="02020603050405020304" pitchFamily="18" charset="0"/>
                <a:cs typeface="Times New Roman" panose="02020603050405020304" pitchFamily="18" charset="0"/>
              </a:rPr>
              <a:t>2</a:t>
            </a:r>
          </a:p>
        </p:txBody>
      </p:sp>
      <p:sp>
        <p:nvSpPr>
          <p:cNvPr id="16" name="TextBox 15"/>
          <p:cNvSpPr txBox="1"/>
          <p:nvPr/>
        </p:nvSpPr>
        <p:spPr>
          <a:xfrm>
            <a:off x="5440679" y="1838166"/>
            <a:ext cx="2331720" cy="584775"/>
          </a:xfrm>
          <a:prstGeom prst="rect">
            <a:avLst/>
          </a:prstGeom>
          <a:noFill/>
        </p:spPr>
        <p:txBody>
          <a:bodyPr wrap="square" lIns="45720" rIns="45720" anchor="ctr">
            <a:spAutoFit/>
          </a:bodyPr>
          <a:lstStyle/>
          <a:p>
            <a:pPr algn="ctr">
              <a:spcAft>
                <a:spcPts val="200"/>
              </a:spcAft>
            </a:pPr>
            <a:r>
              <a:rPr sz="3200" b="1" i="0" dirty="0">
                <a:solidFill>
                  <a:schemeClr val="tx1">
                    <a:lumMod val="95000"/>
                    <a:lumOff val="5000"/>
                  </a:schemeClr>
                </a:solidFill>
                <a:latin typeface="Times New Roman" panose="02020603050405020304" pitchFamily="18" charset="0"/>
                <a:cs typeface="Times New Roman" panose="02020603050405020304" pitchFamily="18" charset="0"/>
              </a:rPr>
              <a:t>Introduction</a:t>
            </a:r>
          </a:p>
        </p:txBody>
      </p:sp>
      <p:sp>
        <p:nvSpPr>
          <p:cNvPr id="17" name="Rounded Rectangle 16"/>
          <p:cNvSpPr/>
          <p:nvPr/>
        </p:nvSpPr>
        <p:spPr>
          <a:xfrm>
            <a:off x="8092439" y="1417320"/>
            <a:ext cx="3599047"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8" name="Oval 17"/>
          <p:cNvSpPr/>
          <p:nvPr/>
        </p:nvSpPr>
        <p:spPr>
          <a:xfrm>
            <a:off x="8275319" y="17373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3600" b="1" i="0" dirty="0">
                <a:solidFill>
                  <a:schemeClr val="bg1"/>
                </a:solidFill>
                <a:latin typeface="Times New Roman" panose="02020603050405020304" pitchFamily="18" charset="0"/>
                <a:cs typeface="Times New Roman" panose="02020603050405020304" pitchFamily="18" charset="0"/>
              </a:rPr>
              <a:t>3</a:t>
            </a:r>
          </a:p>
        </p:txBody>
      </p:sp>
      <p:sp>
        <p:nvSpPr>
          <p:cNvPr id="19" name="TextBox 18"/>
          <p:cNvSpPr txBox="1"/>
          <p:nvPr/>
        </p:nvSpPr>
        <p:spPr>
          <a:xfrm>
            <a:off x="8928233" y="1500073"/>
            <a:ext cx="2763254" cy="1190069"/>
          </a:xfrm>
          <a:prstGeom prst="rect">
            <a:avLst/>
          </a:prstGeom>
          <a:noFill/>
        </p:spPr>
        <p:txBody>
          <a:bodyPr wrap="square" lIns="45720" rIns="45720" anchor="ctr">
            <a:spAutoFit/>
          </a:bodyPr>
          <a:lstStyle/>
          <a:p>
            <a:pPr algn="ctr">
              <a:spcAft>
                <a:spcPts val="200"/>
              </a:spcAft>
            </a:pPr>
            <a:r>
              <a:rPr sz="3200" b="1" i="0" dirty="0">
                <a:solidFill>
                  <a:schemeClr val="tx1">
                    <a:lumMod val="95000"/>
                    <a:lumOff val="5000"/>
                  </a:schemeClr>
                </a:solidFill>
                <a:latin typeface="Times New Roman" panose="02020603050405020304" pitchFamily="18" charset="0"/>
                <a:cs typeface="Times New Roman" panose="02020603050405020304" pitchFamily="18" charset="0"/>
              </a:rPr>
              <a:t>Design</a:t>
            </a:r>
          </a:p>
          <a:p>
            <a:pPr algn="ctr">
              <a:spcAft>
                <a:spcPts val="200"/>
              </a:spcAft>
            </a:pPr>
            <a:r>
              <a:rPr b="0" i="0" dirty="0">
                <a:solidFill>
                  <a:schemeClr val="tx1">
                    <a:lumMod val="95000"/>
                    <a:lumOff val="5000"/>
                  </a:schemeClr>
                </a:solidFill>
                <a:latin typeface="Times New Roman" panose="02020603050405020304" pitchFamily="18" charset="0"/>
                <a:cs typeface="Times New Roman" panose="02020603050405020304" pitchFamily="18" charset="0"/>
              </a:rPr>
              <a:t>Literature · Methods PO(a) · Data · DSP · Network · Training</a:t>
            </a:r>
            <a:endParaRPr lang="en-US" b="0" i="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0" name="Rounded Rectangle 19"/>
          <p:cNvSpPr/>
          <p:nvPr/>
        </p:nvSpPr>
        <p:spPr>
          <a:xfrm>
            <a:off x="685800" y="30175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1" name="Oval 20"/>
          <p:cNvSpPr/>
          <p:nvPr/>
        </p:nvSpPr>
        <p:spPr>
          <a:xfrm>
            <a:off x="701040" y="33375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3600" b="1" i="0" dirty="0">
                <a:solidFill>
                  <a:schemeClr val="bg1"/>
                </a:solidFill>
                <a:latin typeface="Times New Roman" panose="02020603050405020304" pitchFamily="18" charset="0"/>
                <a:cs typeface="Times New Roman" panose="02020603050405020304" pitchFamily="18" charset="0"/>
              </a:rPr>
              <a:t>4</a:t>
            </a:r>
          </a:p>
        </p:txBody>
      </p:sp>
      <p:sp>
        <p:nvSpPr>
          <p:cNvPr id="22" name="TextBox 21"/>
          <p:cNvSpPr txBox="1"/>
          <p:nvPr/>
        </p:nvSpPr>
        <p:spPr>
          <a:xfrm>
            <a:off x="1737360" y="3210099"/>
            <a:ext cx="2331720" cy="1041311"/>
          </a:xfrm>
          <a:prstGeom prst="rect">
            <a:avLst/>
          </a:prstGeom>
          <a:noFill/>
        </p:spPr>
        <p:txBody>
          <a:bodyPr wrap="square" lIns="45720" rIns="45720" anchor="ctr">
            <a:spAutoFit/>
          </a:bodyPr>
          <a:lstStyle/>
          <a:p>
            <a:pPr algn="ctr">
              <a:spcAft>
                <a:spcPts val="200"/>
              </a:spcAft>
            </a:pPr>
            <a:r>
              <a:rPr sz="2400" b="1" i="0" dirty="0">
                <a:solidFill>
                  <a:schemeClr val="tx1">
                    <a:lumMod val="95000"/>
                    <a:lumOff val="5000"/>
                  </a:schemeClr>
                </a:solidFill>
                <a:latin typeface="Times New Roman" panose="02020603050405020304" pitchFamily="18" charset="0"/>
                <a:cs typeface="Times New Roman" panose="02020603050405020304" pitchFamily="18" charset="0"/>
              </a:rPr>
              <a:t>Implementation</a:t>
            </a:r>
          </a:p>
          <a:p>
            <a:pPr algn="ctr">
              <a:spcAft>
                <a:spcPts val="200"/>
              </a:spcAft>
            </a:pPr>
            <a:r>
              <a:rPr b="0" i="0" dirty="0">
                <a:solidFill>
                  <a:schemeClr val="tx1">
                    <a:lumMod val="95000"/>
                    <a:lumOff val="5000"/>
                  </a:schemeClr>
                </a:solidFill>
                <a:latin typeface="Times New Roman" panose="02020603050405020304" pitchFamily="18" charset="0"/>
                <a:cs typeface="Times New Roman" panose="02020603050405020304" pitchFamily="18" charset="0"/>
              </a:rPr>
              <a:t>GUI demo · LEVIR-CD &amp; Bangladesh results</a:t>
            </a:r>
          </a:p>
        </p:txBody>
      </p:sp>
      <p:sp>
        <p:nvSpPr>
          <p:cNvPr id="23" name="Rounded Rectangle 22"/>
          <p:cNvSpPr/>
          <p:nvPr/>
        </p:nvSpPr>
        <p:spPr>
          <a:xfrm>
            <a:off x="4389120" y="30175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4" name="Oval 23"/>
          <p:cNvSpPr/>
          <p:nvPr/>
        </p:nvSpPr>
        <p:spPr>
          <a:xfrm>
            <a:off x="4572000" y="33375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3600" b="1" i="0" dirty="0">
                <a:solidFill>
                  <a:schemeClr val="bg1"/>
                </a:solidFill>
                <a:latin typeface="Times New Roman" panose="02020603050405020304" pitchFamily="18" charset="0"/>
                <a:cs typeface="Times New Roman" panose="02020603050405020304" pitchFamily="18" charset="0"/>
              </a:rPr>
              <a:t>5</a:t>
            </a:r>
          </a:p>
        </p:txBody>
      </p:sp>
      <p:sp>
        <p:nvSpPr>
          <p:cNvPr id="25" name="TextBox 24"/>
          <p:cNvSpPr txBox="1"/>
          <p:nvPr/>
        </p:nvSpPr>
        <p:spPr>
          <a:xfrm>
            <a:off x="5100586" y="2994655"/>
            <a:ext cx="2763254" cy="1472198"/>
          </a:xfrm>
          <a:prstGeom prst="rect">
            <a:avLst/>
          </a:prstGeom>
          <a:noFill/>
        </p:spPr>
        <p:txBody>
          <a:bodyPr wrap="square" lIns="45720" rIns="45720" anchor="ctr">
            <a:spAutoFit/>
          </a:bodyPr>
          <a:lstStyle/>
          <a:p>
            <a:pPr algn="ctr">
              <a:spcAft>
                <a:spcPts val="200"/>
              </a:spcAft>
            </a:pPr>
            <a:r>
              <a:rPr sz="2800" b="1" i="0" dirty="0">
                <a:solidFill>
                  <a:schemeClr val="tx1">
                    <a:lumMod val="95000"/>
                    <a:lumOff val="5000"/>
                  </a:schemeClr>
                </a:solidFill>
                <a:latin typeface="Times New Roman" panose="02020603050405020304" pitchFamily="18" charset="0"/>
                <a:cs typeface="Times New Roman" panose="02020603050405020304" pitchFamily="18" charset="0"/>
              </a:rPr>
              <a:t>Analysis &amp; Evaluation</a:t>
            </a:r>
          </a:p>
          <a:p>
            <a:pPr algn="ctr">
              <a:spcAft>
                <a:spcPts val="200"/>
              </a:spcAft>
            </a:pPr>
            <a:r>
              <a:rPr sz="1600" b="0" i="0" dirty="0">
                <a:solidFill>
                  <a:schemeClr val="tx1">
                    <a:lumMod val="95000"/>
                    <a:lumOff val="5000"/>
                  </a:schemeClr>
                </a:solidFill>
                <a:latin typeface="Times New Roman" panose="02020603050405020304" pitchFamily="18" charset="0"/>
                <a:cs typeface="Times New Roman" panose="02020603050405020304" pitchFamily="18" charset="0"/>
              </a:rPr>
              <a:t>Results · old vs new · PO(d) · PO(e) · PO(c) · PO(h)</a:t>
            </a:r>
          </a:p>
        </p:txBody>
      </p:sp>
      <p:sp>
        <p:nvSpPr>
          <p:cNvPr id="26" name="Rounded Rectangle 25"/>
          <p:cNvSpPr/>
          <p:nvPr/>
        </p:nvSpPr>
        <p:spPr>
          <a:xfrm>
            <a:off x="8092440" y="3017520"/>
            <a:ext cx="3599046"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7" name="Oval 26"/>
          <p:cNvSpPr/>
          <p:nvPr/>
        </p:nvSpPr>
        <p:spPr>
          <a:xfrm>
            <a:off x="8275319" y="33375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3600" b="1" i="0" dirty="0">
                <a:solidFill>
                  <a:schemeClr val="bg1"/>
                </a:solidFill>
                <a:latin typeface="Times New Roman" panose="02020603050405020304" pitchFamily="18" charset="0"/>
                <a:cs typeface="Times New Roman" panose="02020603050405020304" pitchFamily="18" charset="0"/>
              </a:rPr>
              <a:t>6</a:t>
            </a:r>
          </a:p>
        </p:txBody>
      </p:sp>
      <p:sp>
        <p:nvSpPr>
          <p:cNvPr id="28" name="TextBox 27"/>
          <p:cNvSpPr txBox="1"/>
          <p:nvPr/>
        </p:nvSpPr>
        <p:spPr>
          <a:xfrm>
            <a:off x="9144000" y="3287043"/>
            <a:ext cx="2331720" cy="887422"/>
          </a:xfrm>
          <a:prstGeom prst="rect">
            <a:avLst/>
          </a:prstGeom>
          <a:noFill/>
        </p:spPr>
        <p:txBody>
          <a:bodyPr wrap="square" lIns="45720" rIns="45720" anchor="ctr">
            <a:spAutoFit/>
          </a:bodyPr>
          <a:lstStyle/>
          <a:p>
            <a:pPr algn="ctr">
              <a:spcAft>
                <a:spcPts val="200"/>
              </a:spcAft>
            </a:pPr>
            <a:r>
              <a:rPr sz="3200" b="1" i="0" dirty="0">
                <a:solidFill>
                  <a:schemeClr val="tx1">
                    <a:lumMod val="95000"/>
                    <a:lumOff val="5000"/>
                  </a:schemeClr>
                </a:solidFill>
                <a:latin typeface="Times New Roman" panose="02020603050405020304" pitchFamily="18" charset="0"/>
                <a:cs typeface="Times New Roman" panose="02020603050405020304" pitchFamily="18" charset="0"/>
              </a:rPr>
              <a:t>Team Work</a:t>
            </a:r>
          </a:p>
          <a:p>
            <a:pPr algn="ctr">
              <a:spcAft>
                <a:spcPts val="200"/>
              </a:spcAft>
            </a:pPr>
            <a:r>
              <a:rPr b="0" i="0" dirty="0">
                <a:solidFill>
                  <a:schemeClr val="tx1">
                    <a:lumMod val="95000"/>
                    <a:lumOff val="5000"/>
                  </a:schemeClr>
                </a:solidFill>
                <a:latin typeface="Times New Roman" panose="02020603050405020304" pitchFamily="18" charset="0"/>
                <a:cs typeface="Times New Roman" panose="02020603050405020304" pitchFamily="18" charset="0"/>
              </a:rPr>
              <a:t>PO(i)</a:t>
            </a:r>
          </a:p>
        </p:txBody>
      </p:sp>
      <p:sp>
        <p:nvSpPr>
          <p:cNvPr id="29" name="Rounded Rectangle 28"/>
          <p:cNvSpPr/>
          <p:nvPr/>
        </p:nvSpPr>
        <p:spPr>
          <a:xfrm>
            <a:off x="685800" y="46177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320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0" name="Oval 29"/>
          <p:cNvSpPr/>
          <p:nvPr/>
        </p:nvSpPr>
        <p:spPr>
          <a:xfrm>
            <a:off x="701040" y="4937759"/>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3600" b="1" i="0" dirty="0">
                <a:solidFill>
                  <a:schemeClr val="bg1"/>
                </a:solidFill>
                <a:latin typeface="Times New Roman" panose="02020603050405020304" pitchFamily="18" charset="0"/>
                <a:cs typeface="Times New Roman" panose="02020603050405020304" pitchFamily="18" charset="0"/>
              </a:rPr>
              <a:t>7</a:t>
            </a:r>
          </a:p>
        </p:txBody>
      </p:sp>
      <p:sp>
        <p:nvSpPr>
          <p:cNvPr id="31" name="TextBox 30"/>
          <p:cNvSpPr txBox="1"/>
          <p:nvPr/>
        </p:nvSpPr>
        <p:spPr>
          <a:xfrm>
            <a:off x="1319753" y="4918020"/>
            <a:ext cx="2749327" cy="825867"/>
          </a:xfrm>
          <a:prstGeom prst="rect">
            <a:avLst/>
          </a:prstGeom>
          <a:noFill/>
        </p:spPr>
        <p:txBody>
          <a:bodyPr wrap="square" lIns="45720" rIns="45720" anchor="ctr">
            <a:spAutoFit/>
          </a:bodyPr>
          <a:lstStyle/>
          <a:p>
            <a:pPr algn="ctr">
              <a:spcAft>
                <a:spcPts val="200"/>
              </a:spcAft>
            </a:pPr>
            <a:r>
              <a:rPr sz="2800" b="1" i="0" dirty="0">
                <a:solidFill>
                  <a:schemeClr val="tx1">
                    <a:lumMod val="95000"/>
                    <a:lumOff val="5000"/>
                  </a:schemeClr>
                </a:solidFill>
                <a:latin typeface="Times New Roman" panose="02020603050405020304" pitchFamily="18" charset="0"/>
                <a:cs typeface="Times New Roman" panose="02020603050405020304" pitchFamily="18" charset="0"/>
              </a:rPr>
              <a:t>Communication</a:t>
            </a:r>
          </a:p>
          <a:p>
            <a:pPr algn="ctr">
              <a:spcAft>
                <a:spcPts val="200"/>
              </a:spcAft>
            </a:pPr>
            <a:r>
              <a:rPr b="0" i="0" dirty="0">
                <a:solidFill>
                  <a:schemeClr val="tx1">
                    <a:lumMod val="95000"/>
                    <a:lumOff val="5000"/>
                  </a:schemeClr>
                </a:solidFill>
                <a:latin typeface="Times New Roman" panose="02020603050405020304" pitchFamily="18" charset="0"/>
                <a:cs typeface="Times New Roman" panose="02020603050405020304" pitchFamily="18" charset="0"/>
              </a:rPr>
              <a:t>PO(j)</a:t>
            </a:r>
          </a:p>
        </p:txBody>
      </p:sp>
      <p:sp>
        <p:nvSpPr>
          <p:cNvPr id="32" name="Rounded Rectangle 31"/>
          <p:cNvSpPr/>
          <p:nvPr/>
        </p:nvSpPr>
        <p:spPr>
          <a:xfrm>
            <a:off x="4389120" y="4617720"/>
            <a:ext cx="3474720" cy="1472198"/>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320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3" name="Oval 32"/>
          <p:cNvSpPr/>
          <p:nvPr/>
        </p:nvSpPr>
        <p:spPr>
          <a:xfrm>
            <a:off x="4572000" y="4937759"/>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3600" b="1" i="0">
                <a:solidFill>
                  <a:schemeClr val="bg1"/>
                </a:solidFill>
                <a:latin typeface="Times New Roman" panose="02020603050405020304" pitchFamily="18" charset="0"/>
                <a:cs typeface="Times New Roman" panose="02020603050405020304" pitchFamily="18" charset="0"/>
              </a:rPr>
              <a:t>8</a:t>
            </a:r>
          </a:p>
        </p:txBody>
      </p:sp>
      <p:sp>
        <p:nvSpPr>
          <p:cNvPr id="34" name="TextBox 33"/>
          <p:cNvSpPr txBox="1"/>
          <p:nvPr/>
        </p:nvSpPr>
        <p:spPr>
          <a:xfrm>
            <a:off x="5440679" y="4641022"/>
            <a:ext cx="2331720" cy="1379865"/>
          </a:xfrm>
          <a:prstGeom prst="rect">
            <a:avLst/>
          </a:prstGeom>
          <a:noFill/>
        </p:spPr>
        <p:txBody>
          <a:bodyPr wrap="square" lIns="45720" rIns="45720" anchor="ctr">
            <a:spAutoFit/>
          </a:bodyPr>
          <a:lstStyle/>
          <a:p>
            <a:pPr algn="ctr">
              <a:spcAft>
                <a:spcPts val="200"/>
              </a:spcAft>
            </a:pPr>
            <a:r>
              <a:rPr sz="3200" b="1" i="0">
                <a:solidFill>
                  <a:schemeClr val="tx1">
                    <a:lumMod val="95000"/>
                    <a:lumOff val="5000"/>
                  </a:schemeClr>
                </a:solidFill>
                <a:latin typeface="Times New Roman" panose="02020603050405020304" pitchFamily="18" charset="0"/>
                <a:cs typeface="Times New Roman" panose="02020603050405020304" pitchFamily="18" charset="0"/>
              </a:rPr>
              <a:t>Future Work</a:t>
            </a:r>
          </a:p>
          <a:p>
            <a:pPr algn="ctr">
              <a:spcAft>
                <a:spcPts val="200"/>
              </a:spcAft>
            </a:pPr>
            <a:r>
              <a:rPr b="0" i="0">
                <a:solidFill>
                  <a:schemeClr val="tx1">
                    <a:lumMod val="95000"/>
                    <a:lumOff val="5000"/>
                  </a:schemeClr>
                </a:solidFill>
                <a:latin typeface="Times New Roman" panose="02020603050405020304" pitchFamily="18" charset="0"/>
                <a:cs typeface="Times New Roman" panose="02020603050405020304" pitchFamily="18" charset="0"/>
              </a:rPr>
              <a:t>PO(l)</a:t>
            </a:r>
          </a:p>
        </p:txBody>
      </p:sp>
      <p:sp>
        <p:nvSpPr>
          <p:cNvPr id="35" name="Rounded Rectangle 34"/>
          <p:cNvSpPr/>
          <p:nvPr/>
        </p:nvSpPr>
        <p:spPr>
          <a:xfrm>
            <a:off x="8092439" y="4617720"/>
            <a:ext cx="3599047"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320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6" name="Oval 35"/>
          <p:cNvSpPr/>
          <p:nvPr/>
        </p:nvSpPr>
        <p:spPr>
          <a:xfrm>
            <a:off x="8275319" y="4937759"/>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3600" b="1" i="0">
                <a:solidFill>
                  <a:schemeClr val="bg1"/>
                </a:solidFill>
                <a:latin typeface="Times New Roman" panose="02020603050405020304" pitchFamily="18" charset="0"/>
                <a:cs typeface="Times New Roman" panose="02020603050405020304" pitchFamily="18" charset="0"/>
              </a:rPr>
              <a:t>9</a:t>
            </a:r>
          </a:p>
        </p:txBody>
      </p:sp>
      <p:sp>
        <p:nvSpPr>
          <p:cNvPr id="37" name="TextBox 36"/>
          <p:cNvSpPr txBox="1"/>
          <p:nvPr/>
        </p:nvSpPr>
        <p:spPr>
          <a:xfrm>
            <a:off x="9144000" y="5038566"/>
            <a:ext cx="2331720" cy="584775"/>
          </a:xfrm>
          <a:prstGeom prst="rect">
            <a:avLst/>
          </a:prstGeom>
          <a:noFill/>
        </p:spPr>
        <p:txBody>
          <a:bodyPr wrap="square" lIns="45720" rIns="45720" anchor="ctr">
            <a:spAutoFit/>
          </a:bodyPr>
          <a:lstStyle/>
          <a:p>
            <a:pPr algn="ctr">
              <a:spcAft>
                <a:spcPts val="200"/>
              </a:spcAft>
            </a:pPr>
            <a:r>
              <a:rPr sz="3200" b="1" i="0">
                <a:solidFill>
                  <a:schemeClr val="tx1">
                    <a:lumMod val="95000"/>
                    <a:lumOff val="5000"/>
                  </a:schemeClr>
                </a:solidFill>
                <a:latin typeface="Times New Roman" panose="02020603050405020304" pitchFamily="18" charset="0"/>
                <a:cs typeface="Times New Roman" panose="02020603050405020304" pitchFamily="18" charset="0"/>
              </a:rPr>
              <a:t>References</a:t>
            </a:r>
          </a:p>
        </p:txBody>
      </p:sp>
      <p:sp>
        <p:nvSpPr>
          <p:cNvPr id="1934913886" name="Rectangle 1934913885"/>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34913887" name="TextBox 1934913886"/>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934913888" name="TextBox 1934913887"/>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934913889" name="TextBox 1934913888"/>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2206119</a:t>
            </a:r>
          </a:p>
        </p:txBody>
      </p:sp>
      <p:sp>
        <p:nvSpPr>
          <p:cNvPr id="1934913890" name="TextBox 1934913889"/>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23F2CA3D-85CC-4C6C-A984-9F45517682CC}"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02050189" name="Title 3"/>
          <p:cNvSpPr>
            <a:spLocks noGrp="1"/>
          </p:cNvSpPr>
          <p:nvPr>
            <p:ph type="title"/>
          </p:nvPr>
        </p:nvSpPr>
        <p:spPr bwMode="auto">
          <a:xfrm>
            <a:off x="477716" y="12246"/>
            <a:ext cx="11296942" cy="1166863"/>
          </a:xfrm>
        </p:spPr>
        <p:txBody>
          <a:bodyPr>
            <a:normAutofit/>
          </a:bodyPr>
          <a:lstStyle/>
          <a:p>
            <a:pPr algn="ctr">
              <a:defRPr/>
            </a:pPr>
            <a:r>
              <a:rPr lang="en-US" sz="4800" b="1" dirty="0">
                <a:solidFill>
                  <a:schemeClr val="accent2">
                    <a:lumMod val="50000"/>
                  </a:schemeClr>
                </a:solidFill>
                <a:latin typeface="Times New Roman"/>
                <a:cs typeface="Times New Roman"/>
              </a:rPr>
              <a:t>1. Abstract</a:t>
            </a:r>
            <a:endParaRPr sz="4800" b="1" dirty="0">
              <a:solidFill>
                <a:schemeClr val="accent2">
                  <a:lumMod val="50000"/>
                </a:schemeClr>
              </a:solidFill>
              <a:latin typeface="Times New Roman"/>
              <a:cs typeface="Times New Roman"/>
            </a:endParaRPr>
          </a:p>
        </p:txBody>
      </p:sp>
      <p:sp>
        <p:nvSpPr>
          <p:cNvPr id="1483803168" name="Content Placeholder 4"/>
          <p:cNvSpPr>
            <a:spLocks noGrp="1"/>
          </p:cNvSpPr>
          <p:nvPr>
            <p:ph idx="1"/>
          </p:nvPr>
        </p:nvSpPr>
        <p:spPr bwMode="auto">
          <a:xfrm>
            <a:off x="121919" y="810949"/>
            <a:ext cx="7294881" cy="5625600"/>
          </a:xfrm>
        </p:spPr>
        <p:txBody>
          <a:bodyPr>
            <a:normAutofit lnSpcReduction="10000"/>
          </a:bodyPr>
          <a:lstStyle/>
          <a:p>
            <a:pPr lvl="0"/>
            <a:r>
              <a:rPr lang="en-US" b="1" dirty="0">
                <a:latin typeface="Times New Roman" panose="02020603050405020304" pitchFamily="18" charset="0"/>
                <a:cs typeface="Times New Roman" panose="02020603050405020304" pitchFamily="18" charset="0"/>
              </a:rPr>
              <a:t>Problem:</a:t>
            </a:r>
            <a:r>
              <a:rPr lang="en-US" dirty="0">
                <a:latin typeface="Times New Roman" panose="02020603050405020304" pitchFamily="18" charset="0"/>
                <a:cs typeface="Times New Roman" panose="02020603050405020304" pitchFamily="18" charset="0"/>
              </a:rPr>
              <a:t> Identifying new construction or demolition between two satellite images taken years apart. </a:t>
            </a:r>
          </a:p>
          <a:p>
            <a:pPr lvl="0"/>
            <a:r>
              <a:rPr lang="en-US" b="1" dirty="0">
                <a:latin typeface="Times New Roman" panose="02020603050405020304" pitchFamily="18" charset="0"/>
                <a:cs typeface="Times New Roman" panose="02020603050405020304" pitchFamily="18" charset="0"/>
              </a:rPr>
              <a:t>DSP Front-end:</a:t>
            </a:r>
            <a:r>
              <a:rPr lang="en-US" dirty="0">
                <a:latin typeface="Times New Roman" panose="02020603050405020304" pitchFamily="18" charset="0"/>
                <a:cs typeface="Times New Roman" panose="02020603050405020304" pitchFamily="18" charset="0"/>
              </a:rPr>
              <a:t> Applied Gaussian smoothing and Canny edge detection to isolate building boundaries. </a:t>
            </a:r>
          </a:p>
          <a:p>
            <a:pPr lvl="0"/>
            <a:r>
              <a:rPr lang="en-US" b="1" dirty="0">
                <a:latin typeface="Times New Roman" panose="02020603050405020304" pitchFamily="18" charset="0"/>
                <a:cs typeface="Times New Roman" panose="02020603050405020304" pitchFamily="18" charset="0"/>
              </a:rPr>
              <a:t>Deep Learning:</a:t>
            </a:r>
            <a:r>
              <a:rPr lang="en-US" dirty="0">
                <a:latin typeface="Times New Roman" panose="02020603050405020304" pitchFamily="18" charset="0"/>
                <a:cs typeface="Times New Roman" panose="02020603050405020304" pitchFamily="18" charset="0"/>
              </a:rPr>
              <a:t> Engineered a Siamese ResNet-34 U-Net to process the images and detect changes. </a:t>
            </a:r>
          </a:p>
          <a:p>
            <a:pPr lvl="0"/>
            <a:r>
              <a:rPr lang="en-US" b="1" dirty="0">
                <a:latin typeface="Times New Roman" panose="02020603050405020304" pitchFamily="18" charset="0"/>
                <a:cs typeface="Times New Roman" panose="02020603050405020304" pitchFamily="18" charset="0"/>
              </a:rPr>
              <a:t>Performance:</a:t>
            </a:r>
            <a:r>
              <a:rPr lang="en-US" dirty="0">
                <a:latin typeface="Times New Roman" panose="02020603050405020304" pitchFamily="18" charset="0"/>
                <a:cs typeface="Times New Roman" panose="02020603050405020304" pitchFamily="18" charset="0"/>
              </a:rPr>
              <a:t> Achieved a 91.2% F1-score and 83.8% </a:t>
            </a:r>
            <a:r>
              <a:rPr lang="en-US" dirty="0" err="1">
                <a:latin typeface="Times New Roman" panose="02020603050405020304" pitchFamily="18" charset="0"/>
                <a:cs typeface="Times New Roman" panose="02020603050405020304" pitchFamily="18" charset="0"/>
              </a:rPr>
              <a:t>IoU</a:t>
            </a:r>
            <a:r>
              <a:rPr lang="en-US" dirty="0">
                <a:latin typeface="Times New Roman" panose="02020603050405020304" pitchFamily="18" charset="0"/>
                <a:cs typeface="Times New Roman" panose="02020603050405020304" pitchFamily="18" charset="0"/>
              </a:rPr>
              <a:t> on the LEVIR-CD test set</a:t>
            </a:r>
          </a:p>
        </p:txBody>
      </p:sp>
      <p:sp>
        <p:nvSpPr>
          <p:cNvPr id="19" name="Rounded Rectangle 11">
            <a:extLst>
              <a:ext uri="{FF2B5EF4-FFF2-40B4-BE49-F238E27FC236}">
                <a16:creationId xmlns:a16="http://schemas.microsoft.com/office/drawing/2014/main" id="{25C95E0D-9F5D-0827-F522-B8E3A08E928B}"/>
              </a:ext>
            </a:extLst>
          </p:cNvPr>
          <p:cNvSpPr/>
          <p:nvPr/>
        </p:nvSpPr>
        <p:spPr>
          <a:xfrm>
            <a:off x="7543800" y="1292171"/>
            <a:ext cx="2194560" cy="132588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5400" b="1" i="0" dirty="0">
                <a:solidFill>
                  <a:srgbClr val="FFFFFF"/>
                </a:solidFill>
                <a:latin typeface="Times New Roman" panose="02020603050405020304" pitchFamily="18" charset="0"/>
                <a:cs typeface="Times New Roman" panose="02020603050405020304" pitchFamily="18" charset="0"/>
              </a:rPr>
              <a:t>91.2%</a:t>
            </a:r>
          </a:p>
          <a:p>
            <a:pPr algn="ctr"/>
            <a:r>
              <a:rPr sz="2000" b="0" i="0" dirty="0">
                <a:solidFill>
                  <a:srgbClr val="FFFFFF"/>
                </a:solidFill>
                <a:latin typeface="Times New Roman" panose="02020603050405020304" pitchFamily="18" charset="0"/>
                <a:cs typeface="Times New Roman" panose="02020603050405020304" pitchFamily="18" charset="0"/>
              </a:rPr>
              <a:t>F1-score (test)</a:t>
            </a:r>
          </a:p>
        </p:txBody>
      </p:sp>
      <p:sp>
        <p:nvSpPr>
          <p:cNvPr id="21" name="Rounded Rectangle 12">
            <a:extLst>
              <a:ext uri="{FF2B5EF4-FFF2-40B4-BE49-F238E27FC236}">
                <a16:creationId xmlns:a16="http://schemas.microsoft.com/office/drawing/2014/main" id="{F966B10C-E518-D27B-799F-5295B648FA0A}"/>
              </a:ext>
            </a:extLst>
          </p:cNvPr>
          <p:cNvSpPr/>
          <p:nvPr/>
        </p:nvSpPr>
        <p:spPr>
          <a:xfrm>
            <a:off x="9875520" y="1292171"/>
            <a:ext cx="2194560" cy="132588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5400" b="1" i="0">
                <a:solidFill>
                  <a:srgbClr val="FFFFFF"/>
                </a:solidFill>
                <a:latin typeface="Times New Roman" panose="02020603050405020304" pitchFamily="18" charset="0"/>
                <a:cs typeface="Times New Roman" panose="02020603050405020304" pitchFamily="18" charset="0"/>
              </a:rPr>
              <a:t>83.8%</a:t>
            </a:r>
          </a:p>
          <a:p>
            <a:pPr algn="ctr"/>
            <a:r>
              <a:rPr sz="2000" b="0" i="0">
                <a:solidFill>
                  <a:srgbClr val="FFFFFF"/>
                </a:solidFill>
                <a:latin typeface="Times New Roman" panose="02020603050405020304" pitchFamily="18" charset="0"/>
                <a:cs typeface="Times New Roman" panose="02020603050405020304" pitchFamily="18" charset="0"/>
              </a:rPr>
              <a:t>IoU (test)</a:t>
            </a:r>
          </a:p>
        </p:txBody>
      </p:sp>
      <p:sp>
        <p:nvSpPr>
          <p:cNvPr id="23" name="Rounded Rectangle 13">
            <a:extLst>
              <a:ext uri="{FF2B5EF4-FFF2-40B4-BE49-F238E27FC236}">
                <a16:creationId xmlns:a16="http://schemas.microsoft.com/office/drawing/2014/main" id="{D693CDBE-F814-7E13-4B4B-BCA0B64B27C9}"/>
              </a:ext>
            </a:extLst>
          </p:cNvPr>
          <p:cNvSpPr/>
          <p:nvPr/>
        </p:nvSpPr>
        <p:spPr>
          <a:xfrm>
            <a:off x="7543800" y="2755211"/>
            <a:ext cx="2194560" cy="132588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5400" b="1" i="0">
                <a:solidFill>
                  <a:srgbClr val="FFFFFF"/>
                </a:solidFill>
                <a:latin typeface="Times New Roman" panose="02020603050405020304" pitchFamily="18" charset="0"/>
                <a:cs typeface="Times New Roman" panose="02020603050405020304" pitchFamily="18" charset="0"/>
              </a:rPr>
              <a:t>99.1%</a:t>
            </a:r>
          </a:p>
          <a:p>
            <a:pPr algn="ctr"/>
            <a:r>
              <a:rPr sz="2000" b="0" i="0">
                <a:solidFill>
                  <a:srgbClr val="FFFFFF"/>
                </a:solidFill>
                <a:latin typeface="Times New Roman" panose="02020603050405020304" pitchFamily="18" charset="0"/>
                <a:cs typeface="Times New Roman" panose="02020603050405020304" pitchFamily="18" charset="0"/>
              </a:rPr>
              <a:t>Overall accuracy</a:t>
            </a:r>
          </a:p>
        </p:txBody>
      </p:sp>
      <p:sp>
        <p:nvSpPr>
          <p:cNvPr id="25" name="Rounded Rectangle 14">
            <a:extLst>
              <a:ext uri="{FF2B5EF4-FFF2-40B4-BE49-F238E27FC236}">
                <a16:creationId xmlns:a16="http://schemas.microsoft.com/office/drawing/2014/main" id="{D3D14E3C-7EA5-4E2D-2508-F54B2E80C8EE}"/>
              </a:ext>
            </a:extLst>
          </p:cNvPr>
          <p:cNvSpPr/>
          <p:nvPr/>
        </p:nvSpPr>
        <p:spPr>
          <a:xfrm>
            <a:off x="9875520" y="2755211"/>
            <a:ext cx="2194560" cy="1325880"/>
          </a:xfrm>
          <a:prstGeom prst="roundRect">
            <a:avLst>
              <a:gd name="adj" fmla="val 8000"/>
            </a:avLst>
          </a:prstGeom>
          <a:solidFill>
            <a:srgbClr val="1F6F8B"/>
          </a:solidFill>
          <a:ln>
            <a:no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5400" b="1" i="0" dirty="0">
                <a:solidFill>
                  <a:srgbClr val="FFFFFF"/>
                </a:solidFill>
                <a:latin typeface="Times New Roman" panose="02020603050405020304" pitchFamily="18" charset="0"/>
                <a:cs typeface="Times New Roman" panose="02020603050405020304" pitchFamily="18" charset="0"/>
              </a:rPr>
              <a:t>0.907</a:t>
            </a:r>
          </a:p>
          <a:p>
            <a:pPr algn="ctr"/>
            <a:r>
              <a:rPr sz="2000" b="0" i="0" dirty="0">
                <a:solidFill>
                  <a:srgbClr val="FFFFFF"/>
                </a:solidFill>
                <a:latin typeface="Times New Roman" panose="02020603050405020304" pitchFamily="18" charset="0"/>
                <a:cs typeface="Times New Roman" panose="02020603050405020304" pitchFamily="18" charset="0"/>
              </a:rPr>
              <a:t>Cohen's κ</a:t>
            </a:r>
          </a:p>
        </p:txBody>
      </p:sp>
      <p:pic>
        <p:nvPicPr>
          <p:cNvPr id="29" name="Picture 28" descr="g1_p0.jpg">
            <a:extLst>
              <a:ext uri="{FF2B5EF4-FFF2-40B4-BE49-F238E27FC236}">
                <a16:creationId xmlns:a16="http://schemas.microsoft.com/office/drawing/2014/main" id="{3E9FCD7D-F24D-ACB5-B5F8-EBE121E5F8C8}"/>
              </a:ext>
            </a:extLst>
          </p:cNvPr>
          <p:cNvPicPr>
            <a:picLocks noChangeAspect="1"/>
          </p:cNvPicPr>
          <p:nvPr/>
        </p:nvPicPr>
        <p:blipFill>
          <a:blip r:embed="rId3"/>
          <a:stretch>
            <a:fillRect/>
          </a:stretch>
        </p:blipFill>
        <p:spPr>
          <a:xfrm>
            <a:off x="7473431" y="4315890"/>
            <a:ext cx="1487689" cy="1683772"/>
          </a:xfrm>
          <a:prstGeom prst="rect">
            <a:avLst/>
          </a:prstGeom>
        </p:spPr>
      </p:pic>
      <p:pic>
        <p:nvPicPr>
          <p:cNvPr id="31" name="Picture 30" descr="g1_p1.jpg">
            <a:extLst>
              <a:ext uri="{FF2B5EF4-FFF2-40B4-BE49-F238E27FC236}">
                <a16:creationId xmlns:a16="http://schemas.microsoft.com/office/drawing/2014/main" id="{9BFF7727-5650-90BA-D426-2A1805AC6F54}"/>
              </a:ext>
            </a:extLst>
          </p:cNvPr>
          <p:cNvPicPr>
            <a:picLocks noChangeAspect="1"/>
          </p:cNvPicPr>
          <p:nvPr/>
        </p:nvPicPr>
        <p:blipFill>
          <a:blip r:embed="rId4"/>
          <a:stretch>
            <a:fillRect/>
          </a:stretch>
        </p:blipFill>
        <p:spPr>
          <a:xfrm>
            <a:off x="9027911" y="4315890"/>
            <a:ext cx="1484070" cy="1683772"/>
          </a:xfrm>
          <a:prstGeom prst="rect">
            <a:avLst/>
          </a:prstGeom>
        </p:spPr>
      </p:pic>
      <p:pic>
        <p:nvPicPr>
          <p:cNvPr id="33" name="Picture 32" descr="g1_p5.jpg">
            <a:extLst>
              <a:ext uri="{FF2B5EF4-FFF2-40B4-BE49-F238E27FC236}">
                <a16:creationId xmlns:a16="http://schemas.microsoft.com/office/drawing/2014/main" id="{07A6D2BC-413E-5962-EDB8-0300C7DB17E2}"/>
              </a:ext>
            </a:extLst>
          </p:cNvPr>
          <p:cNvPicPr>
            <a:picLocks noChangeAspect="1"/>
          </p:cNvPicPr>
          <p:nvPr/>
        </p:nvPicPr>
        <p:blipFill>
          <a:blip r:embed="rId5"/>
          <a:stretch>
            <a:fillRect/>
          </a:stretch>
        </p:blipFill>
        <p:spPr>
          <a:xfrm>
            <a:off x="10582391" y="4315890"/>
            <a:ext cx="1487689" cy="1683772"/>
          </a:xfrm>
          <a:prstGeom prst="rect">
            <a:avLst/>
          </a:prstGeom>
        </p:spPr>
      </p:pic>
      <p:sp>
        <p:nvSpPr>
          <p:cNvPr id="1602050190" name="Rectangle 1602050189"/>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2050191" name="TextBox 1602050190"/>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602050192" name="TextBox 1602050191"/>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602050193" name="TextBox 1602050192"/>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2206119</a:t>
            </a:r>
          </a:p>
        </p:txBody>
      </p:sp>
      <p:sp>
        <p:nvSpPr>
          <p:cNvPr id="1602050194" name="TextBox 1602050193"/>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4648E5F8-807D-41CB-83B7-855B8D8FBFA3}"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9936479" name="Title 1"/>
          <p:cNvSpPr>
            <a:spLocks noGrp="1"/>
          </p:cNvSpPr>
          <p:nvPr>
            <p:ph type="title"/>
          </p:nvPr>
        </p:nvSpPr>
        <p:spPr bwMode="auto">
          <a:xfrm>
            <a:off x="158262" y="0"/>
            <a:ext cx="11842776" cy="1089833"/>
          </a:xfrm>
        </p:spPr>
        <p:txBody>
          <a:bodyPr>
            <a:normAutofit fontScale="90000"/>
          </a:bodyPr>
          <a:lstStyle/>
          <a:p>
            <a:pPr algn="ctr">
              <a:defRPr/>
            </a:pPr>
            <a:r>
              <a:rPr lang="en-US" sz="4800" b="1" dirty="0">
                <a:solidFill>
                  <a:schemeClr val="accent2">
                    <a:lumMod val="50000"/>
                  </a:schemeClr>
                </a:solidFill>
                <a:latin typeface="Aparajita"/>
                <a:cs typeface="Aparajita"/>
              </a:rPr>
              <a:t>2. Introduction</a:t>
            </a:r>
            <a:endParaRPr dirty="0"/>
          </a:p>
        </p:txBody>
      </p:sp>
      <p:sp>
        <p:nvSpPr>
          <p:cNvPr id="825936840" name="Content Placeholder 2"/>
          <p:cNvSpPr>
            <a:spLocks noGrp="1"/>
          </p:cNvSpPr>
          <p:nvPr>
            <p:ph idx="1"/>
          </p:nvPr>
        </p:nvSpPr>
        <p:spPr bwMode="auto">
          <a:xfrm>
            <a:off x="163462" y="844986"/>
            <a:ext cx="11638890" cy="5485476"/>
          </a:xfrm>
        </p:spPr>
        <p:txBody>
          <a:bodyPr>
            <a:noAutofit/>
          </a:bodyPr>
          <a:lstStyle/>
          <a:p>
            <a:pPr lvl="0">
              <a:buFont typeface="Wingdings" panose="05000000000000000000" pitchFamily="2" charset="2"/>
              <a:buChar char="q"/>
            </a:pPr>
            <a:r>
              <a:rPr lang="en-US" sz="3600" b="1" dirty="0">
                <a:latin typeface="Times New Roman" panose="02020603050405020304" pitchFamily="18" charset="0"/>
                <a:cs typeface="Times New Roman" panose="02020603050405020304" pitchFamily="18" charset="0"/>
              </a:rPr>
              <a:t>The Objective:</a:t>
            </a:r>
            <a:r>
              <a:rPr lang="en-US" sz="3600" dirty="0">
                <a:latin typeface="Times New Roman" panose="02020603050405020304" pitchFamily="18" charset="0"/>
                <a:cs typeface="Times New Roman" panose="02020603050405020304" pitchFamily="18" charset="0"/>
              </a:rPr>
              <a:t> Automating the mapping of rapid urban growth, unauthorized constructions, and post-disaster damage. </a:t>
            </a:r>
          </a:p>
          <a:p>
            <a:pPr lvl="0">
              <a:buFont typeface="Wingdings" panose="05000000000000000000" pitchFamily="2" charset="2"/>
              <a:buChar char="q"/>
            </a:pPr>
            <a:r>
              <a:rPr lang="en-US" sz="3600" b="1" dirty="0">
                <a:latin typeface="Times New Roman" panose="02020603050405020304" pitchFamily="18" charset="0"/>
                <a:cs typeface="Times New Roman" panose="02020603050405020304" pitchFamily="18" charset="0"/>
              </a:rPr>
              <a:t>The Engineering Challenges:</a:t>
            </a:r>
            <a:endParaRPr lang="en-US" sz="3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Pseudo-changes:</a:t>
            </a:r>
            <a:r>
              <a:rPr lang="en-US" sz="3200" dirty="0">
                <a:latin typeface="Times New Roman" panose="02020603050405020304" pitchFamily="18" charset="0"/>
                <a:cs typeface="Times New Roman" panose="02020603050405020304" pitchFamily="18" charset="0"/>
              </a:rPr>
              <a:t> Seasonal color shifts, sun angles and shadows trigger false alarms. </a:t>
            </a:r>
          </a:p>
          <a:p>
            <a:pPr lvl="1">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Extreme Imbalance:</a:t>
            </a:r>
            <a:r>
              <a:rPr lang="en-US" sz="3200" dirty="0">
                <a:latin typeface="Times New Roman" panose="02020603050405020304" pitchFamily="18" charset="0"/>
                <a:cs typeface="Times New Roman" panose="02020603050405020304" pitchFamily="18" charset="0"/>
              </a:rPr>
              <a:t> Only small portion of pixels in the dataset actually represent true urban change. </a:t>
            </a:r>
          </a:p>
          <a:p>
            <a:pPr lvl="1">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Scale:</a:t>
            </a:r>
            <a:r>
              <a:rPr lang="en-US" sz="3200" dirty="0">
                <a:latin typeface="Times New Roman" panose="02020603050405020304" pitchFamily="18" charset="0"/>
                <a:cs typeface="Times New Roman" panose="02020603050405020304" pitchFamily="18" charset="0"/>
              </a:rPr>
              <a:t> Small objects like houses are only 10–20 pixels wide at 0.5 m/pixel resolution</a:t>
            </a:r>
          </a:p>
        </p:txBody>
      </p:sp>
      <p:sp>
        <p:nvSpPr>
          <p:cNvPr id="825936841" name="Rectangle 825936840"/>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5936842" name="TextBox 825936841"/>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825936843" name="TextBox 825936842"/>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825936844" name="TextBox 825936843"/>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2206119</a:t>
            </a:r>
          </a:p>
        </p:txBody>
      </p:sp>
      <p:sp>
        <p:nvSpPr>
          <p:cNvPr id="825936845" name="TextBox 825936844"/>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DDD44C2E-3A7C-4838-BA85-7297E70F75B5}"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Title 1">
            <a:extLst>
              <a:ext uri="{FF2B5EF4-FFF2-40B4-BE49-F238E27FC236}">
                <a16:creationId xmlns:a16="http://schemas.microsoft.com/office/drawing/2014/main" id="{BB13481B-0F70-AFCF-1902-4FC91FF6388F}"/>
              </a:ext>
            </a:extLst>
          </p:cNvPr>
          <p:cNvSpPr>
            <a:spLocks noGrp="1"/>
          </p:cNvSpPr>
          <p:nvPr>
            <p:ph type="title"/>
          </p:nvPr>
        </p:nvSpPr>
        <p:spPr>
          <a:xfrm>
            <a:off x="1097280" y="167360"/>
            <a:ext cx="10058400" cy="729006"/>
          </a:xfrm>
        </p:spPr>
        <p:txBody>
          <a:bodyPr>
            <a:normAutofit/>
          </a:bodyPr>
          <a:lstStyle/>
          <a:p>
            <a:pPr algn="ctr"/>
            <a:r>
              <a:rPr sz="4000" b="1" dirty="0">
                <a:latin typeface="Times New Roman" panose="02020603050405020304" pitchFamily="18" charset="0"/>
                <a:cs typeface="Times New Roman" panose="02020603050405020304" pitchFamily="18" charset="0"/>
              </a:rPr>
              <a:t>3.1 Design: Literature Review</a:t>
            </a:r>
          </a:p>
        </p:txBody>
      </p:sp>
      <p:sp>
        <p:nvSpPr>
          <p:cNvPr id="8" name="TextBox 7">
            <a:extLst>
              <a:ext uri="{FF2B5EF4-FFF2-40B4-BE49-F238E27FC236}">
                <a16:creationId xmlns:a16="http://schemas.microsoft.com/office/drawing/2014/main" id="{8E27C252-58A8-D76E-43D7-D9B68DA02428}"/>
              </a:ext>
            </a:extLst>
          </p:cNvPr>
          <p:cNvSpPr txBox="1"/>
          <p:nvPr/>
        </p:nvSpPr>
        <p:spPr>
          <a:xfrm>
            <a:off x="432486" y="797510"/>
            <a:ext cx="5806440" cy="5262979"/>
          </a:xfrm>
          <a:prstGeom prst="rect">
            <a:avLst/>
          </a:prstGeom>
          <a:noFill/>
        </p:spPr>
        <p:txBody>
          <a:bodyPr wrap="square" lIns="45720" rIns="45720" anchor="t">
            <a:spAutoFit/>
          </a:bodyPr>
          <a:lstStyle/>
          <a:p>
            <a:pPr lvl="0"/>
            <a:r>
              <a:rPr lang="en-US" sz="2800" b="1" dirty="0">
                <a:latin typeface="Times New Roman" panose="02020603050405020304" pitchFamily="18" charset="0"/>
                <a:cs typeface="Times New Roman" panose="02020603050405020304" pitchFamily="18" charset="0"/>
              </a:rPr>
              <a:t>Scope:</a:t>
            </a:r>
            <a:r>
              <a:rPr lang="en-US" sz="2800" dirty="0">
                <a:latin typeface="Times New Roman" panose="02020603050405020304" pitchFamily="18" charset="0"/>
                <a:cs typeface="Times New Roman" panose="02020603050405020304" pitchFamily="18" charset="0"/>
              </a:rPr>
              <a:t> Training on the LEVIR-CD dataset (637 image pairs) and validating on real-world local imagery. </a:t>
            </a:r>
          </a:p>
          <a:p>
            <a:pPr lvl="0"/>
            <a:r>
              <a:rPr lang="en-US" sz="2800" b="1" dirty="0">
                <a:latin typeface="Times New Roman" panose="02020603050405020304" pitchFamily="18" charset="0"/>
                <a:cs typeface="Times New Roman" panose="02020603050405020304" pitchFamily="18" charset="0"/>
              </a:rPr>
              <a:t>Literature Gap:</a:t>
            </a:r>
            <a:r>
              <a:rPr lang="en-US" sz="2800" dirty="0">
                <a:latin typeface="Times New Roman" panose="02020603050405020304" pitchFamily="18" charset="0"/>
                <a:cs typeface="Times New Roman" panose="02020603050405020304" pitchFamily="18" charset="0"/>
              </a:rPr>
              <a:t> Classical DSP methods are fast but sensitive to illumination changes. Standard CNNs lack explicit edge features, causing blurry architectural boundaries. </a:t>
            </a:r>
          </a:p>
          <a:p>
            <a:pPr lvl="0"/>
            <a:r>
              <a:rPr lang="en-US" sz="2800" b="1" dirty="0">
                <a:latin typeface="Times New Roman" panose="02020603050405020304" pitchFamily="18" charset="0"/>
                <a:cs typeface="Times New Roman" panose="02020603050405020304" pitchFamily="18" charset="0"/>
              </a:rPr>
              <a:t>Proposed Approach:</a:t>
            </a:r>
            <a:r>
              <a:rPr lang="en-US" sz="2800" dirty="0">
                <a:latin typeface="Times New Roman" panose="02020603050405020304" pitchFamily="18" charset="0"/>
                <a:cs typeface="Times New Roman" panose="02020603050405020304" pitchFamily="18" charset="0"/>
              </a:rPr>
              <a:t> Fusing explicit DSP edge features with spatial-temporal attention in a lightweight CNN</a:t>
            </a:r>
          </a:p>
        </p:txBody>
      </p:sp>
      <p:graphicFrame>
        <p:nvGraphicFramePr>
          <p:cNvPr id="9" name="Chart 8">
            <a:extLst>
              <a:ext uri="{FF2B5EF4-FFF2-40B4-BE49-F238E27FC236}">
                <a16:creationId xmlns:a16="http://schemas.microsoft.com/office/drawing/2014/main" id="{C45EF23A-FCC5-DB60-0C00-1C04D57D5D32}"/>
              </a:ext>
            </a:extLst>
          </p:cNvPr>
          <p:cNvGraphicFramePr>
            <a:graphicFrameLocks noGrp="1"/>
          </p:cNvGraphicFramePr>
          <p:nvPr>
            <p:extLst>
              <p:ext uri="{D42A27DB-BD31-4B8C-83A1-F6EECF244321}">
                <p14:modId xmlns:p14="http://schemas.microsoft.com/office/powerpoint/2010/main" val="3888889464"/>
              </p:ext>
            </p:extLst>
          </p:nvPr>
        </p:nvGraphicFramePr>
        <p:xfrm>
          <a:off x="6238926" y="1065403"/>
          <a:ext cx="6061435"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C0502965-22B5-3026-1D3E-C77F8344A88B}"/>
              </a:ext>
            </a:extLst>
          </p:cNvPr>
          <p:cNvSpPr txBox="1"/>
          <p:nvPr/>
        </p:nvSpPr>
        <p:spPr>
          <a:xfrm>
            <a:off x="6366423" y="5669280"/>
            <a:ext cx="5806440" cy="323165"/>
          </a:xfrm>
          <a:prstGeom prst="rect">
            <a:avLst/>
          </a:prstGeom>
          <a:noFill/>
        </p:spPr>
        <p:txBody>
          <a:bodyPr wrap="square" lIns="0" tIns="0" rIns="0" bIns="0" anchor="t">
            <a:spAutoFit/>
          </a:bodyPr>
          <a:lstStyle/>
          <a:p>
            <a:pPr algn="l">
              <a:spcAft>
                <a:spcPts val="600"/>
              </a:spcAft>
            </a:pPr>
            <a:r>
              <a:rPr sz="1050" b="1" dirty="0">
                <a:solidFill>
                  <a:srgbClr val="C00000"/>
                </a:solidFill>
                <a:latin typeface="Times New Roman" panose="02020603050405020304" pitchFamily="18" charset="0"/>
                <a:cs typeface="Times New Roman" panose="02020603050405020304" pitchFamily="18" charset="0"/>
              </a:rPr>
              <a:t>Published values from Bandara &amp; Patel (2022). Our figure uses sliding-window inference with test-time augmentation on the same 128 test images, so the comparison is indicative, not identical protocol.</a:t>
            </a:r>
          </a:p>
        </p:txBody>
      </p:sp>
      <p:cxnSp>
        <p:nvCxnSpPr>
          <p:cNvPr id="11" name="Straight Connector 10">
            <a:extLst>
              <a:ext uri="{FF2B5EF4-FFF2-40B4-BE49-F238E27FC236}">
                <a16:creationId xmlns:a16="http://schemas.microsoft.com/office/drawing/2014/main" id="{52571CCA-72B4-07B0-9F92-35CF620A1C67}"/>
              </a:ext>
            </a:extLst>
          </p:cNvPr>
          <p:cNvCxnSpPr/>
          <p:nvPr/>
        </p:nvCxnSpPr>
        <p:spPr>
          <a:xfrm>
            <a:off x="6238926" y="896366"/>
            <a:ext cx="0" cy="477291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4" name="TextBox 13"/>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5" name="TextBox 14"/>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2206114</a:t>
            </a:r>
          </a:p>
        </p:txBody>
      </p:sp>
      <p:sp>
        <p:nvSpPr>
          <p:cNvPr id="16" name="TextBox 15"/>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0C0A7341-4772-4CF6-B1E8-57EBF6698457}"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96062380" name="Text 1"/>
          <p:cNvSpPr/>
          <p:nvPr/>
        </p:nvSpPr>
        <p:spPr bwMode="auto">
          <a:xfrm>
            <a:off x="2490692" y="-101946"/>
            <a:ext cx="7419725" cy="714375"/>
          </a:xfrm>
          <a:prstGeom prst="rect">
            <a:avLst/>
          </a:prstGeom>
          <a:noFill/>
          <a:ln/>
        </p:spPr>
        <p:txBody>
          <a:bodyPr wrap="square" lIns="0" tIns="0" rIns="0" bIns="0" rtlCol="0" anchor="t"/>
          <a:lstStyle/>
          <a:p>
            <a:pPr algn="ctr">
              <a:defRPr/>
            </a:pPr>
            <a:r>
              <a:rPr lang="en-US" sz="4000" b="1" u="sng" dirty="0">
                <a:solidFill>
                  <a:srgbClr val="C00000"/>
                </a:solidFill>
                <a:latin typeface="Times New Roman" panose="02020603050405020304" pitchFamily="18" charset="0"/>
                <a:cs typeface="Times New Roman" panose="02020603050405020304" pitchFamily="18" charset="0"/>
              </a:rPr>
              <a:t>3.2 Design Methods (PO(a))</a:t>
            </a:r>
          </a:p>
        </p:txBody>
      </p:sp>
      <p:pic>
        <p:nvPicPr>
          <p:cNvPr id="632183007" name="Picture 50" descr="image.png"/>
          <p:cNvPicPr>
            <a:picLocks noChangeAspect="1"/>
          </p:cNvPicPr>
          <p:nvPr/>
        </p:nvPicPr>
        <p:blipFill rotWithShape="1">
          <a:blip r:embed="rId3"/>
          <a:stretch/>
        </p:blipFill>
        <p:spPr bwMode="auto">
          <a:xfrm>
            <a:off x="734133" y="609873"/>
            <a:ext cx="10621720" cy="651896"/>
          </a:xfrm>
          <a:prstGeom prst="rect">
            <a:avLst/>
          </a:prstGeom>
        </p:spPr>
      </p:pic>
      <p:pic>
        <p:nvPicPr>
          <p:cNvPr id="1365129591" name="Picture 52" descr="image.png"/>
          <p:cNvPicPr>
            <a:picLocks noChangeAspect="1"/>
          </p:cNvPicPr>
          <p:nvPr/>
        </p:nvPicPr>
        <p:blipFill rotWithShape="1">
          <a:blip r:embed="rId4"/>
          <a:stretch/>
        </p:blipFill>
        <p:spPr bwMode="auto">
          <a:xfrm>
            <a:off x="734133" y="1491792"/>
            <a:ext cx="10621720" cy="704157"/>
          </a:xfrm>
          <a:prstGeom prst="rect">
            <a:avLst/>
          </a:prstGeom>
        </p:spPr>
      </p:pic>
      <p:pic>
        <p:nvPicPr>
          <p:cNvPr id="750703786" name="Picture 54" descr="image.png"/>
          <p:cNvPicPr>
            <a:picLocks noChangeAspect="1"/>
          </p:cNvPicPr>
          <p:nvPr/>
        </p:nvPicPr>
        <p:blipFill rotWithShape="1">
          <a:blip r:embed="rId3"/>
          <a:stretch/>
        </p:blipFill>
        <p:spPr bwMode="auto">
          <a:xfrm>
            <a:off x="734134" y="2493183"/>
            <a:ext cx="10621719" cy="850636"/>
          </a:xfrm>
          <a:prstGeom prst="rect">
            <a:avLst/>
          </a:prstGeom>
        </p:spPr>
      </p:pic>
      <p:pic>
        <p:nvPicPr>
          <p:cNvPr id="623669277" name="Picture 56" descr="image.png"/>
          <p:cNvPicPr>
            <a:picLocks noChangeAspect="1"/>
          </p:cNvPicPr>
          <p:nvPr/>
        </p:nvPicPr>
        <p:blipFill rotWithShape="1">
          <a:blip r:embed="rId4"/>
          <a:stretch/>
        </p:blipFill>
        <p:spPr bwMode="auto">
          <a:xfrm>
            <a:off x="734134" y="3693140"/>
            <a:ext cx="10621720" cy="704157"/>
          </a:xfrm>
          <a:prstGeom prst="rect">
            <a:avLst/>
          </a:prstGeom>
        </p:spPr>
      </p:pic>
      <p:pic>
        <p:nvPicPr>
          <p:cNvPr id="1428540543" name="Picture 58" descr="image.png"/>
          <p:cNvPicPr>
            <a:picLocks noChangeAspect="1"/>
          </p:cNvPicPr>
          <p:nvPr/>
        </p:nvPicPr>
        <p:blipFill rotWithShape="1">
          <a:blip r:embed="rId3"/>
          <a:stretch/>
        </p:blipFill>
        <p:spPr bwMode="auto">
          <a:xfrm>
            <a:off x="734134" y="4674215"/>
            <a:ext cx="10621720" cy="704157"/>
          </a:xfrm>
          <a:prstGeom prst="rect">
            <a:avLst/>
          </a:prstGeom>
        </p:spPr>
      </p:pic>
      <p:pic>
        <p:nvPicPr>
          <p:cNvPr id="722751028" name="Picture 60" descr="image.png"/>
          <p:cNvPicPr>
            <a:picLocks noChangeAspect="1"/>
          </p:cNvPicPr>
          <p:nvPr/>
        </p:nvPicPr>
        <p:blipFill rotWithShape="1">
          <a:blip r:embed="rId4"/>
          <a:stretch/>
        </p:blipFill>
        <p:spPr bwMode="auto">
          <a:xfrm>
            <a:off x="734133" y="5646371"/>
            <a:ext cx="10621720" cy="704157"/>
          </a:xfrm>
          <a:prstGeom prst="rect">
            <a:avLst/>
          </a:prstGeom>
        </p:spPr>
      </p:pic>
      <p:pic>
        <p:nvPicPr>
          <p:cNvPr id="1787757061" name="Picture 62" descr="image.png"/>
          <p:cNvPicPr>
            <a:picLocks noChangeAspect="1"/>
          </p:cNvPicPr>
          <p:nvPr/>
        </p:nvPicPr>
        <p:blipFill rotWithShape="1">
          <a:blip r:embed="rId5"/>
          <a:stretch/>
        </p:blipFill>
        <p:spPr bwMode="auto">
          <a:xfrm>
            <a:off x="6044993" y="1304755"/>
            <a:ext cx="207658" cy="209550"/>
          </a:xfrm>
          <a:prstGeom prst="rect">
            <a:avLst/>
          </a:prstGeom>
        </p:spPr>
      </p:pic>
      <p:pic>
        <p:nvPicPr>
          <p:cNvPr id="1534344910" name="Picture 64" descr="image.png"/>
          <p:cNvPicPr>
            <a:picLocks noChangeAspect="1"/>
          </p:cNvPicPr>
          <p:nvPr/>
        </p:nvPicPr>
        <p:blipFill rotWithShape="1">
          <a:blip r:embed="rId5"/>
          <a:stretch/>
        </p:blipFill>
        <p:spPr bwMode="auto">
          <a:xfrm>
            <a:off x="6044993" y="2217378"/>
            <a:ext cx="207658" cy="209550"/>
          </a:xfrm>
          <a:prstGeom prst="rect">
            <a:avLst/>
          </a:prstGeom>
        </p:spPr>
      </p:pic>
      <p:pic>
        <p:nvPicPr>
          <p:cNvPr id="171006630" name="Picture 66" descr="image.png"/>
          <p:cNvPicPr>
            <a:picLocks noChangeAspect="1"/>
          </p:cNvPicPr>
          <p:nvPr/>
        </p:nvPicPr>
        <p:blipFill rotWithShape="1">
          <a:blip r:embed="rId5"/>
          <a:stretch/>
        </p:blipFill>
        <p:spPr bwMode="auto">
          <a:xfrm>
            <a:off x="6044993" y="3434822"/>
            <a:ext cx="207658" cy="209550"/>
          </a:xfrm>
          <a:prstGeom prst="rect">
            <a:avLst/>
          </a:prstGeom>
        </p:spPr>
      </p:pic>
      <p:pic>
        <p:nvPicPr>
          <p:cNvPr id="536534168" name="Picture 68" descr="image.png"/>
          <p:cNvPicPr>
            <a:picLocks noChangeAspect="1"/>
          </p:cNvPicPr>
          <p:nvPr/>
        </p:nvPicPr>
        <p:blipFill rotWithShape="1">
          <a:blip r:embed="rId5"/>
          <a:stretch/>
        </p:blipFill>
        <p:spPr bwMode="auto">
          <a:xfrm>
            <a:off x="6044993" y="4443495"/>
            <a:ext cx="207658" cy="209550"/>
          </a:xfrm>
          <a:prstGeom prst="rect">
            <a:avLst/>
          </a:prstGeom>
        </p:spPr>
      </p:pic>
      <p:pic>
        <p:nvPicPr>
          <p:cNvPr id="1871862645" name="Picture 70" descr="image.png"/>
          <p:cNvPicPr>
            <a:picLocks noChangeAspect="1"/>
          </p:cNvPicPr>
          <p:nvPr/>
        </p:nvPicPr>
        <p:blipFill rotWithShape="1">
          <a:blip r:embed="rId5"/>
          <a:stretch/>
        </p:blipFill>
        <p:spPr bwMode="auto">
          <a:xfrm>
            <a:off x="6044993" y="5424570"/>
            <a:ext cx="207658" cy="209550"/>
          </a:xfrm>
          <a:prstGeom prst="rect">
            <a:avLst/>
          </a:prstGeom>
        </p:spPr>
      </p:pic>
      <p:sp>
        <p:nvSpPr>
          <p:cNvPr id="1570171920" name="TextBox 72"/>
          <p:cNvSpPr txBox="1"/>
          <p:nvPr/>
        </p:nvSpPr>
        <p:spPr bwMode="auto">
          <a:xfrm>
            <a:off x="11953584" y="6148470"/>
            <a:ext cx="61912" cy="107722"/>
          </a:xfrm>
          <a:prstGeom prst="rect">
            <a:avLst/>
          </a:prstGeom>
          <a:noFill/>
        </p:spPr>
        <p:txBody>
          <a:bodyPr wrap="square" lIns="0" tIns="0" rIns="0" bIns="0" anchor="t">
            <a:spAutoFit/>
          </a:bodyPr>
          <a:lstStyle/>
          <a:p>
            <a:pPr algn="l">
              <a:defRPr/>
            </a:pPr>
            <a:r>
              <a:rPr sz="700" b="1" i="0" u="none">
                <a:solidFill>
                  <a:srgbClr val="FFFFFF"/>
                </a:solidFill>
                <a:latin typeface="Times New Roman"/>
                <a:cs typeface="Times New Roman"/>
              </a:rPr>
              <a:t>9</a:t>
            </a:r>
            <a:endParaRPr/>
          </a:p>
        </p:txBody>
      </p:sp>
      <p:sp>
        <p:nvSpPr>
          <p:cNvPr id="867697706" name="TextBox 74"/>
          <p:cNvSpPr txBox="1"/>
          <p:nvPr/>
        </p:nvSpPr>
        <p:spPr bwMode="auto">
          <a:xfrm>
            <a:off x="604745" y="609873"/>
            <a:ext cx="11164738" cy="369332"/>
          </a:xfrm>
          <a:prstGeom prst="rect">
            <a:avLst/>
          </a:prstGeom>
          <a:noFill/>
        </p:spPr>
        <p:txBody>
          <a:bodyPr wrap="square" lIns="0" tIns="0" rIns="0" bIns="0" anchor="t">
            <a:spAutoFit/>
          </a:bodyPr>
          <a:lstStyle/>
          <a:p>
            <a:pPr algn="ctr">
              <a:defRPr/>
            </a:pPr>
            <a:r>
              <a:rPr sz="2400" b="1" i="0" u="none">
                <a:solidFill>
                  <a:srgbClr val="FFFFFF"/>
                </a:solidFill>
                <a:latin typeface="Times New Roman"/>
                <a:cs typeface="Times New Roman"/>
              </a:rPr>
              <a:t>1. </a:t>
            </a:r>
            <a:r>
              <a:rPr lang="en-US" sz="2400" b="1" i="0" u="none">
                <a:solidFill>
                  <a:srgbClr val="FFFFFF"/>
                </a:solidFill>
                <a:latin typeface="Times New Roman"/>
                <a:cs typeface="Times New Roman"/>
              </a:rPr>
              <a:t>Data Preparation:</a:t>
            </a:r>
            <a:endParaRPr sz="2400" b="1" i="0" u="none">
              <a:solidFill>
                <a:srgbClr val="FFFFFF"/>
              </a:solidFill>
              <a:latin typeface="Times New Roman"/>
              <a:cs typeface="Times New Roman"/>
            </a:endParaRPr>
          </a:p>
        </p:txBody>
      </p:sp>
      <p:sp>
        <p:nvSpPr>
          <p:cNvPr id="320635021" name="TextBox 76"/>
          <p:cNvSpPr txBox="1"/>
          <p:nvPr/>
        </p:nvSpPr>
        <p:spPr bwMode="auto">
          <a:xfrm>
            <a:off x="604745" y="1023776"/>
            <a:ext cx="11164738" cy="246221"/>
          </a:xfrm>
          <a:prstGeom prst="rect">
            <a:avLst/>
          </a:prstGeom>
          <a:noFill/>
        </p:spPr>
        <p:txBody>
          <a:bodyPr wrap="square" lIns="0" tIns="0" rIns="0" bIns="0" anchor="t">
            <a:spAutoFit/>
          </a:bodyPr>
          <a:lstStyle/>
          <a:p>
            <a:pPr algn="ctr">
              <a:defRPr/>
            </a:pPr>
            <a:r>
              <a:rPr sz="1600" b="0" i="0" u="none" dirty="0">
                <a:solidFill>
                  <a:srgbClr val="FFFFFF"/>
                </a:solidFill>
                <a:latin typeface="Times New Roman"/>
                <a:cs typeface="Times New Roman"/>
              </a:rPr>
              <a:t>LEVIR-CD: 637 bi-temporal pairs, 1024 × 1024 px, 0.5 m/pixel</a:t>
            </a:r>
            <a:endParaRPr sz="1600" b="0" i="0" u="none" dirty="0">
              <a:solidFill>
                <a:srgbClr val="FFFFFF"/>
              </a:solidFill>
              <a:latin typeface="Times New Roman"/>
              <a:cs typeface="Times New Roman"/>
            </a:endParaRPr>
          </a:p>
        </p:txBody>
      </p:sp>
      <p:sp>
        <p:nvSpPr>
          <p:cNvPr id="1252718528" name="TextBox 78"/>
          <p:cNvSpPr txBox="1"/>
          <p:nvPr/>
        </p:nvSpPr>
        <p:spPr bwMode="auto">
          <a:xfrm>
            <a:off x="523782" y="1523224"/>
            <a:ext cx="11164738" cy="369332"/>
          </a:xfrm>
          <a:prstGeom prst="rect">
            <a:avLst/>
          </a:prstGeom>
          <a:noFill/>
        </p:spPr>
        <p:txBody>
          <a:bodyPr wrap="square" lIns="0" tIns="0" rIns="0" bIns="0" anchor="t">
            <a:spAutoFit/>
          </a:bodyPr>
          <a:lstStyle/>
          <a:p>
            <a:pPr algn="ctr">
              <a:defRPr/>
            </a:pPr>
            <a:r>
              <a:rPr sz="2400" b="1" i="0" u="none">
                <a:solidFill>
                  <a:srgbClr val="FFFFFF"/>
                </a:solidFill>
                <a:latin typeface="Times New Roman"/>
                <a:cs typeface="Times New Roman"/>
              </a:rPr>
              <a:t>2. Preprocessing</a:t>
            </a:r>
            <a:endParaRPr/>
          </a:p>
        </p:txBody>
      </p:sp>
      <p:sp>
        <p:nvSpPr>
          <p:cNvPr id="1701037158" name="TextBox 80"/>
          <p:cNvSpPr txBox="1"/>
          <p:nvPr/>
        </p:nvSpPr>
        <p:spPr bwMode="auto">
          <a:xfrm>
            <a:off x="604745" y="1918297"/>
            <a:ext cx="11164738" cy="246221"/>
          </a:xfrm>
          <a:prstGeom prst="rect">
            <a:avLst/>
          </a:prstGeom>
          <a:noFill/>
        </p:spPr>
        <p:txBody>
          <a:bodyPr wrap="square" lIns="0" tIns="0" rIns="0" bIns="0" anchor="t">
            <a:spAutoFit/>
          </a:bodyPr>
          <a:lstStyle/>
          <a:p>
            <a:pPr algn="ctr">
              <a:defRPr/>
            </a:pPr>
            <a:r>
              <a:rPr lang="en-US" sz="1600" dirty="0">
                <a:solidFill>
                  <a:srgbClr val="FFFFFF"/>
                </a:solidFill>
                <a:latin typeface="Times New Roman"/>
                <a:cs typeface="Times New Roman"/>
              </a:rPr>
              <a:t>Native-resolution 256 × 256 crops, joint augmentation, channel standardisation</a:t>
            </a:r>
            <a:endParaRPr dirty="0"/>
          </a:p>
        </p:txBody>
      </p:sp>
      <p:sp>
        <p:nvSpPr>
          <p:cNvPr id="1730425837" name="TextBox 82"/>
          <p:cNvSpPr txBox="1"/>
          <p:nvPr/>
        </p:nvSpPr>
        <p:spPr bwMode="auto">
          <a:xfrm>
            <a:off x="565727" y="2500212"/>
            <a:ext cx="11164738" cy="369332"/>
          </a:xfrm>
          <a:prstGeom prst="rect">
            <a:avLst/>
          </a:prstGeom>
          <a:noFill/>
        </p:spPr>
        <p:txBody>
          <a:bodyPr wrap="square" lIns="0" tIns="0" rIns="0" bIns="0" anchor="t">
            <a:spAutoFit/>
          </a:bodyPr>
          <a:lstStyle/>
          <a:p>
            <a:pPr algn="ctr">
              <a:defRPr/>
            </a:pPr>
            <a:r>
              <a:rPr sz="2400" b="1" i="0" u="none">
                <a:solidFill>
                  <a:srgbClr val="FFFFFF"/>
                </a:solidFill>
                <a:latin typeface="Times New Roman"/>
                <a:cs typeface="Times New Roman"/>
              </a:rPr>
              <a:t>3. DSP Feature Engineering</a:t>
            </a:r>
            <a:endParaRPr/>
          </a:p>
        </p:txBody>
      </p:sp>
      <p:sp>
        <p:nvSpPr>
          <p:cNvPr id="84298726" name="TextBox 84"/>
          <p:cNvSpPr txBox="1"/>
          <p:nvPr/>
        </p:nvSpPr>
        <p:spPr bwMode="auto">
          <a:xfrm>
            <a:off x="414243" y="2935559"/>
            <a:ext cx="11601251" cy="246221"/>
          </a:xfrm>
          <a:prstGeom prst="rect">
            <a:avLst/>
          </a:prstGeom>
          <a:noFill/>
        </p:spPr>
        <p:txBody>
          <a:bodyPr wrap="square" lIns="0" tIns="0" rIns="0" bIns="0" anchor="t">
            <a:spAutoFit/>
          </a:bodyPr>
          <a:lstStyle/>
          <a:p>
            <a:pPr algn="ctr">
              <a:defRPr/>
            </a:pPr>
            <a:r>
              <a:rPr lang="en-US" sz="1600" b="0" i="0" u="none">
                <a:solidFill>
                  <a:srgbClr val="FFFFFF"/>
                </a:solidFill>
                <a:latin typeface="Times New Roman"/>
                <a:cs typeface="Times New Roman"/>
              </a:rPr>
              <a:t>Converting RGB to a 4-channel input by fusing standard color with Grayscale, Gaussian Filtering, and Canny Edge Detection.</a:t>
            </a:r>
            <a:endParaRPr sz="1600" b="0" i="0" u="none">
              <a:solidFill>
                <a:srgbClr val="FFFFFF"/>
              </a:solidFill>
              <a:latin typeface="Times New Roman"/>
              <a:cs typeface="Times New Roman"/>
            </a:endParaRPr>
          </a:p>
        </p:txBody>
      </p:sp>
      <p:sp>
        <p:nvSpPr>
          <p:cNvPr id="1547780010" name="TextBox 86"/>
          <p:cNvSpPr txBox="1"/>
          <p:nvPr/>
        </p:nvSpPr>
        <p:spPr bwMode="auto">
          <a:xfrm>
            <a:off x="604746" y="3654200"/>
            <a:ext cx="11164738" cy="369332"/>
          </a:xfrm>
          <a:prstGeom prst="rect">
            <a:avLst/>
          </a:prstGeom>
          <a:noFill/>
        </p:spPr>
        <p:txBody>
          <a:bodyPr wrap="square" lIns="0" tIns="0" rIns="0" bIns="0" anchor="t">
            <a:spAutoFit/>
          </a:bodyPr>
          <a:lstStyle/>
          <a:p>
            <a:pPr algn="ctr">
              <a:defRPr/>
            </a:pPr>
            <a:r>
              <a:rPr sz="2400" b="1" i="0" u="none">
                <a:solidFill>
                  <a:srgbClr val="FFFFFF"/>
                </a:solidFill>
                <a:latin typeface="Times New Roman"/>
                <a:cs typeface="Times New Roman"/>
              </a:rPr>
              <a:t>4. Siamese U-Net Model</a:t>
            </a:r>
            <a:endParaRPr/>
          </a:p>
        </p:txBody>
      </p:sp>
      <p:sp>
        <p:nvSpPr>
          <p:cNvPr id="1211773433" name="TextBox 88"/>
          <p:cNvSpPr txBox="1"/>
          <p:nvPr/>
        </p:nvSpPr>
        <p:spPr bwMode="auto">
          <a:xfrm>
            <a:off x="604746" y="4119645"/>
            <a:ext cx="11164738" cy="246221"/>
          </a:xfrm>
          <a:prstGeom prst="rect">
            <a:avLst/>
          </a:prstGeom>
          <a:noFill/>
        </p:spPr>
        <p:txBody>
          <a:bodyPr wrap="square" lIns="0" tIns="0" rIns="0" bIns="0" anchor="t">
            <a:spAutoFit/>
          </a:bodyPr>
          <a:lstStyle/>
          <a:p>
            <a:pPr algn="ctr">
              <a:defRPr/>
            </a:pPr>
            <a:r>
              <a:rPr sz="1600" b="0" i="0" u="none">
                <a:solidFill>
                  <a:srgbClr val="FFFFFF"/>
                </a:solidFill>
                <a:latin typeface="Times New Roman"/>
                <a:cs typeface="Times New Roman"/>
              </a:rPr>
              <a:t>Shared-weight encoding &amp; </a:t>
            </a:r>
            <a:r>
              <a:rPr lang="en-US" sz="1600" b="0" i="0" u="none">
                <a:solidFill>
                  <a:srgbClr val="FFFFFF"/>
                </a:solidFill>
                <a:latin typeface="Times New Roman"/>
                <a:cs typeface="Times New Roman"/>
              </a:rPr>
              <a:t>F</a:t>
            </a:r>
            <a:r>
              <a:rPr sz="1600" b="0" i="0" u="none">
                <a:solidFill>
                  <a:srgbClr val="FFFFFF"/>
                </a:solidFill>
                <a:latin typeface="Times New Roman"/>
                <a:cs typeface="Times New Roman"/>
              </a:rPr>
              <a:t>eature </a:t>
            </a:r>
            <a:r>
              <a:rPr lang="en-US" sz="1600">
                <a:solidFill>
                  <a:srgbClr val="FFFFFF"/>
                </a:solidFill>
                <a:latin typeface="Times New Roman"/>
                <a:cs typeface="Times New Roman"/>
              </a:rPr>
              <a:t>f</a:t>
            </a:r>
            <a:r>
              <a:rPr sz="1600" b="0" i="0" u="none">
                <a:solidFill>
                  <a:srgbClr val="FFFFFF"/>
                </a:solidFill>
                <a:latin typeface="Times New Roman"/>
                <a:cs typeface="Times New Roman"/>
              </a:rPr>
              <a:t>usion</a:t>
            </a:r>
            <a:endParaRPr/>
          </a:p>
        </p:txBody>
      </p:sp>
      <p:sp>
        <p:nvSpPr>
          <p:cNvPr id="1747324055" name="TextBox 90"/>
          <p:cNvSpPr txBox="1"/>
          <p:nvPr/>
        </p:nvSpPr>
        <p:spPr bwMode="auto">
          <a:xfrm>
            <a:off x="604746" y="4653551"/>
            <a:ext cx="11164738" cy="369332"/>
          </a:xfrm>
          <a:prstGeom prst="rect">
            <a:avLst/>
          </a:prstGeom>
          <a:noFill/>
        </p:spPr>
        <p:txBody>
          <a:bodyPr wrap="square" lIns="0" tIns="0" rIns="0" bIns="0" anchor="t">
            <a:spAutoFit/>
          </a:bodyPr>
          <a:lstStyle/>
          <a:p>
            <a:pPr algn="ctr">
              <a:defRPr/>
            </a:pPr>
            <a:r>
              <a:rPr sz="2400" b="1" i="0" u="none">
                <a:solidFill>
                  <a:srgbClr val="FFFFFF"/>
                </a:solidFill>
                <a:latin typeface="Times New Roman"/>
                <a:cs typeface="Times New Roman"/>
              </a:rPr>
              <a:t>5. Training</a:t>
            </a:r>
            <a:endParaRPr/>
          </a:p>
        </p:txBody>
      </p:sp>
      <p:sp>
        <p:nvSpPr>
          <p:cNvPr id="1518228606" name="TextBox 92"/>
          <p:cNvSpPr txBox="1"/>
          <p:nvPr/>
        </p:nvSpPr>
        <p:spPr bwMode="auto">
          <a:xfrm>
            <a:off x="604746" y="5100720"/>
            <a:ext cx="11164738" cy="246221"/>
          </a:xfrm>
          <a:prstGeom prst="rect">
            <a:avLst/>
          </a:prstGeom>
          <a:noFill/>
        </p:spPr>
        <p:txBody>
          <a:bodyPr wrap="square" lIns="0" tIns="0" rIns="0" bIns="0" anchor="t">
            <a:spAutoFit/>
          </a:bodyPr>
          <a:lstStyle/>
          <a:p>
            <a:pPr algn="ctr">
              <a:defRPr/>
            </a:pPr>
            <a:r>
              <a:rPr lang="en-US" sz="1600" b="0" i="0" u="none" dirty="0">
                <a:solidFill>
                  <a:srgbClr val="FFFFFF"/>
                </a:solidFill>
                <a:latin typeface="Times New Roman"/>
                <a:cs typeface="Times New Roman"/>
              </a:rPr>
              <a:t>AdamW · BCE + Dice + class-balanced edge loss · LEVIR-CD train split</a:t>
            </a:r>
            <a:endParaRPr sz="1600" b="0" i="0" u="none" dirty="0">
              <a:solidFill>
                <a:srgbClr val="FFFFFF"/>
              </a:solidFill>
              <a:latin typeface="Times New Roman"/>
              <a:cs typeface="Times New Roman"/>
            </a:endParaRPr>
          </a:p>
        </p:txBody>
      </p:sp>
      <p:sp>
        <p:nvSpPr>
          <p:cNvPr id="1828913069" name="TextBox 94"/>
          <p:cNvSpPr txBox="1"/>
          <p:nvPr/>
        </p:nvSpPr>
        <p:spPr bwMode="auto">
          <a:xfrm>
            <a:off x="604745" y="5662695"/>
            <a:ext cx="11164738" cy="369332"/>
          </a:xfrm>
          <a:prstGeom prst="rect">
            <a:avLst/>
          </a:prstGeom>
          <a:noFill/>
        </p:spPr>
        <p:txBody>
          <a:bodyPr wrap="square" lIns="0" tIns="0" rIns="0" bIns="0" anchor="t">
            <a:spAutoFit/>
          </a:bodyPr>
          <a:lstStyle/>
          <a:p>
            <a:pPr algn="ctr">
              <a:defRPr/>
            </a:pPr>
            <a:r>
              <a:rPr sz="2400" b="1" i="0" u="none">
                <a:solidFill>
                  <a:srgbClr val="FFFFFF"/>
                </a:solidFill>
                <a:latin typeface="Times New Roman"/>
                <a:cs typeface="Times New Roman"/>
              </a:rPr>
              <a:t>6. Evaluation &amp; Demonstration</a:t>
            </a:r>
            <a:endParaRPr/>
          </a:p>
        </p:txBody>
      </p:sp>
      <p:sp>
        <p:nvSpPr>
          <p:cNvPr id="472049431" name="TextBox 96"/>
          <p:cNvSpPr txBox="1"/>
          <p:nvPr/>
        </p:nvSpPr>
        <p:spPr bwMode="auto">
          <a:xfrm>
            <a:off x="604746" y="6091328"/>
            <a:ext cx="11164738" cy="246221"/>
          </a:xfrm>
          <a:prstGeom prst="rect">
            <a:avLst/>
          </a:prstGeom>
          <a:noFill/>
        </p:spPr>
        <p:txBody>
          <a:bodyPr wrap="square" lIns="0" tIns="0" rIns="0" bIns="0" anchor="t">
            <a:spAutoFit/>
          </a:bodyPr>
          <a:lstStyle/>
          <a:p>
            <a:pPr algn="ctr">
              <a:defRPr/>
            </a:pPr>
            <a:r>
              <a:rPr sz="1600" b="0" i="0" u="none" dirty="0" err="1">
                <a:solidFill>
                  <a:srgbClr val="FFFFFF"/>
                </a:solidFill>
                <a:latin typeface="Times New Roman"/>
                <a:cs typeface="Times New Roman"/>
              </a:rPr>
              <a:t>IoU</a:t>
            </a:r>
            <a:r>
              <a:rPr sz="1600" b="0" i="0" u="none" dirty="0">
                <a:solidFill>
                  <a:srgbClr val="FFFFFF"/>
                </a:solidFill>
                <a:latin typeface="Times New Roman"/>
                <a:cs typeface="Times New Roman"/>
              </a:rPr>
              <a:t>, Precision, Recall, F1 &amp; </a:t>
            </a:r>
            <a:r>
              <a:rPr lang="en-US" sz="1600" b="0" i="0" u="none" dirty="0">
                <a:solidFill>
                  <a:srgbClr val="FFFFFF"/>
                </a:solidFill>
                <a:latin typeface="Times New Roman"/>
                <a:cs typeface="Times New Roman"/>
              </a:rPr>
              <a:t>Q</a:t>
            </a:r>
            <a:r>
              <a:rPr sz="1600" b="0" i="0" u="none" dirty="0">
                <a:solidFill>
                  <a:srgbClr val="FFFFFF"/>
                </a:solidFill>
                <a:latin typeface="Times New Roman"/>
                <a:cs typeface="Times New Roman"/>
              </a:rPr>
              <a:t>ualitative inference</a:t>
            </a:r>
            <a:endParaRPr dirty="0"/>
          </a:p>
        </p:txBody>
      </p:sp>
      <p:sp>
        <p:nvSpPr>
          <p:cNvPr id="1871862646" name="Rectangle 1871862645"/>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71862647" name="TextBox 1871862646"/>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871862648" name="TextBox 1871862647"/>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871862649" name="TextBox 1871862648"/>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2206119</a:t>
            </a:r>
          </a:p>
        </p:txBody>
      </p:sp>
      <p:sp>
        <p:nvSpPr>
          <p:cNvPr id="1871862650" name="TextBox 1871862649"/>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409988DD-01A7-474C-8131-03D372E1EE4B}"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1">
    <p:bg>
      <p:bgPr>
        <a:solidFill>
          <a:srgbClr val="FFFFFF"/>
        </a:solidFill>
        <a:effectLst/>
      </p:bgPr>
    </p:bg>
    <p:spTree>
      <p:nvGrpSpPr>
        <p:cNvPr id="1" name=""/>
        <p:cNvGrpSpPr/>
        <p:nvPr/>
      </p:nvGrpSpPr>
      <p:grpSpPr bwMode="auto">
        <a:xfrm>
          <a:off x="0" y="0"/>
          <a:ext cx="0" cy="0"/>
          <a:chOff x="0" y="0"/>
          <a:chExt cx="0" cy="0"/>
        </a:xfrm>
      </p:grpSpPr>
      <p:sp>
        <p:nvSpPr>
          <p:cNvPr id="361924992" name="Shape 0"/>
          <p:cNvSpPr/>
          <p:nvPr/>
        </p:nvSpPr>
        <p:spPr bwMode="auto">
          <a:xfrm>
            <a:off x="3063240" y="92489"/>
            <a:ext cx="6060882" cy="888234"/>
          </a:xfrm>
          <a:prstGeom prst="roundRect">
            <a:avLst>
              <a:gd name="adj" fmla="val 7619"/>
            </a:avLst>
          </a:prstGeom>
          <a:solidFill>
            <a:srgbClr val="C00000"/>
          </a:solidFill>
          <a:ln/>
        </p:spPr>
        <p:txBody>
          <a:bodyPr/>
          <a:lstStyle/>
          <a:p>
            <a:endParaRPr lang="en-US"/>
          </a:p>
        </p:txBody>
      </p:sp>
      <p:sp>
        <p:nvSpPr>
          <p:cNvPr id="1769440153" name="Text 1"/>
          <p:cNvSpPr txBox="1"/>
          <p:nvPr/>
        </p:nvSpPr>
        <p:spPr bwMode="auto">
          <a:xfrm>
            <a:off x="3180522" y="115349"/>
            <a:ext cx="6060882" cy="457200"/>
          </a:xfrm>
          <a:prstGeom prst="rect">
            <a:avLst/>
          </a:prstGeom>
          <a:noFill/>
          <a:ln/>
        </p:spPr>
        <p:txBody>
          <a:bodyPr wrap="square" lIns="0" tIns="0" rIns="0" bIns="0" rtlCol="0" anchor="ctr"/>
          <a:lstStyle/>
          <a:p>
            <a:pPr algn="ctr">
              <a:defRPr/>
            </a:pPr>
            <a:r>
              <a:rPr lang="en-US" sz="2400" dirty="0">
                <a:solidFill>
                  <a:schemeClr val="bg1"/>
                </a:solidFill>
                <a:latin typeface="Times New Roman" panose="02020603050405020304" pitchFamily="18" charset="0"/>
                <a:cs typeface="Times New Roman" panose="02020603050405020304" pitchFamily="18" charset="0"/>
              </a:rPr>
              <a:t>3.2.1 Design Methods:</a:t>
            </a:r>
            <a:r>
              <a:rPr lang="en-US" sz="2400" b="1" dirty="0">
                <a:solidFill>
                  <a:schemeClr val="bg1"/>
                </a:solidFill>
                <a:latin typeface="Times New Roman" panose="02020603050405020304" pitchFamily="18" charset="0"/>
                <a:ea typeface="Cambria"/>
                <a:cs typeface="Times New Roman" panose="02020603050405020304" pitchFamily="18" charset="0"/>
              </a:rPr>
              <a:t> Data Preparation</a:t>
            </a: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104126514" name="Text 2"/>
          <p:cNvSpPr txBox="1"/>
          <p:nvPr/>
        </p:nvSpPr>
        <p:spPr bwMode="auto">
          <a:xfrm>
            <a:off x="4371390" y="546773"/>
            <a:ext cx="3099222" cy="384048"/>
          </a:xfrm>
          <a:prstGeom prst="rect">
            <a:avLst/>
          </a:prstGeom>
          <a:noFill/>
          <a:ln/>
        </p:spPr>
        <p:txBody>
          <a:bodyPr wrap="square" lIns="0" tIns="0" rIns="0" bIns="0" rtlCol="0" anchor="ctr"/>
          <a:lstStyle/>
          <a:p>
            <a:pPr marL="0" indent="0" algn="ctr">
              <a:buNone/>
              <a:defRPr/>
            </a:pPr>
            <a:r>
              <a:rPr lang="en-US" sz="1600" i="1" dirty="0">
                <a:solidFill>
                  <a:srgbClr val="FFFFFF"/>
                </a:solidFill>
                <a:latin typeface="Times New Roman"/>
                <a:ea typeface="Times New Roman"/>
                <a:cs typeface="Times New Roman"/>
              </a:rPr>
              <a:t>LEVIR-CD — Primary Dataset [1]</a:t>
            </a:r>
            <a:endParaRPr lang="en-US" sz="1600" dirty="0"/>
          </a:p>
        </p:txBody>
      </p:sp>
      <p:sp>
        <p:nvSpPr>
          <p:cNvPr id="1219826623" name="Text 6"/>
          <p:cNvSpPr txBox="1"/>
          <p:nvPr/>
        </p:nvSpPr>
        <p:spPr bwMode="auto">
          <a:xfrm>
            <a:off x="11688775" y="256032"/>
            <a:ext cx="274320" cy="274320"/>
          </a:xfrm>
          <a:prstGeom prst="rect">
            <a:avLst/>
          </a:prstGeom>
          <a:noFill/>
          <a:ln/>
        </p:spPr>
        <p:txBody>
          <a:bodyPr wrap="square" lIns="0" tIns="0" rIns="0" bIns="0" rtlCol="0" anchor="ctr"/>
          <a:lstStyle/>
          <a:p>
            <a:pPr marL="0" indent="0" algn="r">
              <a:buNone/>
              <a:defRPr/>
            </a:pPr>
            <a:r>
              <a:rPr lang="en-US" sz="1100">
                <a:solidFill>
                  <a:srgbClr val="FFFFFF"/>
                </a:solidFill>
                <a:latin typeface="Times New Roman"/>
                <a:ea typeface="Times New Roman"/>
                <a:cs typeface="Times New Roman"/>
              </a:rPr>
              <a:t>1</a:t>
            </a:r>
            <a:endParaRPr lang="en-US" sz="1100"/>
          </a:p>
        </p:txBody>
      </p:sp>
      <p:sp>
        <p:nvSpPr>
          <p:cNvPr id="996274723" name="Shape 7"/>
          <p:cNvSpPr/>
          <p:nvPr/>
        </p:nvSpPr>
        <p:spPr bwMode="auto">
          <a:xfrm>
            <a:off x="502920" y="1142577"/>
            <a:ext cx="4846320" cy="457200"/>
          </a:xfrm>
          <a:prstGeom prst="roundRect">
            <a:avLst>
              <a:gd name="adj" fmla="val 12000"/>
            </a:avLst>
          </a:prstGeom>
          <a:solidFill>
            <a:srgbClr val="1F497D"/>
          </a:solidFill>
          <a:ln/>
        </p:spPr>
        <p:txBody>
          <a:bodyPr anchor="ctr"/>
          <a:lstStyle/>
          <a:p>
            <a:pPr algn="ctr">
              <a:defRPr/>
            </a:pPr>
            <a:endParaRPr sz="2400"/>
          </a:p>
        </p:txBody>
      </p:sp>
      <p:sp>
        <p:nvSpPr>
          <p:cNvPr id="297469628" name="Text 8"/>
          <p:cNvSpPr txBox="1"/>
          <p:nvPr/>
        </p:nvSpPr>
        <p:spPr bwMode="auto">
          <a:xfrm>
            <a:off x="502920" y="1142577"/>
            <a:ext cx="4846320" cy="457200"/>
          </a:xfrm>
          <a:prstGeom prst="rect">
            <a:avLst/>
          </a:prstGeom>
          <a:noFill/>
          <a:ln/>
        </p:spPr>
        <p:txBody>
          <a:bodyPr wrap="square" lIns="0" tIns="0" rIns="0" bIns="0" rtlCol="0" anchor="ctr"/>
          <a:lstStyle/>
          <a:p>
            <a:pPr marL="0" indent="0" algn="ctr">
              <a:buNone/>
              <a:defRPr/>
            </a:pPr>
            <a:r>
              <a:rPr lang="en-US" sz="2000" b="1">
                <a:solidFill>
                  <a:srgbClr val="FFFFFF"/>
                </a:solidFill>
                <a:latin typeface="Times New Roman"/>
                <a:ea typeface="Times New Roman"/>
                <a:cs typeface="Times New Roman"/>
              </a:rPr>
              <a:t>Bi-Temporal Data (Before / After)</a:t>
            </a:r>
            <a:endParaRPr lang="en-US" sz="2000"/>
          </a:p>
        </p:txBody>
      </p:sp>
      <p:sp>
        <p:nvSpPr>
          <p:cNvPr id="41984209" name="Shape 9"/>
          <p:cNvSpPr/>
          <p:nvPr/>
        </p:nvSpPr>
        <p:spPr bwMode="auto">
          <a:xfrm>
            <a:off x="427383" y="1828377"/>
            <a:ext cx="2435087" cy="502920"/>
          </a:xfrm>
          <a:prstGeom prst="roundRect">
            <a:avLst>
              <a:gd name="adj" fmla="val 10909"/>
            </a:avLst>
          </a:prstGeom>
          <a:solidFill>
            <a:srgbClr val="F2F2F2"/>
          </a:solidFill>
          <a:ln w="12700">
            <a:solidFill>
              <a:srgbClr val="1F497D"/>
            </a:solidFill>
            <a:prstDash val="solid"/>
          </a:ln>
        </p:spPr>
        <p:txBody>
          <a:bodyPr anchor="ctr"/>
          <a:lstStyle/>
          <a:p>
            <a:pPr algn="ctr">
              <a:defRPr/>
            </a:pPr>
            <a:endParaRPr sz="2400"/>
          </a:p>
        </p:txBody>
      </p:sp>
      <p:sp>
        <p:nvSpPr>
          <p:cNvPr id="1537467462" name="Text 10"/>
          <p:cNvSpPr txBox="1"/>
          <p:nvPr/>
        </p:nvSpPr>
        <p:spPr bwMode="auto">
          <a:xfrm>
            <a:off x="502920" y="1828377"/>
            <a:ext cx="2286000" cy="502920"/>
          </a:xfrm>
          <a:prstGeom prst="rect">
            <a:avLst/>
          </a:prstGeom>
          <a:noFill/>
          <a:ln/>
        </p:spPr>
        <p:txBody>
          <a:bodyPr wrap="square" lIns="0" tIns="0" rIns="0" bIns="0" rtlCol="0" anchor="ctr"/>
          <a:lstStyle/>
          <a:p>
            <a:pPr marL="0" indent="0" algn="ctr">
              <a:buNone/>
              <a:defRPr/>
            </a:pPr>
            <a:r>
              <a:rPr lang="en-US" sz="2400" dirty="0">
                <a:solidFill>
                  <a:srgbClr val="1A1A1A"/>
                </a:solidFill>
                <a:latin typeface="Times New Roman"/>
                <a:ea typeface="Times New Roman"/>
                <a:cs typeface="Times New Roman"/>
              </a:rPr>
              <a:t>Time T₁ — Before</a:t>
            </a:r>
            <a:endParaRPr lang="en-US" sz="2400" dirty="0"/>
          </a:p>
        </p:txBody>
      </p:sp>
      <p:sp>
        <p:nvSpPr>
          <p:cNvPr id="99305883" name="Shape 11"/>
          <p:cNvSpPr/>
          <p:nvPr/>
        </p:nvSpPr>
        <p:spPr bwMode="auto">
          <a:xfrm>
            <a:off x="3063240" y="1828377"/>
            <a:ext cx="2286000" cy="502920"/>
          </a:xfrm>
          <a:prstGeom prst="roundRect">
            <a:avLst>
              <a:gd name="adj" fmla="val 10909"/>
            </a:avLst>
          </a:prstGeom>
          <a:solidFill>
            <a:srgbClr val="F2F2F2"/>
          </a:solidFill>
          <a:ln w="12700">
            <a:solidFill>
              <a:srgbClr val="1F497D"/>
            </a:solidFill>
            <a:prstDash val="solid"/>
          </a:ln>
        </p:spPr>
        <p:txBody>
          <a:bodyPr anchor="ctr"/>
          <a:lstStyle/>
          <a:p>
            <a:pPr algn="ctr">
              <a:defRPr/>
            </a:pPr>
            <a:endParaRPr sz="2400"/>
          </a:p>
        </p:txBody>
      </p:sp>
      <p:sp>
        <p:nvSpPr>
          <p:cNvPr id="1755694826" name="Text 12"/>
          <p:cNvSpPr txBox="1"/>
          <p:nvPr/>
        </p:nvSpPr>
        <p:spPr bwMode="auto">
          <a:xfrm>
            <a:off x="3063240" y="1828377"/>
            <a:ext cx="2286000" cy="502920"/>
          </a:xfrm>
          <a:prstGeom prst="rect">
            <a:avLst/>
          </a:prstGeom>
          <a:noFill/>
          <a:ln/>
        </p:spPr>
        <p:txBody>
          <a:bodyPr wrap="square" lIns="0" tIns="0" rIns="0" bIns="0" rtlCol="0" anchor="ctr"/>
          <a:lstStyle/>
          <a:p>
            <a:pPr marL="0" indent="0" algn="ctr">
              <a:buNone/>
              <a:defRPr/>
            </a:pPr>
            <a:r>
              <a:rPr lang="en-US" sz="2400" dirty="0">
                <a:solidFill>
                  <a:srgbClr val="1A1A1A"/>
                </a:solidFill>
                <a:latin typeface="Times New Roman"/>
                <a:ea typeface="Times New Roman"/>
                <a:cs typeface="Times New Roman"/>
              </a:rPr>
              <a:t>Time T₂ — After</a:t>
            </a:r>
            <a:endParaRPr lang="en-US" sz="2400" dirty="0"/>
          </a:p>
        </p:txBody>
      </p:sp>
      <p:sp>
        <p:nvSpPr>
          <p:cNvPr id="2038719889" name="Text 13"/>
          <p:cNvSpPr txBox="1"/>
          <p:nvPr/>
        </p:nvSpPr>
        <p:spPr bwMode="auto">
          <a:xfrm>
            <a:off x="1857149" y="2377016"/>
            <a:ext cx="602864" cy="365760"/>
          </a:xfrm>
          <a:prstGeom prst="rect">
            <a:avLst/>
          </a:prstGeom>
          <a:noFill/>
          <a:ln/>
        </p:spPr>
        <p:txBody>
          <a:bodyPr wrap="square" lIns="0" tIns="0" rIns="0" bIns="0" rtlCol="0" anchor="ctr"/>
          <a:lstStyle/>
          <a:p>
            <a:pPr marL="0" indent="0" algn="ctr">
              <a:buNone/>
              <a:defRPr/>
            </a:pPr>
            <a:r>
              <a:rPr lang="en-US" sz="2600">
                <a:solidFill>
                  <a:srgbClr val="1F497D"/>
                </a:solidFill>
                <a:latin typeface="Times New Roman"/>
                <a:ea typeface="Times New Roman"/>
                <a:cs typeface="Times New Roman"/>
              </a:rPr>
              <a:t>↓</a:t>
            </a:r>
            <a:endParaRPr lang="en-US" sz="2600"/>
          </a:p>
        </p:txBody>
      </p:sp>
      <p:sp>
        <p:nvSpPr>
          <p:cNvPr id="1624909097" name="Text 14"/>
          <p:cNvSpPr txBox="1"/>
          <p:nvPr/>
        </p:nvSpPr>
        <p:spPr bwMode="auto">
          <a:xfrm>
            <a:off x="3429327" y="2331297"/>
            <a:ext cx="457200" cy="411480"/>
          </a:xfrm>
          <a:prstGeom prst="rect">
            <a:avLst/>
          </a:prstGeom>
          <a:noFill/>
          <a:ln/>
        </p:spPr>
        <p:txBody>
          <a:bodyPr wrap="square" lIns="0" tIns="0" rIns="0" bIns="0" rtlCol="0" anchor="ctr"/>
          <a:lstStyle/>
          <a:p>
            <a:pPr marL="0" indent="0" algn="ctr">
              <a:buNone/>
              <a:defRPr/>
            </a:pPr>
            <a:r>
              <a:rPr lang="en-US" sz="2600">
                <a:solidFill>
                  <a:srgbClr val="1F497D"/>
                </a:solidFill>
                <a:latin typeface="Times New Roman"/>
                <a:ea typeface="Times New Roman"/>
                <a:cs typeface="Times New Roman"/>
              </a:rPr>
              <a:t>↓</a:t>
            </a:r>
            <a:endParaRPr lang="en-US" sz="2600"/>
          </a:p>
        </p:txBody>
      </p:sp>
      <p:sp>
        <p:nvSpPr>
          <p:cNvPr id="615626896" name="Shape 15"/>
          <p:cNvSpPr/>
          <p:nvPr/>
        </p:nvSpPr>
        <p:spPr bwMode="auto">
          <a:xfrm>
            <a:off x="1805939" y="2789070"/>
            <a:ext cx="2286000" cy="665725"/>
          </a:xfrm>
          <a:prstGeom prst="roundRect">
            <a:avLst>
              <a:gd name="adj" fmla="val 10909"/>
            </a:avLst>
          </a:prstGeom>
          <a:solidFill>
            <a:srgbClr val="C00000"/>
          </a:solidFill>
          <a:ln/>
        </p:spPr>
        <p:txBody>
          <a:bodyPr anchor="ctr"/>
          <a:lstStyle/>
          <a:p>
            <a:pPr algn="ctr">
              <a:defRPr/>
            </a:pPr>
            <a:endParaRPr sz="2400"/>
          </a:p>
        </p:txBody>
      </p:sp>
      <p:sp>
        <p:nvSpPr>
          <p:cNvPr id="681324036" name="Text 16"/>
          <p:cNvSpPr txBox="1"/>
          <p:nvPr/>
        </p:nvSpPr>
        <p:spPr bwMode="auto">
          <a:xfrm>
            <a:off x="1857149" y="2860190"/>
            <a:ext cx="2286000" cy="502920"/>
          </a:xfrm>
          <a:prstGeom prst="rect">
            <a:avLst/>
          </a:prstGeom>
          <a:noFill/>
          <a:ln/>
        </p:spPr>
        <p:txBody>
          <a:bodyPr wrap="square" lIns="0" tIns="0" rIns="0" bIns="0" rtlCol="0" anchor="ctr"/>
          <a:lstStyle/>
          <a:p>
            <a:pPr algn="ctr">
              <a:defRPr/>
            </a:pPr>
            <a:r>
              <a:rPr lang="en-US" dirty="0">
                <a:solidFill>
                  <a:srgbClr val="FFFFFF"/>
                </a:solidFill>
                <a:latin typeface="Times New Roman"/>
                <a:ea typeface="Times New Roman"/>
                <a:cs typeface="Times New Roman"/>
              </a:rPr>
              <a:t>Ground-Truth </a:t>
            </a:r>
            <a:r>
              <a:rPr lang="en-US" sz="1800" dirty="0">
                <a:solidFill>
                  <a:srgbClr val="FFFFFF"/>
                </a:solidFill>
                <a:latin typeface="Times New Roman"/>
                <a:ea typeface="Times New Roman"/>
                <a:cs typeface="Times New Roman"/>
              </a:rPr>
              <a:t>Change Mask</a:t>
            </a:r>
            <a:endParaRPr lang="en-US" sz="1800" dirty="0"/>
          </a:p>
        </p:txBody>
      </p:sp>
      <p:sp>
        <p:nvSpPr>
          <p:cNvPr id="1055201291" name="Shape 17"/>
          <p:cNvSpPr/>
          <p:nvPr/>
        </p:nvSpPr>
        <p:spPr bwMode="auto">
          <a:xfrm>
            <a:off x="502920" y="3776049"/>
            <a:ext cx="4502419" cy="2199542"/>
          </a:xfrm>
          <a:prstGeom prst="roundRect">
            <a:avLst>
              <a:gd name="adj" fmla="val 5163"/>
            </a:avLst>
          </a:prstGeom>
          <a:solidFill>
            <a:srgbClr val="F2F2F2"/>
          </a:solidFill>
          <a:ln w="12700">
            <a:solidFill>
              <a:srgbClr val="1F497D"/>
            </a:solidFill>
            <a:prstDash val="solid"/>
          </a:ln>
        </p:spPr>
        <p:txBody>
          <a:bodyPr anchor="ctr"/>
          <a:lstStyle/>
          <a:p>
            <a:pPr algn="ctr">
              <a:defRPr/>
            </a:pPr>
            <a:endParaRPr sz="2400"/>
          </a:p>
        </p:txBody>
      </p:sp>
      <p:sp>
        <p:nvSpPr>
          <p:cNvPr id="1303821302" name="Text 18"/>
          <p:cNvSpPr txBox="1"/>
          <p:nvPr/>
        </p:nvSpPr>
        <p:spPr bwMode="auto">
          <a:xfrm>
            <a:off x="598329" y="3867079"/>
            <a:ext cx="4407010" cy="2090046"/>
          </a:xfrm>
          <a:prstGeom prst="rect">
            <a:avLst/>
          </a:prstGeom>
          <a:noFill/>
          <a:ln/>
        </p:spPr>
        <p:txBody>
          <a:bodyPr wrap="square" lIns="0" tIns="0" rIns="0" bIns="0" rtlCol="0" anchor="t"/>
          <a:lstStyle/>
          <a:p>
            <a:pPr marL="342900" indent="-342900" algn="l">
              <a:spcAft>
                <a:spcPts val="400"/>
              </a:spcAft>
              <a:buSzPct val="100000"/>
              <a:buChar char="•"/>
              <a:defRPr/>
            </a:pPr>
            <a:r>
              <a:rPr lang="en-US" sz="2000" dirty="0">
                <a:solidFill>
                  <a:srgbClr val="1A1A1A"/>
                </a:solidFill>
                <a:latin typeface="Times New Roman"/>
                <a:ea typeface="Times New Roman"/>
                <a:cs typeface="Times New Roman"/>
              </a:rPr>
              <a:t>637 bi-temporal RGB image pairs</a:t>
            </a:r>
            <a:endParaRPr lang="en-US" sz="2000" dirty="0"/>
          </a:p>
          <a:p>
            <a:pPr marL="342900" indent="-342900" algn="l">
              <a:spcAft>
                <a:spcPts val="400"/>
              </a:spcAft>
              <a:buSzPct val="100000"/>
              <a:buChar char="•"/>
              <a:defRPr/>
            </a:pPr>
            <a:r>
              <a:rPr lang="en-US" sz="2000" dirty="0">
                <a:solidFill>
                  <a:srgbClr val="1A1A1A"/>
                </a:solidFill>
                <a:latin typeface="Times New Roman"/>
                <a:ea typeface="Times New Roman"/>
                <a:cs typeface="Times New Roman"/>
              </a:rPr>
              <a:t>Spatial size: 1024 × 1024 pixels</a:t>
            </a:r>
            <a:endParaRPr lang="en-US" sz="2000" dirty="0"/>
          </a:p>
          <a:p>
            <a:pPr marL="342900" indent="-342900" algn="l">
              <a:spcAft>
                <a:spcPts val="400"/>
              </a:spcAft>
              <a:buSzPct val="100000"/>
              <a:buChar char="•"/>
              <a:defRPr/>
            </a:pPr>
            <a:r>
              <a:rPr lang="en-US" sz="2000" dirty="0">
                <a:solidFill>
                  <a:srgbClr val="1A1A1A"/>
                </a:solidFill>
                <a:latin typeface="Times New Roman"/>
                <a:ea typeface="Times New Roman"/>
                <a:cs typeface="Times New Roman"/>
              </a:rPr>
              <a:t>Spatial resolution: 0.5 m/pixel</a:t>
            </a:r>
            <a:endParaRPr lang="en-US" sz="2000" dirty="0"/>
          </a:p>
          <a:p>
            <a:pPr marL="342900" indent="-342900" algn="l">
              <a:spcAft>
                <a:spcPts val="400"/>
              </a:spcAft>
              <a:buSzPct val="100000"/>
              <a:buChar char="•"/>
              <a:defRPr/>
            </a:pPr>
            <a:r>
              <a:rPr lang="en-US" sz="2000" dirty="0">
                <a:solidFill>
                  <a:srgbClr val="1A1A1A"/>
                </a:solidFill>
                <a:latin typeface="Times New Roman"/>
                <a:ea typeface="Times New Roman"/>
                <a:cs typeface="Times New Roman"/>
              </a:rPr>
              <a:t>Train: 445 </a:t>
            </a:r>
            <a:r>
              <a:rPr lang="en-US" sz="3600" b="1" dirty="0">
                <a:solidFill>
                  <a:srgbClr val="1A1A1A"/>
                </a:solidFill>
                <a:latin typeface="Times New Roman"/>
                <a:ea typeface="Times New Roman"/>
                <a:cs typeface="Times New Roman"/>
              </a:rPr>
              <a:t>·</a:t>
            </a:r>
            <a:r>
              <a:rPr lang="en-US" sz="2000" dirty="0">
                <a:solidFill>
                  <a:srgbClr val="1A1A1A"/>
                </a:solidFill>
                <a:latin typeface="Times New Roman"/>
                <a:ea typeface="Times New Roman"/>
                <a:cs typeface="Times New Roman"/>
              </a:rPr>
              <a:t> Validation: 64 </a:t>
            </a:r>
            <a:r>
              <a:rPr lang="en-US" sz="3200" b="1" dirty="0">
                <a:solidFill>
                  <a:srgbClr val="1A1A1A"/>
                </a:solidFill>
                <a:latin typeface="Times New Roman"/>
                <a:ea typeface="Times New Roman"/>
                <a:cs typeface="Times New Roman"/>
              </a:rPr>
              <a:t>·</a:t>
            </a:r>
            <a:r>
              <a:rPr lang="en-US" sz="2000" dirty="0">
                <a:solidFill>
                  <a:srgbClr val="1A1A1A"/>
                </a:solidFill>
                <a:latin typeface="Times New Roman"/>
                <a:ea typeface="Times New Roman"/>
                <a:cs typeface="Times New Roman"/>
              </a:rPr>
              <a:t> Test: 128</a:t>
            </a:r>
            <a:endParaRPr lang="en-US" sz="2000" dirty="0"/>
          </a:p>
        </p:txBody>
      </p:sp>
      <p:sp>
        <p:nvSpPr>
          <p:cNvPr id="877379194" name="Text 20"/>
          <p:cNvSpPr txBox="1"/>
          <p:nvPr/>
        </p:nvSpPr>
        <p:spPr bwMode="auto">
          <a:xfrm>
            <a:off x="218662" y="6165924"/>
            <a:ext cx="11931314" cy="198775"/>
          </a:xfrm>
          <a:prstGeom prst="rect">
            <a:avLst/>
          </a:prstGeom>
          <a:noFill/>
          <a:ln/>
        </p:spPr>
        <p:txBody>
          <a:bodyPr wrap="square" lIns="0" tIns="0" rIns="0" bIns="0" rtlCol="0" anchor="ctr"/>
          <a:lstStyle/>
          <a:p>
            <a:pPr marL="0" indent="0" algn="l">
              <a:buNone/>
              <a:defRPr/>
            </a:pPr>
            <a:r>
              <a:rPr lang="en-US" sz="1350" b="1" i="1" dirty="0">
                <a:solidFill>
                  <a:schemeClr val="accent4">
                    <a:lumMod val="50000"/>
                  </a:schemeClr>
                </a:solidFill>
                <a:latin typeface="Times New Roman"/>
                <a:ea typeface="Times New Roman"/>
                <a:cs typeface="Times New Roman"/>
              </a:rPr>
              <a:t>[1] H. Chen and Z. Shi, "A Spatial-Temporal Attention-Based Method and a New Dataset for Remote Sensing Image Change Detection," Remote Sensing, 12(10), 2020.</a:t>
            </a:r>
            <a:endParaRPr sz="1350" b="1" dirty="0">
              <a:solidFill>
                <a:schemeClr val="accent4">
                  <a:lumMod val="50000"/>
                </a:schemeClr>
              </a:solidFill>
            </a:endParaRPr>
          </a:p>
        </p:txBody>
      </p:sp>
      <p:sp>
        <p:nvSpPr>
          <p:cNvPr id="2" name="TextBox 1">
            <a:extLst>
              <a:ext uri="{FF2B5EF4-FFF2-40B4-BE49-F238E27FC236}">
                <a16:creationId xmlns:a16="http://schemas.microsoft.com/office/drawing/2014/main" id="{D6DE2181-3B97-B9A6-67BE-81328512B538}"/>
              </a:ext>
            </a:extLst>
          </p:cNvPr>
          <p:cNvSpPr txBox="1"/>
          <p:nvPr/>
        </p:nvSpPr>
        <p:spPr>
          <a:xfrm>
            <a:off x="5605272" y="914400"/>
            <a:ext cx="2029968" cy="384048"/>
          </a:xfrm>
          <a:prstGeom prst="rect">
            <a:avLst/>
          </a:prstGeom>
          <a:noFill/>
        </p:spPr>
        <p:txBody>
          <a:bodyPr wrap="square" rtlCol="0">
            <a:spAutoFit/>
          </a:bodyPr>
          <a:lstStyle/>
          <a:p>
            <a:pPr algn="ctr"/>
            <a:r>
              <a:rPr lang="en-US" sz="2000" dirty="0" b="1">
                <a:solidFill>
                  <a:srgbClr val="1A1A1A"/>
                </a:solidFill>
                <a:latin typeface="Times New Roman" panose="02020603050405020304" pitchFamily="18" charset="0"/>
                <a:cs typeface="Aparajita" panose="02020603050405020304" pitchFamily="18" charset="0"/>
              </a:rPr>
              <a:t>Before (T₁)</a:t>
            </a:r>
          </a:p>
        </p:txBody>
      </p:sp>
      <p:sp>
        <p:nvSpPr>
          <p:cNvPr id="4" name="TextBox 3">
            <a:extLst>
              <a:ext uri="{FF2B5EF4-FFF2-40B4-BE49-F238E27FC236}">
                <a16:creationId xmlns:a16="http://schemas.microsoft.com/office/drawing/2014/main" id="{A3936FCC-D7B6-C7A1-07BC-2C770353DEEB}"/>
              </a:ext>
            </a:extLst>
          </p:cNvPr>
          <p:cNvSpPr txBox="1"/>
          <p:nvPr/>
        </p:nvSpPr>
        <p:spPr bwMode="auto">
          <a:xfrm>
            <a:off x="7726679" y="914400"/>
            <a:ext cx="1984248" cy="384048"/>
          </a:xfrm>
          <a:prstGeom prst="rect">
            <a:avLst/>
          </a:prstGeom>
          <a:noFill/>
        </p:spPr>
        <p:txBody>
          <a:bodyPr wrap="square" rtlCol="0">
            <a:spAutoFit/>
          </a:bodyPr>
          <a:lstStyle/>
          <a:p>
            <a:pPr algn="ctr"/>
            <a:r>
              <a:rPr lang="en-US" sz="2000" dirty="0" b="1">
                <a:solidFill>
                  <a:srgbClr val="1A1A1A"/>
                </a:solidFill>
                <a:latin typeface="Times New Roman" panose="02020603050405020304" pitchFamily="18" charset="0"/>
                <a:cs typeface="Aparajita" panose="02020603050405020304" pitchFamily="18" charset="0"/>
              </a:rPr>
              <a:t>After (T₂)</a:t>
            </a:r>
          </a:p>
        </p:txBody>
      </p:sp>
      <p:sp>
        <p:nvSpPr>
          <p:cNvPr id="8" name="TextBox 7">
            <a:extLst>
              <a:ext uri="{FF2B5EF4-FFF2-40B4-BE49-F238E27FC236}">
                <a16:creationId xmlns:a16="http://schemas.microsoft.com/office/drawing/2014/main" id="{33C9CFB3-7F27-CD9C-E903-12BFFF19F465}"/>
              </a:ext>
            </a:extLst>
          </p:cNvPr>
          <p:cNvSpPr txBox="1"/>
          <p:nvPr/>
        </p:nvSpPr>
        <p:spPr>
          <a:xfrm>
            <a:off x="9793224" y="914400"/>
            <a:ext cx="2167128" cy="384048"/>
          </a:xfrm>
          <a:prstGeom prst="rect">
            <a:avLst/>
          </a:prstGeom>
          <a:noFill/>
        </p:spPr>
        <p:txBody>
          <a:bodyPr wrap="square">
            <a:spAutoFit/>
          </a:bodyPr>
          <a:lstStyle/>
          <a:p>
            <a:pPr algn="ctr"/>
            <a:r>
              <a:rPr lang="en-US" sz="2000" dirty="0" b="1">
                <a:solidFill>
                  <a:srgbClr val="C00000"/>
                </a:solidFill>
                <a:latin typeface="Times New Roman" panose="02020603050405020304" pitchFamily="18" charset="0"/>
                <a:ea typeface="Times New Roman"/>
                <a:cs typeface="Aparajita" panose="02020603050405020304" pitchFamily="18" charset="0"/>
              </a:rPr>
              <a:t>Ground Truth</a:t>
            </a:r>
            <a:endParaRPr lang="en-US" sz="2800" dirty="0">
              <a:solidFill>
                <a:schemeClr val="accent1">
                  <a:lumMod val="50000"/>
                </a:schemeClr>
              </a:solidFill>
              <a:latin typeface="Aparajita" panose="02020603050405020304" pitchFamily="18" charset="0"/>
              <a:cs typeface="Aparajita" panose="02020603050405020304" pitchFamily="18" charset="0"/>
            </a:endParaRPr>
          </a:p>
        </p:txBody>
      </p:sp>
      <p:sp>
        <p:nvSpPr>
          <p:cNvPr id="10" name="Shape 14">
            <a:extLst>
              <a:ext uri="{FF2B5EF4-FFF2-40B4-BE49-F238E27FC236}">
                <a16:creationId xmlns:a16="http://schemas.microsoft.com/office/drawing/2014/main" id="{9A388C61-240B-4DB8-6392-B87A709F3707}"/>
              </a:ext>
            </a:extLst>
          </p:cNvPr>
          <p:cNvSpPr/>
          <p:nvPr/>
        </p:nvSpPr>
        <p:spPr bwMode="auto">
          <a:xfrm flipV="1">
            <a:off x="5609054" y="2927608"/>
            <a:ext cx="6354040" cy="1719"/>
          </a:xfrm>
          <a:prstGeom prst="line">
            <a:avLst/>
          </a:prstGeom>
          <a:ln>
            <a:solidFill>
              <a:schemeClr val="bg2">
                <a:lumMod val="50000"/>
              </a:schemeClr>
            </a:solidFill>
          </a:ln>
        </p:spPr>
        <p:style>
          <a:lnRef idx="1">
            <a:schemeClr val="dk1"/>
          </a:lnRef>
          <a:fillRef idx="0">
            <a:schemeClr val="dk1"/>
          </a:fillRef>
          <a:effectRef idx="0">
            <a:schemeClr val="dk1"/>
          </a:effectRef>
          <a:fontRef idx="minor">
            <a:schemeClr val="tx1"/>
          </a:fontRef>
        </p:style>
        <p:txBody>
          <a:bodyPr/>
          <a:lstStyle/>
          <a:p>
            <a:endParaRPr lang="en-US" dirty="0"/>
          </a:p>
        </p:txBody>
      </p:sp>
      <p:sp>
        <p:nvSpPr>
          <p:cNvPr id="12" name="Shape 14">
            <a:extLst>
              <a:ext uri="{FF2B5EF4-FFF2-40B4-BE49-F238E27FC236}">
                <a16:creationId xmlns:a16="http://schemas.microsoft.com/office/drawing/2014/main" id="{91B7C155-7730-A29A-4FF8-81CB93063151}"/>
              </a:ext>
            </a:extLst>
          </p:cNvPr>
          <p:cNvSpPr/>
          <p:nvPr/>
        </p:nvSpPr>
        <p:spPr bwMode="auto">
          <a:xfrm flipV="1">
            <a:off x="5609054" y="4592048"/>
            <a:ext cx="6354040" cy="1719"/>
          </a:xfrm>
          <a:prstGeom prst="line">
            <a:avLst/>
          </a:prstGeom>
          <a:ln>
            <a:solidFill>
              <a:schemeClr val="bg2">
                <a:lumMod val="50000"/>
              </a:schemeClr>
            </a:solidFill>
          </a:ln>
        </p:spPr>
        <p:style>
          <a:lnRef idx="1">
            <a:schemeClr val="dk1"/>
          </a:lnRef>
          <a:fillRef idx="0">
            <a:schemeClr val="dk1"/>
          </a:fillRef>
          <a:effectRef idx="0">
            <a:schemeClr val="dk1"/>
          </a:effectRef>
          <a:fontRef idx="minor">
            <a:schemeClr val="tx1"/>
          </a:fontRef>
        </p:style>
        <p:txBody>
          <a:bodyPr/>
          <a:lstStyle/>
          <a:p>
            <a:endParaRPr lang="en-US" dirty="0"/>
          </a:p>
        </p:txBody>
      </p:sp>
      <p:sp>
        <p:nvSpPr>
          <p:cNvPr id="14" name="Shape 14">
            <a:extLst>
              <a:ext uri="{FF2B5EF4-FFF2-40B4-BE49-F238E27FC236}">
                <a16:creationId xmlns:a16="http://schemas.microsoft.com/office/drawing/2014/main" id="{98751FA6-38F2-0D16-8772-A4FFC5328815}"/>
              </a:ext>
            </a:extLst>
          </p:cNvPr>
          <p:cNvSpPr/>
          <p:nvPr/>
        </p:nvSpPr>
        <p:spPr bwMode="auto">
          <a:xfrm flipV="1">
            <a:off x="5609054" y="1261449"/>
            <a:ext cx="6354040" cy="1719"/>
          </a:xfrm>
          <a:prstGeom prst="line">
            <a:avLst/>
          </a:prstGeom>
          <a:ln>
            <a:solidFill>
              <a:schemeClr val="bg2">
                <a:lumMod val="50000"/>
              </a:schemeClr>
            </a:solidFill>
          </a:ln>
        </p:spPr>
        <p:style>
          <a:lnRef idx="1">
            <a:schemeClr val="dk1"/>
          </a:lnRef>
          <a:fillRef idx="0">
            <a:schemeClr val="dk1"/>
          </a:fillRef>
          <a:effectRef idx="0">
            <a:schemeClr val="dk1"/>
          </a:effectRef>
          <a:fontRef idx="minor">
            <a:schemeClr val="tx1"/>
          </a:fontRef>
        </p:style>
        <p:txBody>
          <a:bodyPr/>
          <a:lstStyle/>
          <a:p>
            <a:endParaRPr lang="en-US" dirty="0"/>
          </a:p>
        </p:txBody>
      </p:sp>
      <p:pic>
        <p:nvPicPr>
          <p:cNvPr id="5" name="Picture 4">
            <a:extLst>
              <a:ext uri="{FF2B5EF4-FFF2-40B4-BE49-F238E27FC236}">
                <a16:creationId xmlns:a16="http://schemas.microsoft.com/office/drawing/2014/main" id="{354761F4-331E-EDB2-667F-6EEFC666F036}"/>
              </a:ext>
            </a:extLst>
          </p:cNvPr>
          <p:cNvPicPr>
            <a:picLocks noChangeAspect="1"/>
          </p:cNvPicPr>
          <p:nvPr/>
        </p:nvPicPr>
        <p:blipFill>
          <a:blip r:embed="rId3"/>
          <a:stretch>
            <a:fillRect/>
          </a:stretch>
        </p:blipFill>
        <p:spPr>
          <a:xfrm>
            <a:off x="9797520" y="1334052"/>
            <a:ext cx="2165575" cy="1520952"/>
          </a:xfrm>
          <a:prstGeom prst="rect">
            <a:avLst/>
          </a:prstGeom>
        </p:spPr>
      </p:pic>
      <p:pic>
        <p:nvPicPr>
          <p:cNvPr id="7" name="Picture 6">
            <a:extLst>
              <a:ext uri="{FF2B5EF4-FFF2-40B4-BE49-F238E27FC236}">
                <a16:creationId xmlns:a16="http://schemas.microsoft.com/office/drawing/2014/main" id="{EEBA776B-BD01-68B0-B379-21017968257C}"/>
              </a:ext>
            </a:extLst>
          </p:cNvPr>
          <p:cNvPicPr>
            <a:picLocks noChangeAspect="1"/>
          </p:cNvPicPr>
          <p:nvPr/>
        </p:nvPicPr>
        <p:blipFill>
          <a:blip r:embed="rId4"/>
          <a:stretch>
            <a:fillRect/>
          </a:stretch>
        </p:blipFill>
        <p:spPr>
          <a:xfrm>
            <a:off x="7729805" y="1355488"/>
            <a:ext cx="1980179" cy="1499516"/>
          </a:xfrm>
          <a:prstGeom prst="rect">
            <a:avLst/>
          </a:prstGeom>
        </p:spPr>
      </p:pic>
      <p:pic>
        <p:nvPicPr>
          <p:cNvPr id="11" name="Picture 10">
            <a:extLst>
              <a:ext uri="{FF2B5EF4-FFF2-40B4-BE49-F238E27FC236}">
                <a16:creationId xmlns:a16="http://schemas.microsoft.com/office/drawing/2014/main" id="{6565741F-FBCD-AB91-BD19-CB244A01B1C4}"/>
              </a:ext>
            </a:extLst>
          </p:cNvPr>
          <p:cNvPicPr>
            <a:picLocks noChangeAspect="1"/>
          </p:cNvPicPr>
          <p:nvPr/>
        </p:nvPicPr>
        <p:blipFill>
          <a:blip r:embed="rId5"/>
          <a:stretch>
            <a:fillRect/>
          </a:stretch>
        </p:blipFill>
        <p:spPr>
          <a:xfrm>
            <a:off x="5609054" y="1354436"/>
            <a:ext cx="2033215" cy="1500568"/>
          </a:xfrm>
          <a:prstGeom prst="rect">
            <a:avLst/>
          </a:prstGeom>
        </p:spPr>
      </p:pic>
      <p:pic>
        <p:nvPicPr>
          <p:cNvPr id="15" name="Picture 14">
            <a:extLst>
              <a:ext uri="{FF2B5EF4-FFF2-40B4-BE49-F238E27FC236}">
                <a16:creationId xmlns:a16="http://schemas.microsoft.com/office/drawing/2014/main" id="{20044EC2-1C06-AD58-695A-FD53F8049F62}"/>
              </a:ext>
            </a:extLst>
          </p:cNvPr>
          <p:cNvPicPr>
            <a:picLocks noChangeAspect="1"/>
          </p:cNvPicPr>
          <p:nvPr/>
        </p:nvPicPr>
        <p:blipFill>
          <a:blip r:embed="rId6"/>
          <a:stretch>
            <a:fillRect/>
          </a:stretch>
        </p:blipFill>
        <p:spPr>
          <a:xfrm>
            <a:off x="9797520" y="3001931"/>
            <a:ext cx="2165574" cy="1542975"/>
          </a:xfrm>
          <a:prstGeom prst="rect">
            <a:avLst/>
          </a:prstGeom>
        </p:spPr>
      </p:pic>
      <p:pic>
        <p:nvPicPr>
          <p:cNvPr id="17" name="Picture 16">
            <a:extLst>
              <a:ext uri="{FF2B5EF4-FFF2-40B4-BE49-F238E27FC236}">
                <a16:creationId xmlns:a16="http://schemas.microsoft.com/office/drawing/2014/main" id="{993AA226-646F-8B85-E8F5-5288520D8587}"/>
              </a:ext>
            </a:extLst>
          </p:cNvPr>
          <p:cNvPicPr>
            <a:picLocks noChangeAspect="1"/>
          </p:cNvPicPr>
          <p:nvPr/>
        </p:nvPicPr>
        <p:blipFill>
          <a:blip r:embed="rId7"/>
          <a:stretch>
            <a:fillRect/>
          </a:stretch>
        </p:blipFill>
        <p:spPr>
          <a:xfrm>
            <a:off x="7729805" y="3023714"/>
            <a:ext cx="1980179" cy="1499407"/>
          </a:xfrm>
          <a:prstGeom prst="rect">
            <a:avLst/>
          </a:prstGeom>
        </p:spPr>
      </p:pic>
      <p:pic>
        <p:nvPicPr>
          <p:cNvPr id="19" name="Picture 18">
            <a:extLst>
              <a:ext uri="{FF2B5EF4-FFF2-40B4-BE49-F238E27FC236}">
                <a16:creationId xmlns:a16="http://schemas.microsoft.com/office/drawing/2014/main" id="{AD5B7078-F447-4745-A797-53622504703A}"/>
              </a:ext>
            </a:extLst>
          </p:cNvPr>
          <p:cNvPicPr>
            <a:picLocks noChangeAspect="1"/>
          </p:cNvPicPr>
          <p:nvPr/>
        </p:nvPicPr>
        <p:blipFill>
          <a:blip r:embed="rId8"/>
          <a:stretch>
            <a:fillRect/>
          </a:stretch>
        </p:blipFill>
        <p:spPr>
          <a:xfrm>
            <a:off x="5609054" y="3014882"/>
            <a:ext cx="2033215" cy="1499407"/>
          </a:xfrm>
          <a:prstGeom prst="rect">
            <a:avLst/>
          </a:prstGeom>
        </p:spPr>
      </p:pic>
      <p:pic>
        <p:nvPicPr>
          <p:cNvPr id="23" name="Picture 22">
            <a:extLst>
              <a:ext uri="{FF2B5EF4-FFF2-40B4-BE49-F238E27FC236}">
                <a16:creationId xmlns:a16="http://schemas.microsoft.com/office/drawing/2014/main" id="{295620FF-25B6-CA5F-D521-65624A61BF58}"/>
              </a:ext>
            </a:extLst>
          </p:cNvPr>
          <p:cNvPicPr>
            <a:picLocks noChangeAspect="1"/>
          </p:cNvPicPr>
          <p:nvPr/>
        </p:nvPicPr>
        <p:blipFill>
          <a:blip r:embed="rId9"/>
          <a:stretch>
            <a:fillRect/>
          </a:stretch>
        </p:blipFill>
        <p:spPr>
          <a:xfrm>
            <a:off x="9797520" y="4642051"/>
            <a:ext cx="2165575" cy="1519233"/>
          </a:xfrm>
          <a:prstGeom prst="rect">
            <a:avLst/>
          </a:prstGeom>
        </p:spPr>
      </p:pic>
      <p:pic>
        <p:nvPicPr>
          <p:cNvPr id="25" name="Picture 24">
            <a:extLst>
              <a:ext uri="{FF2B5EF4-FFF2-40B4-BE49-F238E27FC236}">
                <a16:creationId xmlns:a16="http://schemas.microsoft.com/office/drawing/2014/main" id="{429E7BEC-1B39-B048-ACC5-31C281C846C9}"/>
              </a:ext>
            </a:extLst>
          </p:cNvPr>
          <p:cNvPicPr>
            <a:picLocks noChangeAspect="1"/>
          </p:cNvPicPr>
          <p:nvPr/>
        </p:nvPicPr>
        <p:blipFill>
          <a:blip r:embed="rId10"/>
          <a:stretch>
            <a:fillRect/>
          </a:stretch>
        </p:blipFill>
        <p:spPr>
          <a:xfrm>
            <a:off x="7729804" y="4671526"/>
            <a:ext cx="1980179" cy="1472613"/>
          </a:xfrm>
          <a:prstGeom prst="rect">
            <a:avLst/>
          </a:prstGeom>
        </p:spPr>
      </p:pic>
      <p:pic>
        <p:nvPicPr>
          <p:cNvPr id="27" name="Picture 26">
            <a:extLst>
              <a:ext uri="{FF2B5EF4-FFF2-40B4-BE49-F238E27FC236}">
                <a16:creationId xmlns:a16="http://schemas.microsoft.com/office/drawing/2014/main" id="{365ABE74-4632-55B9-E13D-32086E527E6E}"/>
              </a:ext>
            </a:extLst>
          </p:cNvPr>
          <p:cNvPicPr>
            <a:picLocks noChangeAspect="1"/>
          </p:cNvPicPr>
          <p:nvPr/>
        </p:nvPicPr>
        <p:blipFill>
          <a:blip r:embed="rId11"/>
          <a:stretch>
            <a:fillRect/>
          </a:stretch>
        </p:blipFill>
        <p:spPr>
          <a:xfrm>
            <a:off x="5609053" y="4687581"/>
            <a:ext cx="2033215" cy="1472613"/>
          </a:xfrm>
          <a:prstGeom prst="rect">
            <a:avLst/>
          </a:prstGeom>
        </p:spPr>
      </p:pic>
      <p:sp>
        <p:nvSpPr>
          <p:cNvPr id="2038719890" name="Rectangle 2038719889"/>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8719891" name="TextBox 2038719890"/>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2038719892" name="TextBox 2038719891"/>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2038719893" name="TextBox 2038719892"/>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2206104</a:t>
            </a:r>
          </a:p>
        </p:txBody>
      </p:sp>
      <p:sp>
        <p:nvSpPr>
          <p:cNvPr id="2038719894" name="TextBox 2038719893"/>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8BA58C0C-5ABB-42FC-98DE-CEACC597B397}"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2">
    <p:bg>
      <p:bgPr>
        <a:solidFill>
          <a:srgbClr val="FFFFFF"/>
        </a:solidFill>
        <a:effectLst/>
      </p:bgPr>
    </p:bg>
    <p:spTree>
      <p:nvGrpSpPr>
        <p:cNvPr id="1" name=""/>
        <p:cNvGrpSpPr/>
        <p:nvPr/>
      </p:nvGrpSpPr>
      <p:grpSpPr bwMode="auto">
        <a:xfrm>
          <a:off x="0" y="0"/>
          <a:ext cx="0" cy="0"/>
          <a:chOff x="0" y="0"/>
          <a:chExt cx="0" cy="0"/>
        </a:xfrm>
      </p:grpSpPr>
      <p:sp>
        <p:nvSpPr>
          <p:cNvPr id="2132565325" name="Shape 0"/>
          <p:cNvSpPr/>
          <p:nvPr/>
        </p:nvSpPr>
        <p:spPr bwMode="auto">
          <a:xfrm>
            <a:off x="2564296" y="100584"/>
            <a:ext cx="6470574" cy="960120"/>
          </a:xfrm>
          <a:prstGeom prst="roundRect">
            <a:avLst>
              <a:gd name="adj" fmla="val 7619"/>
            </a:avLst>
          </a:prstGeom>
          <a:solidFill>
            <a:srgbClr val="C00000"/>
          </a:solidFill>
          <a:ln/>
        </p:spPr>
        <p:txBody>
          <a:bodyPr anchor="ctr"/>
          <a:lstStyle/>
          <a:p>
            <a:pPr algn="ctr">
              <a:defRPr/>
            </a:pPr>
            <a:endParaRPr/>
          </a:p>
        </p:txBody>
      </p:sp>
      <p:sp>
        <p:nvSpPr>
          <p:cNvPr id="1908113262" name="Text 1"/>
          <p:cNvSpPr txBox="1"/>
          <p:nvPr/>
        </p:nvSpPr>
        <p:spPr bwMode="auto">
          <a:xfrm>
            <a:off x="2743200" y="173736"/>
            <a:ext cx="5996863" cy="457200"/>
          </a:xfrm>
          <a:prstGeom prst="rect">
            <a:avLst/>
          </a:prstGeom>
          <a:noFill/>
          <a:ln/>
        </p:spPr>
        <p:txBody>
          <a:bodyPr wrap="square" lIns="0" tIns="0" rIns="0" bIns="0" rtlCol="0" anchor="ctr"/>
          <a:lstStyle/>
          <a:p>
            <a:pPr algn="ctr">
              <a:defRPr/>
            </a:pPr>
            <a:r>
              <a:rPr lang="en-US" sz="2400" dirty="0">
                <a:solidFill>
                  <a:schemeClr val="bg1"/>
                </a:solidFill>
                <a:latin typeface="Times New Roman" panose="02020603050405020304" pitchFamily="18" charset="0"/>
                <a:cs typeface="Times New Roman" panose="02020603050405020304" pitchFamily="18" charset="0"/>
              </a:rPr>
              <a:t>3.2.2 Design Methods:</a:t>
            </a:r>
            <a:r>
              <a:rPr lang="en-US" sz="2400" b="1" dirty="0">
                <a:solidFill>
                  <a:srgbClr val="FFFFFF"/>
                </a:solidFill>
                <a:latin typeface="Cambria"/>
                <a:ea typeface="Cambria"/>
                <a:cs typeface="Cambria"/>
              </a:rPr>
              <a:t> Image Preprocessing</a:t>
            </a:r>
            <a:endParaRPr lang="en-US" sz="2400" dirty="0"/>
          </a:p>
        </p:txBody>
      </p:sp>
      <p:sp>
        <p:nvSpPr>
          <p:cNvPr id="1304269448" name="Text 2"/>
          <p:cNvSpPr txBox="1"/>
          <p:nvPr/>
        </p:nvSpPr>
        <p:spPr bwMode="auto">
          <a:xfrm>
            <a:off x="3478696" y="594360"/>
            <a:ext cx="5261367" cy="384048"/>
          </a:xfrm>
          <a:prstGeom prst="rect">
            <a:avLst/>
          </a:prstGeom>
          <a:noFill/>
          <a:ln/>
        </p:spPr>
        <p:txBody>
          <a:bodyPr wrap="square" lIns="0" tIns="0" rIns="0" bIns="0" rtlCol="0" anchor="ctr"/>
          <a:lstStyle/>
          <a:p>
            <a:pPr marL="0" indent="0" algn="ctr">
              <a:buNone/>
              <a:defRPr/>
            </a:pPr>
            <a:r>
              <a:rPr lang="en-US" sz="1400" i="1">
                <a:solidFill>
                  <a:srgbClr val="FFFFFF"/>
                </a:solidFill>
                <a:latin typeface="Times New Roman"/>
                <a:ea typeface="Times New Roman"/>
                <a:cs typeface="Times New Roman"/>
              </a:rPr>
              <a:t>Native-Resolution Cropping, Joint Augmentation &amp; Standardisation</a:t>
            </a:r>
            <a:endParaRPr lang="en-US" sz="1400"/>
          </a:p>
        </p:txBody>
      </p:sp>
      <p:sp>
        <p:nvSpPr>
          <p:cNvPr id="342268490" name="Text 6"/>
          <p:cNvSpPr txBox="1"/>
          <p:nvPr/>
        </p:nvSpPr>
        <p:spPr bwMode="auto">
          <a:xfrm>
            <a:off x="11688775" y="256032"/>
            <a:ext cx="274320" cy="274320"/>
          </a:xfrm>
          <a:prstGeom prst="rect">
            <a:avLst/>
          </a:prstGeom>
          <a:noFill/>
          <a:ln/>
        </p:spPr>
        <p:txBody>
          <a:bodyPr wrap="square" lIns="0" tIns="0" rIns="0" bIns="0" rtlCol="0" anchor="ctr"/>
          <a:lstStyle/>
          <a:p>
            <a:pPr marL="0" indent="0" algn="r">
              <a:buNone/>
              <a:defRPr/>
            </a:pPr>
            <a:r>
              <a:rPr lang="en-US" sz="1100">
                <a:solidFill>
                  <a:srgbClr val="FFFFFF"/>
                </a:solidFill>
                <a:latin typeface="Times New Roman"/>
                <a:ea typeface="Times New Roman"/>
                <a:cs typeface="Times New Roman"/>
              </a:rPr>
              <a:t>2</a:t>
            </a:r>
            <a:endParaRPr lang="en-US" sz="1100"/>
          </a:p>
        </p:txBody>
      </p:sp>
      <p:sp>
        <p:nvSpPr>
          <p:cNvPr id="15801868" name="Shape 7"/>
          <p:cNvSpPr/>
          <p:nvPr/>
        </p:nvSpPr>
        <p:spPr bwMode="auto">
          <a:xfrm>
            <a:off x="640080" y="1600200"/>
            <a:ext cx="2103120" cy="2103120"/>
          </a:xfrm>
          <a:prstGeom prst="roundRect">
            <a:avLst>
              <a:gd name="adj" fmla="val 2174"/>
            </a:avLst>
          </a:prstGeom>
          <a:solidFill>
            <a:srgbClr val="F2F2F2"/>
          </a:solidFill>
          <a:ln w="19050">
            <a:solidFill>
              <a:srgbClr val="1F497D"/>
            </a:solidFill>
            <a:prstDash val="solid"/>
          </a:ln>
        </p:spPr>
        <p:txBody>
          <a:bodyPr/>
          <a:lstStyle/>
          <a:p>
            <a:endParaRPr lang="en-US"/>
          </a:p>
        </p:txBody>
      </p:sp>
      <p:sp>
        <p:nvSpPr>
          <p:cNvPr id="1971513270" name="Text 8"/>
          <p:cNvSpPr txBox="1"/>
          <p:nvPr/>
        </p:nvSpPr>
        <p:spPr bwMode="auto">
          <a:xfrm>
            <a:off x="640080" y="1600200"/>
            <a:ext cx="2103120" cy="2103120"/>
          </a:xfrm>
          <a:prstGeom prst="rect">
            <a:avLst/>
          </a:prstGeom>
          <a:noFill/>
          <a:ln/>
        </p:spPr>
        <p:txBody>
          <a:bodyPr wrap="square" lIns="0" tIns="0" rIns="0" bIns="0" rtlCol="0" anchor="ctr"/>
          <a:lstStyle/>
          <a:p>
            <a:pPr marL="0" indent="0" algn="ctr">
              <a:buNone/>
              <a:defRPr/>
            </a:pPr>
            <a:r>
              <a:rPr lang="en-US" sz="2800" b="1">
                <a:solidFill>
                  <a:srgbClr val="1A1A1A"/>
                </a:solidFill>
                <a:latin typeface="Times New Roman"/>
                <a:ea typeface="Times New Roman"/>
                <a:cs typeface="Times New Roman"/>
              </a:rPr>
              <a:t>1024 × 1024</a:t>
            </a:r>
            <a:endParaRPr lang="en-US" sz="2800"/>
          </a:p>
          <a:p>
            <a:pPr marL="0" indent="0" algn="ctr">
              <a:buNone/>
              <a:defRPr/>
            </a:pPr>
            <a:r>
              <a:rPr lang="en-US" sz="2800" b="1">
                <a:solidFill>
                  <a:srgbClr val="1A1A1A"/>
                </a:solidFill>
                <a:latin typeface="Times New Roman"/>
                <a:ea typeface="Times New Roman"/>
                <a:cs typeface="Times New Roman"/>
              </a:rPr>
              <a:t>Image Pair</a:t>
            </a:r>
            <a:endParaRPr lang="en-US" sz="1400"/>
          </a:p>
        </p:txBody>
      </p:sp>
      <p:sp>
        <p:nvSpPr>
          <p:cNvPr id="1807650440" name="Text 9"/>
          <p:cNvSpPr txBox="1"/>
          <p:nvPr/>
        </p:nvSpPr>
        <p:spPr bwMode="auto">
          <a:xfrm>
            <a:off x="2880360" y="2468880"/>
            <a:ext cx="457200" cy="365760"/>
          </a:xfrm>
          <a:prstGeom prst="rect">
            <a:avLst/>
          </a:prstGeom>
          <a:noFill/>
          <a:ln/>
        </p:spPr>
        <p:txBody>
          <a:bodyPr wrap="square" lIns="0" tIns="0" rIns="0" bIns="0" rtlCol="0" anchor="ctr"/>
          <a:lstStyle/>
          <a:p>
            <a:pPr marL="0" indent="0" algn="ctr">
              <a:buNone/>
              <a:defRPr/>
            </a:pPr>
            <a:r>
              <a:rPr lang="en-US" sz="4800">
                <a:solidFill>
                  <a:srgbClr val="1F497D"/>
                </a:solidFill>
                <a:latin typeface="Times New Roman"/>
                <a:ea typeface="Times New Roman"/>
                <a:cs typeface="Times New Roman"/>
              </a:rPr>
              <a:t>→</a:t>
            </a:r>
            <a:endParaRPr lang="en-US" sz="4800"/>
          </a:p>
        </p:txBody>
      </p:sp>
      <p:sp>
        <p:nvSpPr>
          <p:cNvPr id="329242332" name="Shape 10"/>
          <p:cNvSpPr/>
          <p:nvPr/>
        </p:nvSpPr>
        <p:spPr bwMode="auto">
          <a:xfrm>
            <a:off x="3556655" y="1691640"/>
            <a:ext cx="475488" cy="475488"/>
          </a:xfrm>
          <a:prstGeom prst="rect">
            <a:avLst/>
          </a:prstGeom>
          <a:solidFill>
            <a:srgbClr val="C00000"/>
          </a:solidFill>
          <a:ln w="9525">
            <a:solidFill>
              <a:srgbClr val="1F497D"/>
            </a:solidFill>
            <a:prstDash val="solid"/>
          </a:ln>
        </p:spPr>
        <p:txBody>
          <a:bodyPr/>
          <a:lstStyle/>
          <a:p>
            <a:endParaRPr lang="en-US"/>
          </a:p>
        </p:txBody>
      </p:sp>
      <p:sp>
        <p:nvSpPr>
          <p:cNvPr id="657248090" name="Shape 11"/>
          <p:cNvSpPr/>
          <p:nvPr/>
        </p:nvSpPr>
        <p:spPr bwMode="auto">
          <a:xfrm>
            <a:off x="4032143" y="1691640"/>
            <a:ext cx="475488" cy="475488"/>
          </a:xfrm>
          <a:prstGeom prst="rect">
            <a:avLst/>
          </a:prstGeom>
          <a:solidFill>
            <a:srgbClr val="F2F2F2"/>
          </a:solidFill>
          <a:ln w="9525">
            <a:solidFill>
              <a:srgbClr val="1F497D"/>
            </a:solidFill>
            <a:prstDash val="solid"/>
          </a:ln>
        </p:spPr>
        <p:txBody>
          <a:bodyPr/>
          <a:lstStyle/>
          <a:p>
            <a:endParaRPr lang="en-US"/>
          </a:p>
        </p:txBody>
      </p:sp>
      <p:sp>
        <p:nvSpPr>
          <p:cNvPr id="1592601191" name="Shape 12"/>
          <p:cNvSpPr/>
          <p:nvPr/>
        </p:nvSpPr>
        <p:spPr bwMode="auto">
          <a:xfrm>
            <a:off x="4507631" y="1691640"/>
            <a:ext cx="475488" cy="475488"/>
          </a:xfrm>
          <a:prstGeom prst="rect">
            <a:avLst/>
          </a:prstGeom>
          <a:solidFill>
            <a:srgbClr val="F2F2F2"/>
          </a:solidFill>
          <a:ln w="9525">
            <a:solidFill>
              <a:srgbClr val="1F497D"/>
            </a:solidFill>
            <a:prstDash val="solid"/>
          </a:ln>
        </p:spPr>
        <p:txBody>
          <a:bodyPr/>
          <a:lstStyle/>
          <a:p>
            <a:endParaRPr lang="en-US"/>
          </a:p>
        </p:txBody>
      </p:sp>
      <p:sp>
        <p:nvSpPr>
          <p:cNvPr id="1456367872" name="Shape 13"/>
          <p:cNvSpPr/>
          <p:nvPr/>
        </p:nvSpPr>
        <p:spPr bwMode="auto">
          <a:xfrm>
            <a:off x="4983119" y="1691640"/>
            <a:ext cx="475488" cy="475488"/>
          </a:xfrm>
          <a:prstGeom prst="rect">
            <a:avLst/>
          </a:prstGeom>
          <a:solidFill>
            <a:srgbClr val="F2F2F2"/>
          </a:solidFill>
          <a:ln w="9525">
            <a:solidFill>
              <a:srgbClr val="1F497D"/>
            </a:solidFill>
            <a:prstDash val="solid"/>
          </a:ln>
        </p:spPr>
        <p:txBody>
          <a:bodyPr/>
          <a:lstStyle/>
          <a:p>
            <a:endParaRPr lang="en-US"/>
          </a:p>
        </p:txBody>
      </p:sp>
      <p:sp>
        <p:nvSpPr>
          <p:cNvPr id="1835521192" name="Shape 14"/>
          <p:cNvSpPr/>
          <p:nvPr/>
        </p:nvSpPr>
        <p:spPr bwMode="auto">
          <a:xfrm>
            <a:off x="3556655" y="2167128"/>
            <a:ext cx="475488" cy="475488"/>
          </a:xfrm>
          <a:prstGeom prst="rect">
            <a:avLst/>
          </a:prstGeom>
          <a:solidFill>
            <a:srgbClr val="F2F2F2"/>
          </a:solidFill>
          <a:ln w="9525">
            <a:solidFill>
              <a:srgbClr val="1F497D"/>
            </a:solidFill>
            <a:prstDash val="solid"/>
          </a:ln>
        </p:spPr>
        <p:txBody>
          <a:bodyPr/>
          <a:lstStyle/>
          <a:p>
            <a:endParaRPr lang="en-US"/>
          </a:p>
        </p:txBody>
      </p:sp>
      <p:sp>
        <p:nvSpPr>
          <p:cNvPr id="598193430" name="Shape 15"/>
          <p:cNvSpPr/>
          <p:nvPr/>
        </p:nvSpPr>
        <p:spPr bwMode="auto">
          <a:xfrm>
            <a:off x="4032143" y="2167128"/>
            <a:ext cx="475488" cy="475488"/>
          </a:xfrm>
          <a:prstGeom prst="rect">
            <a:avLst/>
          </a:prstGeom>
          <a:solidFill>
            <a:srgbClr val="F2F2F2"/>
          </a:solidFill>
          <a:ln w="9525">
            <a:solidFill>
              <a:srgbClr val="1F497D"/>
            </a:solidFill>
            <a:prstDash val="solid"/>
          </a:ln>
        </p:spPr>
        <p:txBody>
          <a:bodyPr/>
          <a:lstStyle/>
          <a:p>
            <a:endParaRPr lang="en-US"/>
          </a:p>
        </p:txBody>
      </p:sp>
      <p:sp>
        <p:nvSpPr>
          <p:cNvPr id="1314760994" name="Shape 16"/>
          <p:cNvSpPr/>
          <p:nvPr/>
        </p:nvSpPr>
        <p:spPr bwMode="auto">
          <a:xfrm>
            <a:off x="4507631" y="2167128"/>
            <a:ext cx="475488" cy="475488"/>
          </a:xfrm>
          <a:prstGeom prst="rect">
            <a:avLst/>
          </a:prstGeom>
          <a:solidFill>
            <a:srgbClr val="F2F2F2"/>
          </a:solidFill>
          <a:ln w="9525">
            <a:solidFill>
              <a:srgbClr val="1F497D"/>
            </a:solidFill>
            <a:prstDash val="solid"/>
          </a:ln>
        </p:spPr>
        <p:txBody>
          <a:bodyPr/>
          <a:lstStyle/>
          <a:p>
            <a:endParaRPr lang="en-US"/>
          </a:p>
        </p:txBody>
      </p:sp>
      <p:sp>
        <p:nvSpPr>
          <p:cNvPr id="987189128" name="Shape 17"/>
          <p:cNvSpPr/>
          <p:nvPr/>
        </p:nvSpPr>
        <p:spPr bwMode="auto">
          <a:xfrm>
            <a:off x="4983119" y="2167128"/>
            <a:ext cx="475488" cy="475488"/>
          </a:xfrm>
          <a:prstGeom prst="rect">
            <a:avLst/>
          </a:prstGeom>
          <a:solidFill>
            <a:srgbClr val="F2F2F2"/>
          </a:solidFill>
          <a:ln w="9525">
            <a:solidFill>
              <a:srgbClr val="1F497D"/>
            </a:solidFill>
            <a:prstDash val="solid"/>
          </a:ln>
        </p:spPr>
        <p:txBody>
          <a:bodyPr/>
          <a:lstStyle/>
          <a:p>
            <a:endParaRPr lang="en-US"/>
          </a:p>
        </p:txBody>
      </p:sp>
      <p:sp>
        <p:nvSpPr>
          <p:cNvPr id="1191510800" name="Shape 18"/>
          <p:cNvSpPr/>
          <p:nvPr/>
        </p:nvSpPr>
        <p:spPr bwMode="auto">
          <a:xfrm>
            <a:off x="3556655" y="2642616"/>
            <a:ext cx="475488" cy="475488"/>
          </a:xfrm>
          <a:prstGeom prst="rect">
            <a:avLst/>
          </a:prstGeom>
          <a:solidFill>
            <a:srgbClr val="F2F2F2"/>
          </a:solidFill>
          <a:ln w="9525">
            <a:solidFill>
              <a:srgbClr val="1F497D"/>
            </a:solidFill>
            <a:prstDash val="solid"/>
          </a:ln>
        </p:spPr>
        <p:txBody>
          <a:bodyPr/>
          <a:lstStyle/>
          <a:p>
            <a:endParaRPr lang="en-US"/>
          </a:p>
        </p:txBody>
      </p:sp>
      <p:sp>
        <p:nvSpPr>
          <p:cNvPr id="1545069617" name="Shape 19"/>
          <p:cNvSpPr/>
          <p:nvPr/>
        </p:nvSpPr>
        <p:spPr bwMode="auto">
          <a:xfrm>
            <a:off x="4032143" y="2642616"/>
            <a:ext cx="475488" cy="475488"/>
          </a:xfrm>
          <a:prstGeom prst="rect">
            <a:avLst/>
          </a:prstGeom>
          <a:solidFill>
            <a:srgbClr val="F2F2F2"/>
          </a:solidFill>
          <a:ln w="9525">
            <a:solidFill>
              <a:srgbClr val="1F497D"/>
            </a:solidFill>
            <a:prstDash val="solid"/>
          </a:ln>
        </p:spPr>
        <p:txBody>
          <a:bodyPr/>
          <a:lstStyle/>
          <a:p>
            <a:endParaRPr lang="en-US"/>
          </a:p>
        </p:txBody>
      </p:sp>
      <p:sp>
        <p:nvSpPr>
          <p:cNvPr id="309521072" name="Shape 20"/>
          <p:cNvSpPr/>
          <p:nvPr/>
        </p:nvSpPr>
        <p:spPr bwMode="auto">
          <a:xfrm>
            <a:off x="4507631" y="2642616"/>
            <a:ext cx="475488" cy="475488"/>
          </a:xfrm>
          <a:prstGeom prst="rect">
            <a:avLst/>
          </a:prstGeom>
          <a:solidFill>
            <a:srgbClr val="F2F2F2"/>
          </a:solidFill>
          <a:ln w="9525">
            <a:solidFill>
              <a:srgbClr val="1F497D"/>
            </a:solidFill>
            <a:prstDash val="solid"/>
          </a:ln>
        </p:spPr>
        <p:txBody>
          <a:bodyPr/>
          <a:lstStyle/>
          <a:p>
            <a:endParaRPr lang="en-US"/>
          </a:p>
        </p:txBody>
      </p:sp>
      <p:sp>
        <p:nvSpPr>
          <p:cNvPr id="221686513" name="Shape 21"/>
          <p:cNvSpPr/>
          <p:nvPr/>
        </p:nvSpPr>
        <p:spPr bwMode="auto">
          <a:xfrm>
            <a:off x="4983119" y="2642616"/>
            <a:ext cx="475488" cy="475488"/>
          </a:xfrm>
          <a:prstGeom prst="rect">
            <a:avLst/>
          </a:prstGeom>
          <a:solidFill>
            <a:srgbClr val="F2F2F2"/>
          </a:solidFill>
          <a:ln w="9525">
            <a:solidFill>
              <a:srgbClr val="1F497D"/>
            </a:solidFill>
            <a:prstDash val="solid"/>
          </a:ln>
        </p:spPr>
        <p:txBody>
          <a:bodyPr/>
          <a:lstStyle/>
          <a:p>
            <a:endParaRPr lang="en-US"/>
          </a:p>
        </p:txBody>
      </p:sp>
      <p:sp>
        <p:nvSpPr>
          <p:cNvPr id="309904943" name="Shape 22"/>
          <p:cNvSpPr/>
          <p:nvPr/>
        </p:nvSpPr>
        <p:spPr bwMode="auto">
          <a:xfrm>
            <a:off x="3556655" y="3118104"/>
            <a:ext cx="475488" cy="475488"/>
          </a:xfrm>
          <a:prstGeom prst="rect">
            <a:avLst/>
          </a:prstGeom>
          <a:solidFill>
            <a:srgbClr val="F2F2F2"/>
          </a:solidFill>
          <a:ln w="9525">
            <a:solidFill>
              <a:srgbClr val="1F497D"/>
            </a:solidFill>
            <a:prstDash val="solid"/>
          </a:ln>
        </p:spPr>
        <p:txBody>
          <a:bodyPr/>
          <a:lstStyle/>
          <a:p>
            <a:endParaRPr lang="en-US"/>
          </a:p>
        </p:txBody>
      </p:sp>
      <p:sp>
        <p:nvSpPr>
          <p:cNvPr id="46517660" name="Shape 23"/>
          <p:cNvSpPr/>
          <p:nvPr/>
        </p:nvSpPr>
        <p:spPr bwMode="auto">
          <a:xfrm>
            <a:off x="4032143" y="3118104"/>
            <a:ext cx="475488" cy="475488"/>
          </a:xfrm>
          <a:prstGeom prst="rect">
            <a:avLst/>
          </a:prstGeom>
          <a:solidFill>
            <a:srgbClr val="F2F2F2"/>
          </a:solidFill>
          <a:ln w="9525">
            <a:solidFill>
              <a:srgbClr val="1F497D"/>
            </a:solidFill>
            <a:prstDash val="solid"/>
          </a:ln>
        </p:spPr>
        <p:txBody>
          <a:bodyPr/>
          <a:lstStyle/>
          <a:p>
            <a:endParaRPr lang="en-US"/>
          </a:p>
        </p:txBody>
      </p:sp>
      <p:sp>
        <p:nvSpPr>
          <p:cNvPr id="745918084" name="Shape 24"/>
          <p:cNvSpPr/>
          <p:nvPr/>
        </p:nvSpPr>
        <p:spPr bwMode="auto">
          <a:xfrm>
            <a:off x="4507631" y="3118104"/>
            <a:ext cx="475488" cy="475488"/>
          </a:xfrm>
          <a:prstGeom prst="rect">
            <a:avLst/>
          </a:prstGeom>
          <a:solidFill>
            <a:srgbClr val="F2F2F2"/>
          </a:solidFill>
          <a:ln w="9525">
            <a:solidFill>
              <a:srgbClr val="1F497D"/>
            </a:solidFill>
            <a:prstDash val="solid"/>
          </a:ln>
        </p:spPr>
        <p:txBody>
          <a:bodyPr/>
          <a:lstStyle/>
          <a:p>
            <a:endParaRPr lang="en-US"/>
          </a:p>
        </p:txBody>
      </p:sp>
      <p:sp>
        <p:nvSpPr>
          <p:cNvPr id="1435722095" name="Shape 25"/>
          <p:cNvSpPr/>
          <p:nvPr/>
        </p:nvSpPr>
        <p:spPr bwMode="auto">
          <a:xfrm>
            <a:off x="4983119" y="3118104"/>
            <a:ext cx="475488" cy="475488"/>
          </a:xfrm>
          <a:prstGeom prst="rect">
            <a:avLst/>
          </a:prstGeom>
          <a:solidFill>
            <a:srgbClr val="F2F2F2"/>
          </a:solidFill>
          <a:ln w="9525">
            <a:solidFill>
              <a:srgbClr val="1F497D"/>
            </a:solidFill>
            <a:prstDash val="solid"/>
          </a:ln>
        </p:spPr>
        <p:txBody>
          <a:bodyPr/>
          <a:lstStyle/>
          <a:p>
            <a:endParaRPr lang="en-US"/>
          </a:p>
        </p:txBody>
      </p:sp>
      <p:sp>
        <p:nvSpPr>
          <p:cNvPr id="572516407" name="Text 26"/>
          <p:cNvSpPr txBox="1"/>
          <p:nvPr/>
        </p:nvSpPr>
        <p:spPr bwMode="auto">
          <a:xfrm>
            <a:off x="640080" y="3730752"/>
            <a:ext cx="7452360" cy="274320"/>
          </a:xfrm>
          <a:prstGeom prst="rect">
            <a:avLst/>
          </a:prstGeom>
          <a:noFill/>
          <a:ln/>
        </p:spPr>
        <p:txBody>
          <a:bodyPr wrap="square" lIns="0" tIns="0" rIns="0" bIns="0" rtlCol="0" anchor="ctr"/>
          <a:lstStyle/>
          <a:p>
            <a:pPr marL="0" indent="0" algn="ctr">
              <a:buNone/>
              <a:defRPr/>
            </a:pPr>
            <a:r>
              <a:rPr lang="en-US" sz="2000" b="1">
                <a:solidFill>
                  <a:srgbClr val="1F497D"/>
                </a:solidFill>
                <a:latin typeface="Times New Roman"/>
                <a:ea typeface="Times New Roman"/>
                <a:cs typeface="Times New Roman"/>
              </a:rPr>
              <a:t>Training: random 256 × 256 crops (4 per pair per epoch)</a:t>
            </a:r>
            <a:endParaRPr lang="en-US" sz="2000"/>
          </a:p>
        </p:txBody>
      </p:sp>
      <p:sp>
        <p:nvSpPr>
          <p:cNvPr id="90840963" name="Text 27"/>
          <p:cNvSpPr txBox="1"/>
          <p:nvPr/>
        </p:nvSpPr>
        <p:spPr bwMode="auto">
          <a:xfrm>
            <a:off x="5511209" y="2468880"/>
            <a:ext cx="935310" cy="365760"/>
          </a:xfrm>
          <a:prstGeom prst="rect">
            <a:avLst/>
          </a:prstGeom>
          <a:noFill/>
          <a:ln/>
        </p:spPr>
        <p:txBody>
          <a:bodyPr wrap="square" lIns="0" tIns="0" rIns="0" bIns="0" rtlCol="0" anchor="ctr"/>
          <a:lstStyle/>
          <a:p>
            <a:pPr marL="0" indent="0" algn="ctr">
              <a:buNone/>
              <a:defRPr/>
            </a:pPr>
            <a:r>
              <a:rPr lang="en-US" sz="4800">
                <a:solidFill>
                  <a:srgbClr val="1F497D"/>
                </a:solidFill>
                <a:latin typeface="Times New Roman"/>
                <a:ea typeface="Times New Roman"/>
                <a:cs typeface="Times New Roman"/>
              </a:rPr>
              <a:t>→</a:t>
            </a:r>
            <a:endParaRPr lang="en-US" sz="4800"/>
          </a:p>
        </p:txBody>
      </p:sp>
      <p:sp>
        <p:nvSpPr>
          <p:cNvPr id="523875540" name="Shape 28"/>
          <p:cNvSpPr/>
          <p:nvPr/>
        </p:nvSpPr>
        <p:spPr bwMode="auto">
          <a:xfrm>
            <a:off x="6583680" y="1874520"/>
            <a:ext cx="1508759" cy="1508759"/>
          </a:xfrm>
          <a:prstGeom prst="roundRect">
            <a:avLst>
              <a:gd name="adj" fmla="val 3030"/>
            </a:avLst>
          </a:prstGeom>
          <a:solidFill>
            <a:srgbClr val="C00000"/>
          </a:solidFill>
          <a:ln/>
        </p:spPr>
        <p:txBody>
          <a:bodyPr/>
          <a:lstStyle/>
          <a:p>
            <a:endParaRPr lang="en-US"/>
          </a:p>
        </p:txBody>
      </p:sp>
      <p:sp>
        <p:nvSpPr>
          <p:cNvPr id="805689434" name="Text 29"/>
          <p:cNvSpPr txBox="1"/>
          <p:nvPr/>
        </p:nvSpPr>
        <p:spPr bwMode="auto">
          <a:xfrm>
            <a:off x="6583680" y="1874520"/>
            <a:ext cx="1508759" cy="1508759"/>
          </a:xfrm>
          <a:prstGeom prst="rect">
            <a:avLst/>
          </a:prstGeom>
          <a:noFill/>
          <a:ln/>
        </p:spPr>
        <p:txBody>
          <a:bodyPr wrap="square" lIns="0" tIns="0" rIns="0" bIns="0" rtlCol="0" anchor="ctr"/>
          <a:lstStyle/>
          <a:p>
            <a:pPr marL="0" indent="0" algn="ctr">
              <a:buNone/>
              <a:defRPr/>
            </a:pPr>
            <a:r>
              <a:rPr lang="en-US" sz="2200" b="1">
                <a:solidFill>
                  <a:srgbClr val="FFFFFF"/>
                </a:solidFill>
                <a:latin typeface="Times New Roman"/>
                <a:ea typeface="Times New Roman"/>
                <a:cs typeface="Times New Roman"/>
              </a:rPr>
              <a:t>256 × 256</a:t>
            </a:r>
            <a:endParaRPr lang="en-US" sz="2200"/>
          </a:p>
          <a:p>
            <a:pPr marL="0" indent="0" algn="ctr">
              <a:buNone/>
              <a:defRPr/>
            </a:pPr>
            <a:r>
              <a:rPr lang="en-US" sz="2200" b="1">
                <a:solidFill>
                  <a:srgbClr val="FFFFFF"/>
                </a:solidFill>
                <a:latin typeface="Times New Roman"/>
                <a:ea typeface="Times New Roman"/>
                <a:cs typeface="Times New Roman"/>
              </a:rPr>
              <a:t>patch</a:t>
            </a:r>
            <a:endParaRPr lang="en-US" sz="1300"/>
          </a:p>
        </p:txBody>
      </p:sp>
      <p:sp>
        <p:nvSpPr>
          <p:cNvPr id="1610637206" name="Shape 30"/>
          <p:cNvSpPr/>
          <p:nvPr/>
        </p:nvSpPr>
        <p:spPr bwMode="auto">
          <a:xfrm>
            <a:off x="640080" y="4160519"/>
            <a:ext cx="7452360" cy="502920"/>
          </a:xfrm>
          <a:prstGeom prst="rect">
            <a:avLst/>
          </a:prstGeom>
          <a:solidFill>
            <a:srgbClr val="F2F2F2"/>
          </a:solidFill>
          <a:ln w="12700">
            <a:solidFill>
              <a:srgbClr val="1F497D"/>
            </a:solidFill>
            <a:prstDash val="solid"/>
          </a:ln>
        </p:spPr>
        <p:txBody>
          <a:bodyPr/>
          <a:lstStyle/>
          <a:p>
            <a:endParaRPr lang="en-US"/>
          </a:p>
        </p:txBody>
      </p:sp>
      <p:sp>
        <p:nvSpPr>
          <p:cNvPr id="1742984738" name="Text 31"/>
          <p:cNvSpPr txBox="1"/>
          <p:nvPr/>
        </p:nvSpPr>
        <p:spPr bwMode="auto">
          <a:xfrm>
            <a:off x="640080" y="4160519"/>
            <a:ext cx="7452360" cy="502920"/>
          </a:xfrm>
          <a:prstGeom prst="rect">
            <a:avLst/>
          </a:prstGeom>
          <a:noFill/>
          <a:ln/>
        </p:spPr>
        <p:txBody>
          <a:bodyPr wrap="square" lIns="50800" tIns="50800" rIns="50800" bIns="50800" rtlCol="0" anchor="ctr"/>
          <a:lstStyle/>
          <a:p>
            <a:pPr marL="0" indent="0" algn="ctr">
              <a:buNone/>
              <a:defRPr/>
            </a:pPr>
            <a:r>
              <a:rPr lang="en-US" sz="1500" i="1">
                <a:solidFill>
                  <a:srgbClr val="1A1A1A"/>
                </a:solidFill>
                <a:latin typeface="Times New Roman"/>
                <a:ea typeface="Times New Roman"/>
                <a:cs typeface="Times New Roman"/>
              </a:rPr>
              <a:t>Inference: overlapping 256-px tiles, stride 192 px → 5 × 5 = 25 tiles per 1024² image, cosine-blended</a:t>
            </a:r>
            <a:endParaRPr sz="1750"/>
          </a:p>
        </p:txBody>
      </p:sp>
      <p:sp>
        <p:nvSpPr>
          <p:cNvPr id="122534245" name="Shape 32"/>
          <p:cNvSpPr/>
          <p:nvPr/>
        </p:nvSpPr>
        <p:spPr bwMode="auto">
          <a:xfrm>
            <a:off x="8412480" y="1600200"/>
            <a:ext cx="3200400" cy="1417320"/>
          </a:xfrm>
          <a:prstGeom prst="roundRect">
            <a:avLst>
              <a:gd name="adj" fmla="val 3871"/>
            </a:avLst>
          </a:prstGeom>
          <a:solidFill>
            <a:srgbClr val="F2F2F2"/>
          </a:solidFill>
          <a:ln w="12700">
            <a:solidFill>
              <a:srgbClr val="1F497D"/>
            </a:solidFill>
            <a:prstDash val="solid"/>
          </a:ln>
        </p:spPr>
        <p:txBody>
          <a:bodyPr/>
          <a:lstStyle/>
          <a:p>
            <a:endParaRPr lang="en-US"/>
          </a:p>
        </p:txBody>
      </p:sp>
      <p:sp>
        <p:nvSpPr>
          <p:cNvPr id="1499047501" name="Text 33"/>
          <p:cNvSpPr txBox="1"/>
          <p:nvPr/>
        </p:nvSpPr>
        <p:spPr bwMode="auto">
          <a:xfrm>
            <a:off x="8503920" y="1645920"/>
            <a:ext cx="3017520" cy="1325880"/>
          </a:xfrm>
          <a:prstGeom prst="rect">
            <a:avLst/>
          </a:prstGeom>
          <a:noFill/>
          <a:ln/>
        </p:spPr>
        <p:txBody>
          <a:bodyPr wrap="square" lIns="0" tIns="0" rIns="0" bIns="0" rtlCol="0" anchor="t"/>
          <a:lstStyle/>
          <a:p>
            <a:pPr marL="0" indent="0" algn="l">
              <a:spcAft>
                <a:spcPts val="500"/>
              </a:spcAft>
              <a:buNone/>
              <a:defRPr/>
            </a:pPr>
            <a:r>
              <a:rPr lang="en-US" sz="1600" b="1" dirty="0" i="0">
                <a:solidFill>
                  <a:srgbClr val="1A1A1A"/>
                </a:solidFill>
                <a:latin typeface="Times New Roman"/>
                <a:ea typeface="Times New Roman"/>
                <a:cs typeface="Times New Roman"/>
              </a:rPr>
              <a:t>Standardisation</a:t>
            </a:r>
            <a:endParaRPr sz="1800" b="1" dirty="0"/>
          </a:p>
          <a:p>
            <a:pPr marL="0" indent="0" algn="l">
              <a:spcAft>
                <a:spcPts val="500"/>
              </a:spcAft>
              <a:buNone/>
              <a:defRPr/>
            </a:pPr>
            <a:r>
              <a:rPr lang="en-US" sz="1600" b="0" i="1" dirty="0" err="1">
                <a:solidFill>
                  <a:srgbClr val="1A1A1A"/>
                </a:solidFill>
                <a:latin typeface="Times New Roman"/>
                <a:ea typeface="Times New Roman"/>
                <a:cs typeface="Times New Roman"/>
              </a:rPr>
              <a:t>x′ = (x/255 − μ) / σ</a:t>
            </a:r>
            <a:endParaRPr sz="1800" b="1" dirty="0"/>
          </a:p>
          <a:p>
            <a:pPr marL="0" indent="0" algn="l">
              <a:spcAft>
                <a:spcPts val="500"/>
              </a:spcAft>
              <a:buNone/>
              <a:defRPr/>
            </a:pPr>
            <a:r>
              <a:rPr lang="en-US" sz="1300" b="0" dirty="0" i="0">
                <a:solidFill>
                  <a:srgbClr val="1A1A1A"/>
                </a:solidFill>
                <a:latin typeface="Times New Roman"/>
                <a:ea typeface="Times New Roman"/>
                <a:cs typeface="Times New Roman"/>
              </a:rPr>
              <a:t>RGB: ImageNet μ, σ · Edge: μ = 0.12, σ = 0.33</a:t>
            </a:r>
            <a:endParaRPr lang="en-US" sz="1350" dirty="0"/>
          </a:p>
        </p:txBody>
      </p:sp>
      <p:sp>
        <p:nvSpPr>
          <p:cNvPr id="511297349" name="Shape 34"/>
          <p:cNvSpPr/>
          <p:nvPr/>
        </p:nvSpPr>
        <p:spPr bwMode="auto">
          <a:xfrm>
            <a:off x="8412480" y="3200400"/>
            <a:ext cx="3200400" cy="2743200"/>
          </a:xfrm>
          <a:prstGeom prst="roundRect">
            <a:avLst>
              <a:gd name="adj" fmla="val 3429"/>
            </a:avLst>
          </a:prstGeom>
          <a:solidFill>
            <a:srgbClr val="F2F2F2"/>
          </a:solidFill>
          <a:ln w="12700">
            <a:solidFill>
              <a:srgbClr val="1F497D"/>
            </a:solidFill>
            <a:prstDash val="solid"/>
          </a:ln>
        </p:spPr>
        <p:txBody>
          <a:bodyPr/>
          <a:lstStyle/>
          <a:p>
            <a:endParaRPr lang="en-US"/>
          </a:p>
        </p:txBody>
      </p:sp>
      <p:sp>
        <p:nvSpPr>
          <p:cNvPr id="657995337" name="Text 35"/>
          <p:cNvSpPr txBox="1"/>
          <p:nvPr/>
        </p:nvSpPr>
        <p:spPr bwMode="auto">
          <a:xfrm>
            <a:off x="8595360" y="3291840"/>
            <a:ext cx="2834640" cy="2560320"/>
          </a:xfrm>
          <a:prstGeom prst="rect">
            <a:avLst/>
          </a:prstGeom>
          <a:noFill/>
          <a:ln/>
        </p:spPr>
        <p:txBody>
          <a:bodyPr wrap="square" lIns="0" tIns="0" rIns="0" bIns="0" rtlCol="0" anchor="t"/>
          <a:lstStyle/>
          <a:p>
            <a:pPr marL="0" indent="0" algn="l">
              <a:spcAft>
                <a:spcPts val="400"/>
              </a:spcAft>
              <a:buNone/>
              <a:defRPr/>
            </a:pPr>
            <a:r>
              <a:rPr lang="en-US" sz="2250" b="1">
                <a:solidFill>
                  <a:srgbClr val="1A1A1A"/>
                </a:solidFill>
                <a:highlight>
                  <a:srgbClr val="FFFFFF"/>
                </a:highlight>
                <a:latin typeface="Times New Roman"/>
                <a:ea typeface="Times New Roman"/>
                <a:cs typeface="Times New Roman"/>
              </a:rPr>
              <a:t>Joint Augmentation</a:t>
            </a:r>
            <a:endParaRPr sz="2250">
              <a:highlight>
                <a:srgbClr val="FFFFFF"/>
              </a:highlight>
            </a:endParaRPr>
          </a:p>
          <a:p>
            <a:pPr marL="0" indent="0" algn="l">
              <a:spcAft>
                <a:spcPts val="400"/>
              </a:spcAft>
              <a:buNone/>
              <a:defRPr/>
            </a:pPr>
            <a:r>
              <a:rPr lang="en-US" sz="2250">
                <a:solidFill>
                  <a:srgbClr val="1A1A1A"/>
                </a:solidFill>
                <a:latin typeface="Times New Roman"/>
                <a:ea typeface="Times New Roman"/>
                <a:cs typeface="Times New Roman"/>
              </a:rPr>
              <a:t>Flips and 90° rotations applied identically to T₁, T₂ and the mask; brightness / contrast jitter applied to each date separately.</a:t>
            </a:r>
            <a:endParaRPr lang="en-US" sz="2000"/>
          </a:p>
        </p:txBody>
      </p:sp>
      <p:sp>
        <p:nvSpPr>
          <p:cNvPr id="1872097535" name="Shape 36"/>
          <p:cNvSpPr/>
          <p:nvPr/>
        </p:nvSpPr>
        <p:spPr bwMode="auto">
          <a:xfrm>
            <a:off x="640080" y="4892039"/>
            <a:ext cx="7452360" cy="1051560"/>
          </a:xfrm>
          <a:prstGeom prst="roundRect">
            <a:avLst>
              <a:gd name="adj" fmla="val 5217"/>
            </a:avLst>
          </a:prstGeom>
          <a:solidFill>
            <a:srgbClr val="FFFFFF"/>
          </a:solidFill>
          <a:ln w="12700">
            <a:solidFill>
              <a:srgbClr val="1F497D"/>
            </a:solidFill>
            <a:prstDash val="solid"/>
          </a:ln>
        </p:spPr>
        <p:txBody>
          <a:bodyPr/>
          <a:lstStyle/>
          <a:p>
            <a:endParaRPr lang="en-US"/>
          </a:p>
        </p:txBody>
      </p:sp>
      <p:sp>
        <p:nvSpPr>
          <p:cNvPr id="93488508" name="Text 37"/>
          <p:cNvSpPr txBox="1"/>
          <p:nvPr/>
        </p:nvSpPr>
        <p:spPr bwMode="auto">
          <a:xfrm>
            <a:off x="640079" y="4892039"/>
            <a:ext cx="7452360" cy="1051560"/>
          </a:xfrm>
          <a:prstGeom prst="rect">
            <a:avLst/>
          </a:prstGeom>
          <a:noFill/>
          <a:ln/>
        </p:spPr>
        <p:txBody>
          <a:bodyPr wrap="square" lIns="0" tIns="0" rIns="0" bIns="0" rtlCol="0" anchor="ctr"/>
          <a:lstStyle/>
          <a:p>
            <a:pPr marL="0" indent="0" algn="ctr">
              <a:buNone/>
              <a:defRPr/>
            </a:pPr>
            <a:r>
              <a:rPr lang="en-US" sz="2150" b="1">
                <a:solidFill>
                  <a:srgbClr val="1F497D"/>
                </a:solidFill>
                <a:latin typeface="Times New Roman"/>
                <a:ea typeface="Times New Roman"/>
                <a:cs typeface="Times New Roman"/>
              </a:rPr>
              <a:t>Crop → Joint Augmentation → DSP (Canny) → Standardisation → Model Input</a:t>
            </a:r>
            <a:endParaRPr lang="en-US" sz="1500"/>
          </a:p>
        </p:txBody>
      </p:sp>
      <p:sp>
        <p:nvSpPr>
          <p:cNvPr id="2132565326" name="Rectangle 2132565325"/>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32565327" name="TextBox 2132565326"/>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2132565328" name="TextBox 2132565327"/>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2132565329" name="TextBox 2132565328"/>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2206104</a:t>
            </a:r>
          </a:p>
        </p:txBody>
      </p:sp>
      <p:sp>
        <p:nvSpPr>
          <p:cNvPr id="2132565330" name="TextBox 2132565329"/>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C0D10BAF-0500-4B29-B4CB-851977CF80EA}"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Slide 3">
    <p:bg>
      <p:bgPr>
        <a:solidFill>
          <a:srgbClr val="FFFFFF"/>
        </a:solidFill>
        <a:effectLst/>
      </p:bgPr>
    </p:bg>
    <p:spTree>
      <p:nvGrpSpPr>
        <p:cNvPr id="1" name=""/>
        <p:cNvGrpSpPr/>
        <p:nvPr/>
      </p:nvGrpSpPr>
      <p:grpSpPr bwMode="auto">
        <a:xfrm>
          <a:off x="0" y="0"/>
          <a:ext cx="0" cy="0"/>
          <a:chOff x="0" y="0"/>
          <a:chExt cx="0" cy="0"/>
        </a:xfrm>
      </p:grpSpPr>
      <p:sp>
        <p:nvSpPr>
          <p:cNvPr id="698249292" name="Shape 0"/>
          <p:cNvSpPr/>
          <p:nvPr/>
        </p:nvSpPr>
        <p:spPr bwMode="auto">
          <a:xfrm>
            <a:off x="3361894" y="269747"/>
            <a:ext cx="7255306" cy="960120"/>
          </a:xfrm>
          <a:prstGeom prst="roundRect">
            <a:avLst>
              <a:gd name="adj" fmla="val 7619"/>
            </a:avLst>
          </a:prstGeom>
          <a:solidFill>
            <a:srgbClr val="C00000"/>
          </a:solidFill>
          <a:ln/>
        </p:spPr>
        <p:txBody>
          <a:bodyPr/>
          <a:lstStyle/>
          <a:p>
            <a:endParaRPr lang="en-US"/>
          </a:p>
        </p:txBody>
      </p:sp>
      <p:sp>
        <p:nvSpPr>
          <p:cNvPr id="730683976" name="Text 1"/>
          <p:cNvSpPr txBox="1"/>
          <p:nvPr/>
        </p:nvSpPr>
        <p:spPr bwMode="auto">
          <a:xfrm>
            <a:off x="3636214" y="342899"/>
            <a:ext cx="7435977" cy="457200"/>
          </a:xfrm>
          <a:prstGeom prst="rect">
            <a:avLst/>
          </a:prstGeom>
          <a:noFill/>
          <a:ln/>
        </p:spPr>
        <p:txBody>
          <a:bodyPr wrap="square" lIns="0" tIns="0" rIns="0" bIns="0" rtlCol="0" anchor="ctr"/>
          <a:lstStyle/>
          <a:p>
            <a:pPr marL="0" indent="0" algn="l">
              <a:buNone/>
              <a:defRPr/>
            </a:pPr>
            <a:r>
              <a:rPr lang="en-US" sz="2400" b="1" dirty="0">
                <a:solidFill>
                  <a:srgbClr val="FFFFFF"/>
                </a:solidFill>
                <a:latin typeface="Cambria"/>
                <a:ea typeface="Cambria"/>
                <a:cs typeface="Cambria"/>
              </a:rPr>
              <a:t>3.2.3 Design Methods: DSP Feature Engineering</a:t>
            </a:r>
            <a:endParaRPr lang="en-US" sz="2400" dirty="0"/>
          </a:p>
        </p:txBody>
      </p:sp>
      <p:sp>
        <p:nvSpPr>
          <p:cNvPr id="475907205" name="Text 2"/>
          <p:cNvSpPr txBox="1"/>
          <p:nvPr/>
        </p:nvSpPr>
        <p:spPr bwMode="auto">
          <a:xfrm>
            <a:off x="2847534" y="763523"/>
            <a:ext cx="8139998" cy="384048"/>
          </a:xfrm>
          <a:prstGeom prst="rect">
            <a:avLst/>
          </a:prstGeom>
          <a:noFill/>
          <a:ln/>
        </p:spPr>
        <p:txBody>
          <a:bodyPr wrap="square" lIns="0" tIns="0" rIns="0" bIns="0" rtlCol="0" anchor="ctr"/>
          <a:lstStyle/>
          <a:p>
            <a:pPr marL="0" indent="0" algn="ctr">
              <a:buNone/>
              <a:defRPr/>
            </a:pPr>
            <a:r>
              <a:rPr lang="en-US" sz="1400" i="1" dirty="0">
                <a:solidFill>
                  <a:srgbClr val="FFFFFF"/>
                </a:solidFill>
                <a:latin typeface="Times New Roman"/>
                <a:ea typeface="Times New Roman"/>
                <a:cs typeface="Times New Roman"/>
              </a:rPr>
              <a:t>Extracting an Explicit Structural Edge Representation from RGB Imagery</a:t>
            </a:r>
            <a:endParaRPr lang="en-US" sz="1400" dirty="0"/>
          </a:p>
        </p:txBody>
      </p:sp>
      <p:sp>
        <p:nvSpPr>
          <p:cNvPr id="1343440811" name="Text 6"/>
          <p:cNvSpPr txBox="1"/>
          <p:nvPr/>
        </p:nvSpPr>
        <p:spPr bwMode="auto">
          <a:xfrm>
            <a:off x="14730629" y="269747"/>
            <a:ext cx="274320" cy="274320"/>
          </a:xfrm>
          <a:prstGeom prst="rect">
            <a:avLst/>
          </a:prstGeom>
          <a:noFill/>
          <a:ln/>
        </p:spPr>
        <p:txBody>
          <a:bodyPr wrap="square" lIns="0" tIns="0" rIns="0" bIns="0" rtlCol="0" anchor="ctr"/>
          <a:lstStyle/>
          <a:p>
            <a:pPr marL="0" indent="0" algn="r">
              <a:buNone/>
              <a:defRPr/>
            </a:pPr>
            <a:r>
              <a:rPr lang="en-US" sz="1100">
                <a:solidFill>
                  <a:srgbClr val="FFFFFF"/>
                </a:solidFill>
                <a:latin typeface="Times New Roman"/>
                <a:ea typeface="Times New Roman"/>
                <a:cs typeface="Times New Roman"/>
              </a:rPr>
              <a:t>3</a:t>
            </a:r>
            <a:endParaRPr lang="en-US" sz="1100"/>
          </a:p>
        </p:txBody>
      </p:sp>
      <p:pic>
        <p:nvPicPr>
          <p:cNvPr id="1831239448" name="Image 0" descr="/home/claude/pptx_work/reuse_images/rgb.png"/>
          <p:cNvPicPr>
            <a:picLocks noChangeAspect="1"/>
          </p:cNvPicPr>
          <p:nvPr/>
        </p:nvPicPr>
        <p:blipFill rotWithShape="1">
          <a:blip r:embed="rId3"/>
          <a:stretch/>
        </p:blipFill>
        <p:spPr bwMode="auto">
          <a:xfrm>
            <a:off x="502920" y="1691640"/>
            <a:ext cx="1874520" cy="1874520"/>
          </a:xfrm>
          <a:prstGeom prst="rect">
            <a:avLst/>
          </a:prstGeom>
        </p:spPr>
      </p:pic>
      <p:sp>
        <p:nvSpPr>
          <p:cNvPr id="1695312583" name="Text 7"/>
          <p:cNvSpPr txBox="1"/>
          <p:nvPr/>
        </p:nvSpPr>
        <p:spPr bwMode="auto">
          <a:xfrm>
            <a:off x="411480" y="3611880"/>
            <a:ext cx="2057400" cy="320040"/>
          </a:xfrm>
          <a:prstGeom prst="rect">
            <a:avLst/>
          </a:prstGeom>
          <a:noFill/>
          <a:ln/>
        </p:spPr>
        <p:txBody>
          <a:bodyPr wrap="square" lIns="0" tIns="0" rIns="0" bIns="0" rtlCol="0" anchor="ctr"/>
          <a:lstStyle/>
          <a:p>
            <a:pPr marL="0" indent="0" algn="ctr">
              <a:buNone/>
              <a:defRPr/>
            </a:pPr>
            <a:r>
              <a:rPr lang="en-US" sz="2000" b="1">
                <a:solidFill>
                  <a:schemeClr val="tx1">
                    <a:lumMod val="90000"/>
                    <a:lumOff val="5000"/>
                  </a:schemeClr>
                </a:solidFill>
                <a:latin typeface="Times New Roman"/>
                <a:ea typeface="Times New Roman"/>
                <a:cs typeface="Times New Roman"/>
              </a:rPr>
              <a:t>RGB Image</a:t>
            </a:r>
            <a:endParaRPr sz="2000" b="1">
              <a:solidFill>
                <a:schemeClr val="tx1">
                  <a:lumMod val="90000"/>
                  <a:lumOff val="5000"/>
                </a:schemeClr>
              </a:solidFill>
            </a:endParaRPr>
          </a:p>
        </p:txBody>
      </p:sp>
      <p:sp>
        <p:nvSpPr>
          <p:cNvPr id="1587491693" name="Text 8"/>
          <p:cNvSpPr txBox="1"/>
          <p:nvPr/>
        </p:nvSpPr>
        <p:spPr bwMode="auto">
          <a:xfrm>
            <a:off x="2432303" y="2491740"/>
            <a:ext cx="502920" cy="274320"/>
          </a:xfrm>
          <a:prstGeom prst="rect">
            <a:avLst/>
          </a:prstGeom>
          <a:noFill/>
          <a:ln/>
        </p:spPr>
        <p:txBody>
          <a:bodyPr wrap="square" lIns="0" tIns="0" rIns="0" bIns="0" rtlCol="0" anchor="ctr"/>
          <a:lstStyle/>
          <a:p>
            <a:pPr marL="0" indent="0" algn="ctr">
              <a:buNone/>
              <a:defRPr/>
            </a:pPr>
            <a:r>
              <a:rPr lang="en-US" sz="2200">
                <a:solidFill>
                  <a:srgbClr val="1F497D"/>
                </a:solidFill>
                <a:latin typeface="Times New Roman"/>
                <a:ea typeface="Times New Roman"/>
                <a:cs typeface="Times New Roman"/>
              </a:rPr>
              <a:t>→</a:t>
            </a:r>
            <a:endParaRPr lang="en-US" sz="2200"/>
          </a:p>
        </p:txBody>
      </p:sp>
      <p:pic>
        <p:nvPicPr>
          <p:cNvPr id="8161756" name="Image 1" descr="/home/claude/pptx_work/reuse_images/grayscale.png"/>
          <p:cNvPicPr>
            <a:picLocks noChangeAspect="1"/>
          </p:cNvPicPr>
          <p:nvPr/>
        </p:nvPicPr>
        <p:blipFill rotWithShape="1">
          <a:blip r:embed="rId4"/>
          <a:stretch/>
        </p:blipFill>
        <p:spPr bwMode="auto">
          <a:xfrm>
            <a:off x="2971800" y="1691640"/>
            <a:ext cx="1874520" cy="1874520"/>
          </a:xfrm>
          <a:prstGeom prst="rect">
            <a:avLst/>
          </a:prstGeom>
        </p:spPr>
      </p:pic>
      <p:sp>
        <p:nvSpPr>
          <p:cNvPr id="236370805" name="Text 9"/>
          <p:cNvSpPr txBox="1"/>
          <p:nvPr/>
        </p:nvSpPr>
        <p:spPr bwMode="auto">
          <a:xfrm>
            <a:off x="2880360" y="3611880"/>
            <a:ext cx="2057400" cy="320040"/>
          </a:xfrm>
          <a:prstGeom prst="rect">
            <a:avLst/>
          </a:prstGeom>
          <a:noFill/>
          <a:ln/>
        </p:spPr>
        <p:txBody>
          <a:bodyPr wrap="square" lIns="0" tIns="0" rIns="0" bIns="0" rtlCol="0" anchor="ctr"/>
          <a:lstStyle/>
          <a:p>
            <a:pPr marL="0" indent="0" algn="ctr">
              <a:buNone/>
              <a:defRPr/>
            </a:pPr>
            <a:r>
              <a:rPr lang="en-US" sz="2000" b="1">
                <a:solidFill>
                  <a:schemeClr val="tx1">
                    <a:lumMod val="90000"/>
                    <a:lumOff val="5000"/>
                  </a:schemeClr>
                </a:solidFill>
                <a:latin typeface="Times New Roman"/>
                <a:ea typeface="Times New Roman"/>
                <a:cs typeface="Times New Roman"/>
              </a:rPr>
              <a:t>Grayscale</a:t>
            </a:r>
            <a:endParaRPr sz="2000" b="1">
              <a:solidFill>
                <a:schemeClr val="tx1">
                  <a:lumMod val="90000"/>
                  <a:lumOff val="5000"/>
                </a:schemeClr>
              </a:solidFill>
            </a:endParaRPr>
          </a:p>
        </p:txBody>
      </p:sp>
      <p:sp>
        <p:nvSpPr>
          <p:cNvPr id="1278525658" name="Text 10"/>
          <p:cNvSpPr txBox="1"/>
          <p:nvPr/>
        </p:nvSpPr>
        <p:spPr bwMode="auto">
          <a:xfrm>
            <a:off x="4901184" y="2491740"/>
            <a:ext cx="502920" cy="274320"/>
          </a:xfrm>
          <a:prstGeom prst="rect">
            <a:avLst/>
          </a:prstGeom>
          <a:noFill/>
          <a:ln/>
        </p:spPr>
        <p:txBody>
          <a:bodyPr wrap="square" lIns="0" tIns="0" rIns="0" bIns="0" rtlCol="0" anchor="ctr"/>
          <a:lstStyle/>
          <a:p>
            <a:pPr marL="0" indent="0" algn="ctr">
              <a:buNone/>
              <a:defRPr/>
            </a:pPr>
            <a:r>
              <a:rPr lang="en-US" sz="2200">
                <a:solidFill>
                  <a:srgbClr val="1F497D"/>
                </a:solidFill>
                <a:latin typeface="Times New Roman"/>
                <a:ea typeface="Times New Roman"/>
                <a:cs typeface="Times New Roman"/>
              </a:rPr>
              <a:t>→</a:t>
            </a:r>
            <a:endParaRPr lang="en-US" sz="2200"/>
          </a:p>
        </p:txBody>
      </p:sp>
      <p:pic>
        <p:nvPicPr>
          <p:cNvPr id="330673682" name="Image 2" descr="/home/claude/pptx_work/reuse_images/gaussian.png"/>
          <p:cNvPicPr>
            <a:picLocks noChangeAspect="1"/>
          </p:cNvPicPr>
          <p:nvPr/>
        </p:nvPicPr>
        <p:blipFill rotWithShape="1">
          <a:blip r:embed="rId5"/>
          <a:stretch/>
        </p:blipFill>
        <p:spPr bwMode="auto">
          <a:xfrm>
            <a:off x="5440680" y="1691640"/>
            <a:ext cx="1874520" cy="1874520"/>
          </a:xfrm>
          <a:prstGeom prst="rect">
            <a:avLst/>
          </a:prstGeom>
        </p:spPr>
      </p:pic>
      <p:sp>
        <p:nvSpPr>
          <p:cNvPr id="426544535" name="Text 11"/>
          <p:cNvSpPr txBox="1"/>
          <p:nvPr/>
        </p:nvSpPr>
        <p:spPr bwMode="auto">
          <a:xfrm>
            <a:off x="5349240" y="3611880"/>
            <a:ext cx="2057400" cy="320040"/>
          </a:xfrm>
          <a:prstGeom prst="rect">
            <a:avLst/>
          </a:prstGeom>
          <a:noFill/>
          <a:ln/>
        </p:spPr>
        <p:txBody>
          <a:bodyPr wrap="square" lIns="0" tIns="0" rIns="0" bIns="0" rtlCol="0" anchor="ctr"/>
          <a:lstStyle/>
          <a:p>
            <a:pPr marL="0" indent="0" algn="ctr">
              <a:buNone/>
              <a:defRPr/>
            </a:pPr>
            <a:r>
              <a:rPr lang="en-US" sz="2000" b="1">
                <a:solidFill>
                  <a:schemeClr val="tx1">
                    <a:lumMod val="90000"/>
                    <a:lumOff val="5000"/>
                  </a:schemeClr>
                </a:solidFill>
                <a:latin typeface="Times New Roman"/>
                <a:ea typeface="Times New Roman"/>
                <a:cs typeface="Times New Roman"/>
              </a:rPr>
              <a:t>Gaussian-Filtered</a:t>
            </a:r>
            <a:endParaRPr sz="2000" b="1">
              <a:solidFill>
                <a:schemeClr val="tx1">
                  <a:lumMod val="90000"/>
                  <a:lumOff val="5000"/>
                </a:schemeClr>
              </a:solidFill>
            </a:endParaRPr>
          </a:p>
        </p:txBody>
      </p:sp>
      <p:sp>
        <p:nvSpPr>
          <p:cNvPr id="1749267086" name="Text 12"/>
          <p:cNvSpPr txBox="1"/>
          <p:nvPr/>
        </p:nvSpPr>
        <p:spPr bwMode="auto">
          <a:xfrm>
            <a:off x="7370064" y="2491740"/>
            <a:ext cx="502920" cy="274320"/>
          </a:xfrm>
          <a:prstGeom prst="rect">
            <a:avLst/>
          </a:prstGeom>
          <a:noFill/>
          <a:ln/>
        </p:spPr>
        <p:txBody>
          <a:bodyPr wrap="square" lIns="0" tIns="0" rIns="0" bIns="0" rtlCol="0" anchor="ctr"/>
          <a:lstStyle/>
          <a:p>
            <a:pPr marL="0" indent="0" algn="ctr">
              <a:buNone/>
              <a:defRPr/>
            </a:pPr>
            <a:r>
              <a:rPr lang="en-US" sz="2200">
                <a:solidFill>
                  <a:srgbClr val="1F497D"/>
                </a:solidFill>
                <a:latin typeface="Times New Roman"/>
                <a:ea typeface="Times New Roman"/>
                <a:cs typeface="Times New Roman"/>
              </a:rPr>
              <a:t>→</a:t>
            </a:r>
            <a:endParaRPr lang="en-US" sz="2200"/>
          </a:p>
        </p:txBody>
      </p:sp>
      <p:pic>
        <p:nvPicPr>
          <p:cNvPr id="799949605" name="Image 3" descr="/home/claude/pptx_work/reuse_images/canny.png"/>
          <p:cNvPicPr>
            <a:picLocks noChangeAspect="1"/>
          </p:cNvPicPr>
          <p:nvPr/>
        </p:nvPicPr>
        <p:blipFill rotWithShape="1">
          <a:blip r:embed="rId6"/>
          <a:stretch/>
        </p:blipFill>
        <p:spPr bwMode="auto">
          <a:xfrm>
            <a:off x="7909560" y="1691640"/>
            <a:ext cx="1874520" cy="1874520"/>
          </a:xfrm>
          <a:prstGeom prst="rect">
            <a:avLst/>
          </a:prstGeom>
        </p:spPr>
      </p:pic>
      <p:sp>
        <p:nvSpPr>
          <p:cNvPr id="703421016" name="Text 13"/>
          <p:cNvSpPr txBox="1"/>
          <p:nvPr/>
        </p:nvSpPr>
        <p:spPr bwMode="auto">
          <a:xfrm>
            <a:off x="7818120" y="3611880"/>
            <a:ext cx="2057400" cy="320040"/>
          </a:xfrm>
          <a:prstGeom prst="rect">
            <a:avLst/>
          </a:prstGeom>
          <a:noFill/>
          <a:ln/>
        </p:spPr>
        <p:txBody>
          <a:bodyPr wrap="square" lIns="0" tIns="0" rIns="0" bIns="0" rtlCol="0" anchor="ctr"/>
          <a:lstStyle/>
          <a:p>
            <a:pPr marL="0" indent="0" algn="ctr">
              <a:buNone/>
              <a:defRPr/>
            </a:pPr>
            <a:r>
              <a:rPr lang="en-US" sz="2000" b="1">
                <a:solidFill>
                  <a:schemeClr val="tx1">
                    <a:lumMod val="90000"/>
                    <a:lumOff val="5000"/>
                  </a:schemeClr>
                </a:solidFill>
                <a:latin typeface="Times New Roman"/>
                <a:ea typeface="Times New Roman"/>
                <a:cs typeface="Times New Roman"/>
              </a:rPr>
              <a:t>Canny Edge Map</a:t>
            </a:r>
            <a:endParaRPr sz="2000" b="1">
              <a:solidFill>
                <a:schemeClr val="tx1">
                  <a:lumMod val="90000"/>
                  <a:lumOff val="5000"/>
                </a:schemeClr>
              </a:solidFill>
            </a:endParaRPr>
          </a:p>
        </p:txBody>
      </p:sp>
      <p:sp>
        <p:nvSpPr>
          <p:cNvPr id="315684010" name="Text 14"/>
          <p:cNvSpPr txBox="1"/>
          <p:nvPr/>
        </p:nvSpPr>
        <p:spPr bwMode="auto">
          <a:xfrm>
            <a:off x="9710530" y="2469617"/>
            <a:ext cx="457200" cy="274320"/>
          </a:xfrm>
          <a:prstGeom prst="rect">
            <a:avLst/>
          </a:prstGeom>
          <a:noFill/>
          <a:ln/>
        </p:spPr>
        <p:txBody>
          <a:bodyPr wrap="square" lIns="0" tIns="0" rIns="0" bIns="0" rtlCol="0" anchor="ctr"/>
          <a:lstStyle/>
          <a:p>
            <a:pPr marL="0" indent="0" algn="ctr">
              <a:buNone/>
              <a:defRPr/>
            </a:pPr>
            <a:r>
              <a:rPr lang="en-US" sz="2200" dirty="0">
                <a:solidFill>
                  <a:srgbClr val="1F497D"/>
                </a:solidFill>
                <a:latin typeface="Times New Roman"/>
                <a:ea typeface="Times New Roman"/>
                <a:cs typeface="Times New Roman"/>
              </a:rPr>
              <a:t>→</a:t>
            </a:r>
            <a:endParaRPr lang="en-US" sz="2200" dirty="0"/>
          </a:p>
        </p:txBody>
      </p:sp>
      <p:pic>
        <p:nvPicPr>
          <p:cNvPr id="1061476465" name="Image 4" descr="/home/claude/pptx_work/reuse_images/fusion.png"/>
          <p:cNvPicPr>
            <a:picLocks noChangeAspect="1"/>
          </p:cNvPicPr>
          <p:nvPr/>
        </p:nvPicPr>
        <p:blipFill rotWithShape="1">
          <a:blip r:embed="rId7"/>
          <a:stretch/>
        </p:blipFill>
        <p:spPr bwMode="auto">
          <a:xfrm>
            <a:off x="10058400" y="1691640"/>
            <a:ext cx="1874520" cy="1874520"/>
          </a:xfrm>
          <a:prstGeom prst="rect">
            <a:avLst/>
          </a:prstGeom>
        </p:spPr>
      </p:pic>
      <p:sp>
        <p:nvSpPr>
          <p:cNvPr id="2067062204" name="Text 15"/>
          <p:cNvSpPr txBox="1"/>
          <p:nvPr/>
        </p:nvSpPr>
        <p:spPr bwMode="auto">
          <a:xfrm>
            <a:off x="9966960" y="3704057"/>
            <a:ext cx="2057400" cy="320040"/>
          </a:xfrm>
          <a:prstGeom prst="rect">
            <a:avLst/>
          </a:prstGeom>
          <a:noFill/>
          <a:ln/>
        </p:spPr>
        <p:txBody>
          <a:bodyPr wrap="square" lIns="0" tIns="0" rIns="0" bIns="0" rtlCol="0" anchor="ctr"/>
          <a:lstStyle/>
          <a:p>
            <a:pPr marL="0" indent="0" algn="ctr">
              <a:buNone/>
              <a:defRPr/>
            </a:pPr>
            <a:r>
              <a:rPr lang="en-US" sz="2000" b="1">
                <a:solidFill>
                  <a:schemeClr val="tx1">
                    <a:lumMod val="90000"/>
                    <a:lumOff val="5000"/>
                  </a:schemeClr>
                </a:solidFill>
                <a:latin typeface="Times New Roman"/>
                <a:ea typeface="Times New Roman"/>
                <a:cs typeface="Times New Roman"/>
              </a:rPr>
              <a:t>RGB + Canny Fusion</a:t>
            </a:r>
            <a:endParaRPr sz="2000" b="1">
              <a:solidFill>
                <a:schemeClr val="tx1">
                  <a:lumMod val="90000"/>
                  <a:lumOff val="5000"/>
                </a:schemeClr>
              </a:solidFill>
            </a:endParaRPr>
          </a:p>
        </p:txBody>
      </p:sp>
      <p:sp>
        <p:nvSpPr>
          <p:cNvPr id="465607173" name="Shape 16"/>
          <p:cNvSpPr/>
          <p:nvPr/>
        </p:nvSpPr>
        <p:spPr bwMode="auto">
          <a:xfrm>
            <a:off x="2935223" y="4434103"/>
            <a:ext cx="6367803" cy="519388"/>
          </a:xfrm>
          <a:prstGeom prst="rect">
            <a:avLst/>
          </a:prstGeom>
          <a:solidFill>
            <a:srgbClr val="F2F2F2"/>
          </a:solidFill>
          <a:ln w="12700">
            <a:solidFill>
              <a:srgbClr val="1F497D"/>
            </a:solidFill>
            <a:prstDash val="solid"/>
          </a:ln>
        </p:spPr>
        <p:txBody>
          <a:bodyPr/>
          <a:lstStyle/>
          <a:p>
            <a:endParaRPr lang="en-US"/>
          </a:p>
        </p:txBody>
      </p:sp>
      <p:sp>
        <p:nvSpPr>
          <p:cNvPr id="1967746649" name="Text 17"/>
          <p:cNvSpPr txBox="1"/>
          <p:nvPr/>
        </p:nvSpPr>
        <p:spPr bwMode="auto">
          <a:xfrm>
            <a:off x="2549627" y="4532243"/>
            <a:ext cx="7062265" cy="421248"/>
          </a:xfrm>
          <a:prstGeom prst="rect">
            <a:avLst/>
          </a:prstGeom>
          <a:noFill/>
          <a:ln/>
        </p:spPr>
        <p:txBody>
          <a:bodyPr wrap="square" lIns="50799" tIns="50799" rIns="50799" bIns="50799" rtlCol="0" anchor="ctr"/>
          <a:lstStyle/>
          <a:p>
            <a:pPr marL="0" indent="0" algn="ctr">
              <a:buNone/>
              <a:defRPr/>
            </a:pPr>
            <a:r>
              <a:rPr lang="en-US" sz="1700" b="1" dirty="0">
                <a:solidFill>
                  <a:srgbClr val="1A1A1A"/>
                </a:solidFill>
                <a:latin typeface="Noto Serif KR Black" panose="02020200000000000000" pitchFamily="18" charset="-128"/>
                <a:ea typeface="Noto Serif KR Black" panose="02020200000000000000" pitchFamily="18" charset="-128"/>
                <a:cs typeface="Times New Roman"/>
              </a:rPr>
              <a:t>3-channel RGB  +  1-channel Canny  =  4-channel input</a:t>
            </a:r>
            <a:endParaRPr lang="en-US" sz="1700" b="1" dirty="0">
              <a:latin typeface="Noto Serif KR Black" panose="02020200000000000000" pitchFamily="18" charset="-128"/>
              <a:ea typeface="Noto Serif KR Black" panose="02020200000000000000" pitchFamily="18" charset="-128"/>
            </a:endParaRPr>
          </a:p>
        </p:txBody>
      </p:sp>
      <p:sp>
        <p:nvSpPr>
          <p:cNvPr id="1653000469" name="Text 18"/>
          <p:cNvSpPr txBox="1"/>
          <p:nvPr/>
        </p:nvSpPr>
        <p:spPr bwMode="auto">
          <a:xfrm>
            <a:off x="411479" y="5166360"/>
            <a:ext cx="11551613" cy="1050494"/>
          </a:xfrm>
          <a:prstGeom prst="rect">
            <a:avLst/>
          </a:prstGeom>
          <a:noFill/>
          <a:ln/>
        </p:spPr>
        <p:txBody>
          <a:bodyPr wrap="square" lIns="0" tIns="0" rIns="0" bIns="0" rtlCol="0" anchor="t"/>
          <a:lstStyle/>
          <a:p>
            <a:pPr marL="0" indent="0" algn="ctr">
              <a:buNone/>
              <a:defRPr/>
            </a:pPr>
            <a:r>
              <a:rPr lang="en-US" sz="2200" b="1" dirty="0">
                <a:solidFill>
                  <a:srgbClr val="1A1A1A"/>
                </a:solidFill>
                <a:latin typeface="Times New Roman"/>
                <a:ea typeface="Times New Roman"/>
                <a:cs typeface="Times New Roman"/>
              </a:rPr>
              <a:t>DSP processing extracts an explicit structural Edge representation from the RGB image</a:t>
            </a:r>
            <a:r>
              <a:rPr sz="2200" b="1" dirty="0"/>
              <a:t>;</a:t>
            </a:r>
            <a:endParaRPr sz="2200" b="1" dirty="0">
              <a:solidFill>
                <a:srgbClr val="1A1A1A"/>
              </a:solidFill>
              <a:latin typeface="Times New Roman"/>
              <a:ea typeface="Times New Roman"/>
              <a:cs typeface="Times New Roman"/>
            </a:endParaRPr>
          </a:p>
          <a:p>
            <a:pPr marL="0" indent="0" algn="ctr">
              <a:buNone/>
              <a:defRPr/>
            </a:pPr>
            <a:r>
              <a:rPr lang="en-US" sz="2200" b="1" dirty="0">
                <a:solidFill>
                  <a:srgbClr val="1A1A1A"/>
                </a:solidFill>
                <a:latin typeface="Times New Roman"/>
                <a:ea typeface="Times New Roman"/>
                <a:cs typeface="Times New Roman"/>
              </a:rPr>
              <a:t> Grayscale Conversion and Gaussian Filtering are intermediate stages used to generate the Canny Edge channel.</a:t>
            </a:r>
            <a:endParaRPr sz="2200" b="1" dirty="0"/>
          </a:p>
        </p:txBody>
      </p:sp>
      <p:sp>
        <p:nvSpPr>
          <p:cNvPr id="2067062205" name="Rectangle 2067062204"/>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67062206" name="TextBox 2067062205"/>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2067062207" name="TextBox 2067062206"/>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2067062208" name="TextBox 2067062207"/>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2206104</a:t>
            </a:r>
          </a:p>
        </p:txBody>
      </p:sp>
      <p:sp>
        <p:nvSpPr>
          <p:cNvPr id="2067062209" name="TextBox 2067062208"/>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75845946-A541-4320-8C8A-1A2BAC4CB028}"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4">
    <p:bg>
      <p:bgPr>
        <a:solidFill>
          <a:srgbClr val="FFFFFF"/>
        </a:solidFill>
        <a:effectLst/>
      </p:bgPr>
    </p:bg>
    <p:spTree>
      <p:nvGrpSpPr>
        <p:cNvPr id="1" name=""/>
        <p:cNvGrpSpPr/>
        <p:nvPr/>
      </p:nvGrpSpPr>
      <p:grpSpPr bwMode="auto">
        <a:xfrm>
          <a:off x="0" y="0"/>
          <a:ext cx="0" cy="0"/>
          <a:chOff x="0" y="0"/>
          <a:chExt cx="0" cy="0"/>
        </a:xfrm>
      </p:grpSpPr>
      <p:sp>
        <p:nvSpPr>
          <p:cNvPr id="1032737228" name="Shape 10"/>
          <p:cNvSpPr/>
          <p:nvPr/>
        </p:nvSpPr>
        <p:spPr bwMode="auto">
          <a:xfrm>
            <a:off x="4189085" y="3926839"/>
            <a:ext cx="4107930" cy="665397"/>
          </a:xfrm>
          <a:prstGeom prst="rect">
            <a:avLst/>
          </a:prstGeom>
          <a:solidFill>
            <a:srgbClr val="F2F2F2"/>
          </a:solidFill>
          <a:ln w="12700">
            <a:solidFill>
              <a:srgbClr val="1F497D"/>
            </a:solidFill>
            <a:prstDash val="solid"/>
          </a:ln>
        </p:spPr>
        <p:txBody>
          <a:bodyPr anchor="ctr"/>
          <a:lstStyle/>
          <a:p>
            <a:pPr algn="ctr">
              <a:defRPr/>
            </a:pPr>
            <a:endParaRPr/>
          </a:p>
        </p:txBody>
      </p:sp>
      <p:sp>
        <p:nvSpPr>
          <p:cNvPr id="1989058685" name="Shape 0"/>
          <p:cNvSpPr/>
          <p:nvPr/>
        </p:nvSpPr>
        <p:spPr bwMode="auto">
          <a:xfrm>
            <a:off x="3795494" y="315468"/>
            <a:ext cx="4085040" cy="960120"/>
          </a:xfrm>
          <a:prstGeom prst="roundRect">
            <a:avLst>
              <a:gd name="adj" fmla="val 7619"/>
            </a:avLst>
          </a:prstGeom>
          <a:solidFill>
            <a:srgbClr val="C00000"/>
          </a:solidFill>
          <a:ln/>
        </p:spPr>
        <p:txBody>
          <a:bodyPr/>
          <a:lstStyle/>
          <a:p>
            <a:endParaRPr lang="en-US"/>
          </a:p>
        </p:txBody>
      </p:sp>
      <p:sp>
        <p:nvSpPr>
          <p:cNvPr id="650280723" name="Text 1"/>
          <p:cNvSpPr txBox="1"/>
          <p:nvPr/>
        </p:nvSpPr>
        <p:spPr bwMode="auto">
          <a:xfrm>
            <a:off x="4053174" y="315468"/>
            <a:ext cx="11002975" cy="457200"/>
          </a:xfrm>
          <a:prstGeom prst="rect">
            <a:avLst/>
          </a:prstGeom>
          <a:noFill/>
          <a:ln/>
        </p:spPr>
        <p:txBody>
          <a:bodyPr wrap="square" lIns="0" tIns="0" rIns="0" bIns="0" rtlCol="0" anchor="ctr"/>
          <a:lstStyle/>
          <a:p>
            <a:pPr marL="0" indent="0" algn="l">
              <a:buNone/>
              <a:defRPr/>
            </a:pPr>
            <a:r>
              <a:rPr lang="en-US" sz="2400" b="1" dirty="0">
                <a:solidFill>
                  <a:srgbClr val="FFFFFF"/>
                </a:solidFill>
                <a:latin typeface="Cambria"/>
                <a:ea typeface="Cambria"/>
                <a:cs typeface="Cambria"/>
              </a:rPr>
              <a:t> Grayscale Conversion</a:t>
            </a:r>
            <a:endParaRPr lang="en-US" sz="2400" dirty="0"/>
          </a:p>
        </p:txBody>
      </p:sp>
      <p:sp>
        <p:nvSpPr>
          <p:cNvPr id="1544894454" name="Text 2"/>
          <p:cNvSpPr txBox="1"/>
          <p:nvPr/>
        </p:nvSpPr>
        <p:spPr bwMode="auto">
          <a:xfrm>
            <a:off x="4053174" y="736092"/>
            <a:ext cx="11002975" cy="384048"/>
          </a:xfrm>
          <a:prstGeom prst="rect">
            <a:avLst/>
          </a:prstGeom>
          <a:noFill/>
          <a:ln/>
        </p:spPr>
        <p:txBody>
          <a:bodyPr wrap="square" lIns="0" tIns="0" rIns="0" bIns="0" rtlCol="0" anchor="ctr"/>
          <a:lstStyle/>
          <a:p>
            <a:pPr marL="0" indent="0" algn="l">
              <a:buNone/>
              <a:defRPr/>
            </a:pPr>
            <a:r>
              <a:rPr lang="en-US" sz="1400" i="1">
                <a:solidFill>
                  <a:srgbClr val="FFFFFF"/>
                </a:solidFill>
                <a:latin typeface="Times New Roman"/>
                <a:ea typeface="Times New Roman"/>
                <a:cs typeface="Times New Roman"/>
              </a:rPr>
              <a:t>RGB → Single-Channel Luminance Representation</a:t>
            </a:r>
            <a:endParaRPr lang="en-US" sz="1400"/>
          </a:p>
        </p:txBody>
      </p:sp>
      <p:sp>
        <p:nvSpPr>
          <p:cNvPr id="2022780240" name="Text 6"/>
          <p:cNvSpPr txBox="1"/>
          <p:nvPr/>
        </p:nvSpPr>
        <p:spPr bwMode="auto">
          <a:xfrm>
            <a:off x="15147589" y="242316"/>
            <a:ext cx="274320" cy="274320"/>
          </a:xfrm>
          <a:prstGeom prst="rect">
            <a:avLst/>
          </a:prstGeom>
          <a:noFill/>
          <a:ln/>
        </p:spPr>
        <p:txBody>
          <a:bodyPr wrap="square" lIns="0" tIns="0" rIns="0" bIns="0" rtlCol="0" anchor="ctr"/>
          <a:lstStyle/>
          <a:p>
            <a:pPr marL="0" indent="0" algn="r">
              <a:buNone/>
              <a:defRPr/>
            </a:pPr>
            <a:r>
              <a:rPr lang="en-US" sz="1100">
                <a:solidFill>
                  <a:srgbClr val="FFFFFF"/>
                </a:solidFill>
                <a:latin typeface="Times New Roman"/>
                <a:ea typeface="Times New Roman"/>
                <a:cs typeface="Times New Roman"/>
              </a:rPr>
              <a:t>4</a:t>
            </a:r>
            <a:endParaRPr lang="en-US" sz="1100"/>
          </a:p>
        </p:txBody>
      </p:sp>
      <p:pic>
        <p:nvPicPr>
          <p:cNvPr id="1941565618" name="Image 0" descr="/home/claude/pptx_work/reuse_images/rgb.png"/>
          <p:cNvPicPr>
            <a:picLocks noChangeAspect="1"/>
          </p:cNvPicPr>
          <p:nvPr/>
        </p:nvPicPr>
        <p:blipFill rotWithShape="1">
          <a:blip r:embed="rId3"/>
          <a:stretch/>
        </p:blipFill>
        <p:spPr bwMode="auto">
          <a:xfrm>
            <a:off x="304910" y="1431102"/>
            <a:ext cx="3809889" cy="3428900"/>
          </a:xfrm>
          <a:prstGeom prst="rect">
            <a:avLst/>
          </a:prstGeom>
        </p:spPr>
      </p:pic>
      <p:sp>
        <p:nvSpPr>
          <p:cNvPr id="1681357234" name="Text 7"/>
          <p:cNvSpPr txBox="1"/>
          <p:nvPr/>
        </p:nvSpPr>
        <p:spPr bwMode="auto">
          <a:xfrm>
            <a:off x="822960" y="4869180"/>
            <a:ext cx="3291840" cy="320040"/>
          </a:xfrm>
          <a:prstGeom prst="rect">
            <a:avLst/>
          </a:prstGeom>
          <a:noFill/>
          <a:ln/>
        </p:spPr>
        <p:txBody>
          <a:bodyPr wrap="square" lIns="0" tIns="0" rIns="0" bIns="0" rtlCol="0" anchor="ctr"/>
          <a:lstStyle/>
          <a:p>
            <a:pPr marL="0" indent="0" algn="ctr">
              <a:buNone/>
              <a:defRPr/>
            </a:pPr>
            <a:r>
              <a:rPr lang="en-US" sz="2000" b="1" dirty="0">
                <a:solidFill>
                  <a:srgbClr val="595959"/>
                </a:solidFill>
                <a:latin typeface="Times New Roman"/>
                <a:ea typeface="Times New Roman"/>
                <a:cs typeface="Times New Roman"/>
              </a:rPr>
              <a:t>RGB Image</a:t>
            </a:r>
            <a:endParaRPr lang="en-US" sz="2000" b="1" dirty="0"/>
          </a:p>
        </p:txBody>
      </p:sp>
      <p:sp>
        <p:nvSpPr>
          <p:cNvPr id="1889696392" name="Text 8"/>
          <p:cNvSpPr txBox="1"/>
          <p:nvPr/>
        </p:nvSpPr>
        <p:spPr bwMode="auto">
          <a:xfrm>
            <a:off x="3713345" y="2236347"/>
            <a:ext cx="4860202" cy="1325797"/>
          </a:xfrm>
          <a:prstGeom prst="rect">
            <a:avLst/>
          </a:prstGeom>
          <a:noFill/>
          <a:ln/>
        </p:spPr>
        <p:txBody>
          <a:bodyPr wrap="square" lIns="0" tIns="0" rIns="0" bIns="0" rtlCol="0" anchor="ctr"/>
          <a:lstStyle/>
          <a:p>
            <a:pPr marL="0" indent="0" algn="ctr">
              <a:buNone/>
              <a:defRPr/>
            </a:pPr>
            <a:r>
              <a:rPr lang="en-US" sz="25000" dirty="0">
                <a:solidFill>
                  <a:srgbClr val="1F497D"/>
                </a:solidFill>
                <a:latin typeface="Times New Roman"/>
                <a:ea typeface="Times New Roman"/>
                <a:cs typeface="Times New Roman"/>
              </a:rPr>
              <a:t>→</a:t>
            </a:r>
            <a:endParaRPr lang="en-US" sz="25000" dirty="0"/>
          </a:p>
        </p:txBody>
      </p:sp>
      <p:pic>
        <p:nvPicPr>
          <p:cNvPr id="480920405" name="Image 1" descr="/home/claude/pptx_work/reuse_images/grayscale.png"/>
          <p:cNvPicPr>
            <a:picLocks noChangeAspect="1"/>
          </p:cNvPicPr>
          <p:nvPr/>
        </p:nvPicPr>
        <p:blipFill rotWithShape="1">
          <a:blip r:embed="rId4"/>
          <a:stretch/>
        </p:blipFill>
        <p:spPr bwMode="auto">
          <a:xfrm>
            <a:off x="8366759" y="1439470"/>
            <a:ext cx="3504894" cy="3383990"/>
          </a:xfrm>
          <a:prstGeom prst="rect">
            <a:avLst/>
          </a:prstGeom>
        </p:spPr>
      </p:pic>
      <p:sp>
        <p:nvSpPr>
          <p:cNvPr id="1411542993" name="Text 9"/>
          <p:cNvSpPr txBox="1"/>
          <p:nvPr/>
        </p:nvSpPr>
        <p:spPr bwMode="auto">
          <a:xfrm>
            <a:off x="8442654" y="4920389"/>
            <a:ext cx="3291840" cy="320040"/>
          </a:xfrm>
          <a:prstGeom prst="rect">
            <a:avLst/>
          </a:prstGeom>
          <a:noFill/>
          <a:ln/>
        </p:spPr>
        <p:txBody>
          <a:bodyPr wrap="square" lIns="0" tIns="0" rIns="0" bIns="0" rtlCol="0" anchor="ctr"/>
          <a:lstStyle/>
          <a:p>
            <a:pPr marL="0" indent="0" algn="ctr">
              <a:buNone/>
              <a:defRPr/>
            </a:pPr>
            <a:r>
              <a:rPr lang="en-US" sz="2000" b="1" dirty="0">
                <a:solidFill>
                  <a:srgbClr val="595959"/>
                </a:solidFill>
                <a:latin typeface="Times New Roman"/>
                <a:ea typeface="Times New Roman"/>
                <a:cs typeface="Times New Roman"/>
              </a:rPr>
              <a:t>Grayscale Image</a:t>
            </a:r>
            <a:endParaRPr lang="en-US" sz="2000" b="1" dirty="0"/>
          </a:p>
        </p:txBody>
      </p:sp>
      <p:sp>
        <p:nvSpPr>
          <p:cNvPr id="414949110" name="Shape 10"/>
          <p:cNvSpPr/>
          <p:nvPr/>
        </p:nvSpPr>
        <p:spPr bwMode="auto">
          <a:xfrm>
            <a:off x="4251959" y="1758763"/>
            <a:ext cx="3991469" cy="737910"/>
          </a:xfrm>
          <a:prstGeom prst="rect">
            <a:avLst/>
          </a:prstGeom>
          <a:solidFill>
            <a:srgbClr val="F2F2F2"/>
          </a:solidFill>
          <a:ln w="12700">
            <a:solidFill>
              <a:srgbClr val="1F497D"/>
            </a:solidFill>
            <a:prstDash val="solid"/>
          </a:ln>
        </p:spPr>
        <p:txBody>
          <a:bodyPr anchor="ctr"/>
          <a:lstStyle/>
          <a:p>
            <a:pPr algn="ctr">
              <a:defRPr/>
            </a:pPr>
            <a:endParaRPr/>
          </a:p>
        </p:txBody>
      </p:sp>
      <p:sp>
        <p:nvSpPr>
          <p:cNvPr id="1909040249" name="Text 11"/>
          <p:cNvSpPr txBox="1"/>
          <p:nvPr/>
        </p:nvSpPr>
        <p:spPr bwMode="auto">
          <a:xfrm>
            <a:off x="4251959" y="1758763"/>
            <a:ext cx="3991469" cy="737910"/>
          </a:xfrm>
          <a:prstGeom prst="rect">
            <a:avLst/>
          </a:prstGeom>
          <a:noFill/>
          <a:ln/>
        </p:spPr>
        <p:txBody>
          <a:bodyPr wrap="square" lIns="50799" tIns="50799" rIns="50799" bIns="50799" rtlCol="0" anchor="ctr"/>
          <a:lstStyle/>
          <a:p>
            <a:pPr marL="0" indent="0">
              <a:buNone/>
              <a:defRPr/>
            </a:pPr>
            <a:r>
              <a:rPr lang="en-US" sz="2100" i="1" dirty="0">
                <a:solidFill>
                  <a:srgbClr val="1A1A1A"/>
                </a:solidFill>
                <a:latin typeface="Times New Roman"/>
                <a:ea typeface="Times New Roman"/>
                <a:cs typeface="Times New Roman"/>
              </a:rPr>
              <a:t>Y = 0.299R + 0.587G + 0.114B   </a:t>
            </a:r>
            <a:r>
              <a:rPr lang="en-US" sz="1300" dirty="0">
                <a:solidFill>
                  <a:srgbClr val="1A1A1A"/>
                </a:solidFill>
                <a:latin typeface="Times New Roman"/>
                <a:ea typeface="Times New Roman"/>
                <a:cs typeface="Times New Roman"/>
              </a:rPr>
              <a:t>[2]</a:t>
            </a:r>
            <a:endParaRPr lang="en-US" sz="1300" dirty="0"/>
          </a:p>
        </p:txBody>
      </p:sp>
      <p:sp>
        <p:nvSpPr>
          <p:cNvPr id="761218617" name="Text 12"/>
          <p:cNvSpPr txBox="1"/>
          <p:nvPr/>
        </p:nvSpPr>
        <p:spPr bwMode="auto">
          <a:xfrm>
            <a:off x="4251959" y="3926839"/>
            <a:ext cx="4045056" cy="603946"/>
          </a:xfrm>
          <a:prstGeom prst="rect">
            <a:avLst/>
          </a:prstGeom>
          <a:noFill/>
          <a:ln/>
        </p:spPr>
        <p:txBody>
          <a:bodyPr wrap="square" lIns="0" tIns="0" rIns="0" bIns="0" rtlCol="0" anchor="t"/>
          <a:lstStyle/>
          <a:p>
            <a:pPr>
              <a:defRPr/>
            </a:pPr>
            <a:r>
              <a:rPr sz="1700" b="0" i="0" u="none" dirty="0">
                <a:solidFill>
                  <a:srgbClr val="000000"/>
                </a:solidFill>
                <a:latin typeface="Times New Roman"/>
                <a:ea typeface="Times New Roman"/>
                <a:cs typeface="Times New Roman"/>
              </a:rPr>
              <a:t>Applies ITU-R BT.601 Weighted Coefficients</a:t>
            </a:r>
          </a:p>
          <a:p>
            <a:pPr>
              <a:defRPr/>
            </a:pPr>
            <a:r>
              <a:rPr sz="1700" b="0" i="0" u="none" dirty="0">
                <a:solidFill>
                  <a:srgbClr val="000000"/>
                </a:solidFill>
                <a:latin typeface="Times New Roman"/>
                <a:ea typeface="Times New Roman"/>
                <a:cs typeface="Times New Roman"/>
              </a:rPr>
              <a:t>to Compute Structural Luminance.</a:t>
            </a:r>
            <a:endParaRPr sz="1700" dirty="0"/>
          </a:p>
        </p:txBody>
      </p:sp>
      <p:sp>
        <p:nvSpPr>
          <p:cNvPr id="1583407804" name="Text 13"/>
          <p:cNvSpPr txBox="1"/>
          <p:nvPr/>
        </p:nvSpPr>
        <p:spPr bwMode="auto">
          <a:xfrm>
            <a:off x="261773" y="6147893"/>
            <a:ext cx="11763346" cy="243761"/>
          </a:xfrm>
          <a:prstGeom prst="rect">
            <a:avLst/>
          </a:prstGeom>
          <a:noFill/>
          <a:ln/>
        </p:spPr>
        <p:txBody>
          <a:bodyPr wrap="square" lIns="0" tIns="0" rIns="0" bIns="0" rtlCol="0" anchor="ctr"/>
          <a:lstStyle/>
          <a:p>
            <a:pPr marL="0" indent="0" algn="l">
              <a:buNone/>
              <a:defRPr/>
            </a:pPr>
            <a:r>
              <a:rPr lang="en-US" sz="1600" dirty="0">
                <a:solidFill>
                  <a:schemeClr val="tx1">
                    <a:lumMod val="90000"/>
                    <a:lumOff val="5000"/>
                  </a:schemeClr>
                </a:solidFill>
                <a:latin typeface="Times New Roman"/>
                <a:ea typeface="Times New Roman"/>
                <a:cs typeface="Times New Roman"/>
              </a:rPr>
              <a:t>[2] ITU-R BT.601-7, "Studio Encoding Parameters of Digital Television," 2011</a:t>
            </a:r>
            <a:endParaRPr sz="1600" dirty="0">
              <a:solidFill>
                <a:schemeClr val="tx1">
                  <a:lumMod val="90000"/>
                  <a:lumOff val="5000"/>
                </a:schemeClr>
              </a:solidFill>
            </a:endParaRPr>
          </a:p>
        </p:txBody>
      </p:sp>
      <p:sp>
        <p:nvSpPr>
          <p:cNvPr id="455080344" name=" 455080343"/>
          <p:cNvSpPr/>
          <p:nvPr/>
        </p:nvSpPr>
        <p:spPr bwMode="auto">
          <a:xfrm>
            <a:off x="304910" y="5286149"/>
            <a:ext cx="11566743" cy="466344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sz="2250" b="1" i="0" u="none" dirty="0">
                <a:solidFill>
                  <a:schemeClr val="accent5">
                    <a:lumMod val="75000"/>
                  </a:schemeClr>
                </a:solidFill>
                <a:latin typeface="Times New Roman"/>
                <a:ea typeface="Times New Roman"/>
                <a:cs typeface="Times New Roman"/>
              </a:rPr>
              <a:t>Reduces 3-channel RGB to a 1-channel spatial intensity map.</a:t>
            </a:r>
            <a:endParaRPr sz="2250" b="1" dirty="0">
              <a:solidFill>
                <a:schemeClr val="accent5">
                  <a:lumMod val="75000"/>
                </a:schemeClr>
              </a:solidFill>
            </a:endParaRPr>
          </a:p>
          <a:p>
            <a:pPr algn="ctr">
              <a:defRPr/>
            </a:pPr>
            <a:r>
              <a:rPr sz="2250" b="1" i="0" u="none" dirty="0">
                <a:solidFill>
                  <a:schemeClr val="accent5">
                    <a:lumMod val="75000"/>
                  </a:schemeClr>
                </a:solidFill>
                <a:latin typeface="Times New Roman"/>
                <a:ea typeface="Times New Roman"/>
                <a:cs typeface="Times New Roman"/>
              </a:rPr>
              <a:t>Eliminates color variance while preserving architectural geometry for </a:t>
            </a:r>
            <a:r>
              <a:rPr lang="en-US" sz="2250" b="1" i="0" u="none" dirty="0">
                <a:solidFill>
                  <a:schemeClr val="accent5">
                    <a:lumMod val="75000"/>
                  </a:schemeClr>
                </a:solidFill>
                <a:latin typeface="Times New Roman"/>
                <a:ea typeface="Times New Roman"/>
                <a:cs typeface="Times New Roman"/>
              </a:rPr>
              <a:t>G</a:t>
            </a:r>
            <a:r>
              <a:rPr sz="2250" b="1" i="0" u="none" dirty="0">
                <a:solidFill>
                  <a:schemeClr val="accent5">
                    <a:lumMod val="75000"/>
                  </a:schemeClr>
                </a:solidFill>
                <a:latin typeface="Times New Roman"/>
                <a:ea typeface="Times New Roman"/>
                <a:cs typeface="Times New Roman"/>
              </a:rPr>
              <a:t>radient </a:t>
            </a:r>
            <a:r>
              <a:rPr lang="en-US" sz="2250" b="1" dirty="0">
                <a:solidFill>
                  <a:schemeClr val="accent5">
                    <a:lumMod val="75000"/>
                  </a:schemeClr>
                </a:solidFill>
                <a:latin typeface="Times New Roman"/>
                <a:ea typeface="Times New Roman"/>
                <a:cs typeface="Times New Roman"/>
              </a:rPr>
              <a:t>A</a:t>
            </a:r>
            <a:r>
              <a:rPr sz="2250" b="1" i="0" u="none" dirty="0">
                <a:solidFill>
                  <a:schemeClr val="accent5">
                    <a:lumMod val="75000"/>
                  </a:schemeClr>
                </a:solidFill>
                <a:latin typeface="Times New Roman"/>
                <a:ea typeface="Times New Roman"/>
                <a:cs typeface="Times New Roman"/>
              </a:rPr>
              <a:t>nalysis.</a:t>
            </a:r>
            <a:endParaRPr sz="2600" b="1" dirty="0">
              <a:solidFill>
                <a:schemeClr val="accent5">
                  <a:lumMod val="75000"/>
                </a:schemeClr>
              </a:solidFill>
            </a:endParaRPr>
          </a:p>
        </p:txBody>
      </p:sp>
      <p:sp>
        <p:nvSpPr>
          <p:cNvPr id="2022780241" name="Rectangle 2022780240"/>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2780242" name="TextBox 2022780241"/>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2022780243" name="TextBox 2022780242"/>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2022780244" name="TextBox 2022780243"/>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2206104</a:t>
            </a:r>
          </a:p>
        </p:txBody>
      </p:sp>
      <p:sp>
        <p:nvSpPr>
          <p:cNvPr id="2022780245" name="TextBox 2022780244"/>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762E024D-FE64-4123-B45F-0403B8B15C38}"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5">
    <p:bg>
      <p:bgPr>
        <a:solidFill>
          <a:srgbClr val="FFFFFF"/>
        </a:solidFill>
        <a:effectLst/>
      </p:bgPr>
    </p:bg>
    <p:spTree>
      <p:nvGrpSpPr>
        <p:cNvPr id="1" name=""/>
        <p:cNvGrpSpPr/>
        <p:nvPr/>
      </p:nvGrpSpPr>
      <p:grpSpPr bwMode="auto">
        <a:xfrm>
          <a:off x="0" y="0"/>
          <a:ext cx="0" cy="0"/>
          <a:chOff x="0" y="0"/>
          <a:chExt cx="0" cy="0"/>
        </a:xfrm>
      </p:grpSpPr>
      <p:sp>
        <p:nvSpPr>
          <p:cNvPr id="909278332" name="Shape 10"/>
          <p:cNvSpPr/>
          <p:nvPr/>
        </p:nvSpPr>
        <p:spPr bwMode="auto">
          <a:xfrm>
            <a:off x="7880533" y="3040743"/>
            <a:ext cx="4072864" cy="3310584"/>
          </a:xfrm>
          <a:prstGeom prst="rect">
            <a:avLst/>
          </a:prstGeom>
          <a:solidFill>
            <a:srgbClr val="F2F2F2"/>
          </a:solidFill>
          <a:ln w="12700">
            <a:solidFill>
              <a:srgbClr val="1F497D"/>
            </a:solidFill>
            <a:prstDash val="solid"/>
          </a:ln>
        </p:spPr>
        <p:txBody>
          <a:bodyPr/>
          <a:lstStyle/>
          <a:p>
            <a:pPr lvl="0"/>
            <a:r>
              <a:rPr lang="en-US" sz="2400" b="1" dirty="0">
                <a:solidFill>
                  <a:srgbClr val="002060"/>
                </a:solidFill>
                <a:latin typeface="Times New Roman" panose="02020603050405020304" pitchFamily="18" charset="0"/>
                <a:cs typeface="Times New Roman" panose="02020603050405020304" pitchFamily="18" charset="0"/>
              </a:rPr>
              <a:t>Gaussian Smoothing:</a:t>
            </a:r>
            <a:r>
              <a:rPr lang="en-US" sz="2400" dirty="0">
                <a:solidFill>
                  <a:srgbClr val="00206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Applies a 2-D Low-Pass </a:t>
            </a:r>
            <a:r>
              <a:rPr lang="en-US" sz="2400" dirty="0">
                <a:solidFill>
                  <a:srgbClr val="FF0000"/>
                </a:solidFill>
                <a:latin typeface="Times New Roman" panose="02020603050405020304" pitchFamily="18" charset="0"/>
                <a:cs typeface="Times New Roman" panose="02020603050405020304" pitchFamily="18" charset="0"/>
              </a:rPr>
              <a:t>Convolution</a:t>
            </a:r>
            <a:r>
              <a:rPr lang="en-US" sz="2400" dirty="0">
                <a:latin typeface="Times New Roman" panose="02020603050405020304" pitchFamily="18" charset="0"/>
                <a:cs typeface="Times New Roman" panose="02020603050405020304" pitchFamily="18" charset="0"/>
              </a:rPr>
              <a:t> to strip away High-Frequency Spatial Noise.</a:t>
            </a:r>
          </a:p>
          <a:p>
            <a:pPr lvl="0"/>
            <a:r>
              <a:rPr lang="en-US" sz="2400" b="1" dirty="0">
                <a:solidFill>
                  <a:srgbClr val="002060"/>
                </a:solidFill>
                <a:latin typeface="Times New Roman" panose="02020603050405020304" pitchFamily="18" charset="0"/>
                <a:cs typeface="Times New Roman" panose="02020603050405020304" pitchFamily="18" charset="0"/>
              </a:rPr>
              <a:t>Artifact Suppression:</a:t>
            </a:r>
            <a:r>
              <a:rPr lang="en-US" sz="2400" dirty="0">
                <a:solidFill>
                  <a:srgbClr val="00206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Ensures downstream Gradient Operators lock onto true structural boundaries rather than spurious pixel variations.</a:t>
            </a:r>
          </a:p>
        </p:txBody>
      </p:sp>
      <p:sp>
        <p:nvSpPr>
          <p:cNvPr id="1896667469" name="Shape 0"/>
          <p:cNvSpPr/>
          <p:nvPr/>
        </p:nvSpPr>
        <p:spPr bwMode="auto">
          <a:xfrm>
            <a:off x="3713558" y="228600"/>
            <a:ext cx="4166975" cy="960120"/>
          </a:xfrm>
          <a:prstGeom prst="roundRect">
            <a:avLst>
              <a:gd name="adj" fmla="val 7619"/>
            </a:avLst>
          </a:prstGeom>
          <a:solidFill>
            <a:srgbClr val="C00000"/>
          </a:solidFill>
          <a:ln/>
        </p:spPr>
        <p:txBody>
          <a:bodyPr/>
          <a:lstStyle/>
          <a:p>
            <a:endParaRPr lang="en-US"/>
          </a:p>
        </p:txBody>
      </p:sp>
      <p:sp>
        <p:nvSpPr>
          <p:cNvPr id="245438713" name="Text 1"/>
          <p:cNvSpPr txBox="1"/>
          <p:nvPr/>
        </p:nvSpPr>
        <p:spPr bwMode="auto">
          <a:xfrm>
            <a:off x="3987879" y="301752"/>
            <a:ext cx="4507940" cy="457200"/>
          </a:xfrm>
          <a:prstGeom prst="rect">
            <a:avLst/>
          </a:prstGeom>
          <a:noFill/>
          <a:ln/>
        </p:spPr>
        <p:txBody>
          <a:bodyPr wrap="square" lIns="0" tIns="0" rIns="0" bIns="0" rtlCol="0" anchor="ctr"/>
          <a:lstStyle/>
          <a:p>
            <a:pPr marL="0" indent="0" algn="l">
              <a:buNone/>
              <a:defRPr/>
            </a:pPr>
            <a:r>
              <a:rPr lang="en-US" sz="2400" b="1" dirty="0">
                <a:solidFill>
                  <a:srgbClr val="FFFFFF"/>
                </a:solidFill>
                <a:latin typeface="Cambria"/>
                <a:ea typeface="Cambria"/>
                <a:cs typeface="Cambria"/>
              </a:rPr>
              <a:t> Gaussian Filtering</a:t>
            </a:r>
            <a:endParaRPr lang="en-US" sz="2400" dirty="0"/>
          </a:p>
        </p:txBody>
      </p:sp>
      <p:sp>
        <p:nvSpPr>
          <p:cNvPr id="762093809" name="Text 2"/>
          <p:cNvSpPr txBox="1"/>
          <p:nvPr/>
        </p:nvSpPr>
        <p:spPr bwMode="auto">
          <a:xfrm>
            <a:off x="3987878" y="722376"/>
            <a:ext cx="11002975" cy="384048"/>
          </a:xfrm>
          <a:prstGeom prst="rect">
            <a:avLst/>
          </a:prstGeom>
          <a:noFill/>
          <a:ln/>
        </p:spPr>
        <p:txBody>
          <a:bodyPr wrap="square" lIns="0" tIns="0" rIns="0" bIns="0" rtlCol="0" anchor="ctr"/>
          <a:lstStyle/>
          <a:p>
            <a:pPr marL="0" indent="0" algn="l">
              <a:buNone/>
              <a:defRPr/>
            </a:pPr>
            <a:r>
              <a:rPr lang="en-US" sz="1400" i="1">
                <a:solidFill>
                  <a:srgbClr val="FFFFFF"/>
                </a:solidFill>
                <a:latin typeface="Times New Roman"/>
                <a:ea typeface="Times New Roman"/>
                <a:cs typeface="Times New Roman"/>
              </a:rPr>
              <a:t>Smoothing Before Gradient-Based Edge Detection</a:t>
            </a:r>
            <a:endParaRPr lang="en-US" sz="1400"/>
          </a:p>
        </p:txBody>
      </p:sp>
      <p:sp>
        <p:nvSpPr>
          <p:cNvPr id="164004106" name="Text 6"/>
          <p:cNvSpPr txBox="1"/>
          <p:nvPr/>
        </p:nvSpPr>
        <p:spPr bwMode="auto">
          <a:xfrm>
            <a:off x="15082293" y="228600"/>
            <a:ext cx="274320" cy="274320"/>
          </a:xfrm>
          <a:prstGeom prst="rect">
            <a:avLst/>
          </a:prstGeom>
          <a:noFill/>
          <a:ln/>
        </p:spPr>
        <p:txBody>
          <a:bodyPr wrap="square" lIns="0" tIns="0" rIns="0" bIns="0" rtlCol="0" anchor="ctr"/>
          <a:lstStyle/>
          <a:p>
            <a:pPr marL="0" indent="0" algn="r">
              <a:buNone/>
              <a:defRPr/>
            </a:pPr>
            <a:r>
              <a:rPr lang="en-US" sz="1100">
                <a:solidFill>
                  <a:srgbClr val="FFFFFF"/>
                </a:solidFill>
                <a:latin typeface="Times New Roman"/>
                <a:ea typeface="Times New Roman"/>
                <a:cs typeface="Times New Roman"/>
              </a:rPr>
              <a:t>5</a:t>
            </a:r>
            <a:endParaRPr lang="en-US" sz="1100"/>
          </a:p>
        </p:txBody>
      </p:sp>
      <p:pic>
        <p:nvPicPr>
          <p:cNvPr id="1544121732" name="Image 0" descr="/home/claude/pptx_work/reuse_images/grayscale.png"/>
          <p:cNvPicPr>
            <a:picLocks noChangeAspect="1"/>
          </p:cNvPicPr>
          <p:nvPr/>
        </p:nvPicPr>
        <p:blipFill rotWithShape="1">
          <a:blip r:embed="rId3"/>
          <a:stretch/>
        </p:blipFill>
        <p:spPr bwMode="auto">
          <a:xfrm>
            <a:off x="334233" y="1371600"/>
            <a:ext cx="3474720" cy="3474720"/>
          </a:xfrm>
          <a:prstGeom prst="rect">
            <a:avLst/>
          </a:prstGeom>
        </p:spPr>
      </p:pic>
      <p:sp>
        <p:nvSpPr>
          <p:cNvPr id="603613169" name="Text 7"/>
          <p:cNvSpPr txBox="1"/>
          <p:nvPr/>
        </p:nvSpPr>
        <p:spPr bwMode="auto">
          <a:xfrm>
            <a:off x="517113" y="4991738"/>
            <a:ext cx="3108960" cy="320040"/>
          </a:xfrm>
          <a:prstGeom prst="rect">
            <a:avLst/>
          </a:prstGeom>
          <a:noFill/>
          <a:ln/>
        </p:spPr>
        <p:txBody>
          <a:bodyPr wrap="square" lIns="0" tIns="0" rIns="0" bIns="0" rtlCol="0" anchor="ctr"/>
          <a:lstStyle/>
          <a:p>
            <a:pPr marL="0" indent="0" algn="ctr">
              <a:buNone/>
              <a:defRPr/>
            </a:pPr>
            <a:r>
              <a:rPr lang="en-US" sz="2400" b="1" dirty="0">
                <a:solidFill>
                  <a:schemeClr val="tx1">
                    <a:lumMod val="90000"/>
                    <a:lumOff val="5000"/>
                  </a:schemeClr>
                </a:solidFill>
                <a:latin typeface="Times New Roman"/>
                <a:ea typeface="Times New Roman"/>
                <a:cs typeface="Times New Roman"/>
              </a:rPr>
              <a:t>Grayscale Image</a:t>
            </a:r>
            <a:endParaRPr sz="2400" b="1" dirty="0">
              <a:solidFill>
                <a:schemeClr val="tx1">
                  <a:lumMod val="90000"/>
                  <a:lumOff val="5000"/>
                </a:schemeClr>
              </a:solidFill>
            </a:endParaRPr>
          </a:p>
        </p:txBody>
      </p:sp>
      <p:sp>
        <p:nvSpPr>
          <p:cNvPr id="1628068839" name="Text 8"/>
          <p:cNvSpPr txBox="1"/>
          <p:nvPr/>
        </p:nvSpPr>
        <p:spPr bwMode="auto">
          <a:xfrm>
            <a:off x="3816497" y="3063240"/>
            <a:ext cx="548640" cy="457200"/>
          </a:xfrm>
          <a:prstGeom prst="rect">
            <a:avLst/>
          </a:prstGeom>
          <a:noFill/>
          <a:ln/>
        </p:spPr>
        <p:txBody>
          <a:bodyPr wrap="square" lIns="0" tIns="0" rIns="0" bIns="0" rtlCol="0" anchor="ctr"/>
          <a:lstStyle/>
          <a:p>
            <a:pPr marL="0" indent="0" algn="ctr">
              <a:buNone/>
              <a:defRPr/>
            </a:pPr>
            <a:r>
              <a:rPr lang="en-US" sz="3600" b="1">
                <a:solidFill>
                  <a:srgbClr val="1F497D"/>
                </a:solidFill>
                <a:latin typeface="Times New Roman"/>
                <a:ea typeface="Times New Roman"/>
                <a:cs typeface="Times New Roman"/>
              </a:rPr>
              <a:t>→</a:t>
            </a:r>
            <a:endParaRPr lang="en-US" sz="3600"/>
          </a:p>
        </p:txBody>
      </p:sp>
      <p:pic>
        <p:nvPicPr>
          <p:cNvPr id="567950339" name="Image 1" descr="/home/claude/pptx_work/reuse_images/gaussian.png"/>
          <p:cNvPicPr>
            <a:picLocks noChangeAspect="1"/>
          </p:cNvPicPr>
          <p:nvPr/>
        </p:nvPicPr>
        <p:blipFill rotWithShape="1">
          <a:blip r:embed="rId4"/>
          <a:stretch/>
        </p:blipFill>
        <p:spPr bwMode="auto">
          <a:xfrm>
            <a:off x="4380225" y="1384956"/>
            <a:ext cx="3408843" cy="3408843"/>
          </a:xfrm>
          <a:prstGeom prst="rect">
            <a:avLst/>
          </a:prstGeom>
        </p:spPr>
      </p:pic>
      <p:sp>
        <p:nvSpPr>
          <p:cNvPr id="1889783229" name="Text 9"/>
          <p:cNvSpPr txBox="1"/>
          <p:nvPr/>
        </p:nvSpPr>
        <p:spPr bwMode="auto">
          <a:xfrm>
            <a:off x="4187952" y="5012435"/>
            <a:ext cx="3748088" cy="320040"/>
          </a:xfrm>
          <a:prstGeom prst="rect">
            <a:avLst/>
          </a:prstGeom>
          <a:noFill/>
          <a:ln/>
        </p:spPr>
        <p:txBody>
          <a:bodyPr wrap="square" lIns="0" tIns="0" rIns="0" bIns="0" rtlCol="0" anchor="ctr"/>
          <a:lstStyle/>
          <a:p>
            <a:pPr marL="0" indent="0" algn="ctr">
              <a:buNone/>
              <a:defRPr/>
            </a:pPr>
            <a:r>
              <a:rPr lang="en-US" sz="2400" b="1" dirty="0">
                <a:solidFill>
                  <a:schemeClr val="tx1">
                    <a:lumMod val="90000"/>
                    <a:lumOff val="5000"/>
                  </a:schemeClr>
                </a:solidFill>
                <a:highlight>
                  <a:srgbClr val="FFFFFF"/>
                </a:highlight>
                <a:latin typeface="Times New Roman"/>
                <a:ea typeface="Times New Roman"/>
                <a:cs typeface="Times New Roman"/>
              </a:rPr>
              <a:t>Gaussian-Smoothed Image</a:t>
            </a:r>
            <a:endParaRPr sz="2400" b="1" dirty="0">
              <a:solidFill>
                <a:schemeClr val="tx1">
                  <a:lumMod val="90000"/>
                  <a:lumOff val="5000"/>
                </a:schemeClr>
              </a:solidFill>
              <a:highlight>
                <a:srgbClr val="FFFFFF"/>
              </a:highlight>
            </a:endParaRPr>
          </a:p>
        </p:txBody>
      </p:sp>
      <p:sp>
        <p:nvSpPr>
          <p:cNvPr id="692884394" name="Shape 10"/>
          <p:cNvSpPr/>
          <p:nvPr/>
        </p:nvSpPr>
        <p:spPr bwMode="auto">
          <a:xfrm>
            <a:off x="7880533" y="1350369"/>
            <a:ext cx="4072861" cy="932015"/>
          </a:xfrm>
          <a:prstGeom prst="rect">
            <a:avLst/>
          </a:prstGeom>
          <a:solidFill>
            <a:srgbClr val="F2F2F2"/>
          </a:solidFill>
          <a:ln w="12700">
            <a:solidFill>
              <a:srgbClr val="1F497D"/>
            </a:solidFill>
            <a:prstDash val="solid"/>
          </a:ln>
        </p:spPr>
        <p:txBody>
          <a:bodyPr/>
          <a:lstStyle/>
          <a:p>
            <a:endParaRPr lang="en-US"/>
          </a:p>
        </p:txBody>
      </p:sp>
      <mc:AlternateContent xmlns:mc="http://schemas.openxmlformats.org/markup-compatibility/2006" xmlns:a14="http://schemas.microsoft.com/office/drawing/2010/main">
        <mc:Choice Requires="a14">
          <p:sp>
            <p:nvSpPr>
              <p:cNvPr id="326865196" name="Text 11"/>
              <p:cNvSpPr txBox="1"/>
              <p:nvPr/>
            </p:nvSpPr>
            <p:spPr bwMode="auto">
              <a:xfrm>
                <a:off x="7936040" y="1444268"/>
                <a:ext cx="3935613" cy="750774"/>
              </a:xfrm>
              <a:prstGeom prst="rect">
                <a:avLst/>
              </a:prstGeom>
              <a:noFill/>
              <a:ln/>
            </p:spPr>
            <p:txBody>
              <a:bodyPr wrap="square" lIns="50799" tIns="50799" rIns="50799" bIns="50799" rtlCol="0" anchor="ctr"/>
              <a:lstStyle/>
              <a:p>
                <a:pPr>
                  <a:defRPr/>
                </a:pPr>
                <a:r>
                  <a:rPr lang="en-US" sz="2400" b="0" i="0" u="none" strike="noStrike" cap="none" spc="0" dirty="0">
                    <a:solidFill>
                      <a:schemeClr val="tx1"/>
                    </a:solidFill>
                    <a:latin typeface="Aparajita" panose="02020603050405020304" pitchFamily="18" charset="0"/>
                    <a:ea typeface="Cambria Math"/>
                    <a:cs typeface="Aparajita" panose="02020603050405020304" pitchFamily="18" charset="0"/>
                  </a:rPr>
                  <a:t>   G(x, y) = </a:t>
                </a:r>
                <a14:m>
                  <m:oMath xmlns:m="http://schemas.openxmlformats.org/officeDocument/2006/math">
                    <m:f>
                      <m:fPr>
                        <m:ctrlPr>
                          <a:rPr lang="en-US" sz="2400" b="0" i="1">
                            <a:latin typeface="Cambria Math" panose="02040503050406030204" pitchFamily="18" charset="0"/>
                            <a:ea typeface="Cambria Math"/>
                            <a:cs typeface="Cambria Math"/>
                          </a:rPr>
                        </m:ctrlPr>
                      </m:fPr>
                      <m:num>
                        <m:r>
                          <a:rPr lang="en-US" sz="2400" b="0" i="0">
                            <a:latin typeface="Cambria Math"/>
                            <a:ea typeface="Cambria Math"/>
                            <a:cs typeface="Cambria Math"/>
                          </a:rPr>
                          <m:t>1</m:t>
                        </m:r>
                      </m:num>
                      <m:den>
                        <m:sSup>
                          <m:sSupPr>
                            <m:ctrlPr>
                              <a:rPr lang="en-US" sz="2400" b="0" i="1">
                                <a:latin typeface="Cambria Math" panose="02040503050406030204" pitchFamily="18" charset="0"/>
                                <a:ea typeface="Cambria Math"/>
                                <a:cs typeface="Cambria Math"/>
                              </a:rPr>
                            </m:ctrlPr>
                          </m:sSupPr>
                          <m:e>
                            <m:r>
                              <a:rPr lang="en-US" sz="2400" b="0" i="0">
                                <a:latin typeface="Cambria Math"/>
                                <a:ea typeface="Cambria Math"/>
                                <a:cs typeface="Cambria Math"/>
                              </a:rPr>
                              <m:t>2</m:t>
                            </m:r>
                            <m:r>
                              <m:rPr>
                                <m:sty m:val="p"/>
                              </m:rPr>
                              <a:rPr lang="en-US" sz="2400" b="0" i="0">
                                <a:latin typeface="Cambria Math"/>
                                <a:ea typeface="Cambria Math"/>
                                <a:cs typeface="Cambria Math"/>
                              </a:rPr>
                              <m:t>πσ</m:t>
                            </m:r>
                          </m:e>
                          <m:sup>
                            <m:r>
                              <a:rPr lang="en-US" sz="2400" b="0" i="0">
                                <a:latin typeface="Cambria Math"/>
                                <a:ea typeface="Cambria Math"/>
                                <a:cs typeface="Cambria Math"/>
                              </a:rPr>
                              <m:t>2</m:t>
                            </m:r>
                          </m:sup>
                        </m:sSup>
                      </m:den>
                    </m:f>
                    <m:sSup>
                      <m:sSupPr>
                        <m:ctrlPr>
                          <a:rPr lang="en-US" sz="2400" b="0" i="1">
                            <a:latin typeface="Cambria Math" panose="02040503050406030204" pitchFamily="18" charset="0"/>
                            <a:ea typeface="Cambria Math"/>
                            <a:cs typeface="Cambria Math"/>
                          </a:rPr>
                        </m:ctrlPr>
                      </m:sSupPr>
                      <m:e>
                        <m:r>
                          <m:rPr>
                            <m:sty m:val="p"/>
                          </m:rPr>
                          <a:rPr lang="en-US" sz="2400" b="0" i="0">
                            <a:latin typeface="Cambria Math"/>
                            <a:ea typeface="Cambria Math"/>
                            <a:cs typeface="Cambria Math"/>
                          </a:rPr>
                          <m:t>e</m:t>
                        </m:r>
                      </m:e>
                      <m:sup>
                        <m:r>
                          <a:rPr lang="en-US" sz="2400" b="0" i="1">
                            <a:latin typeface="Cambria Math"/>
                            <a:ea typeface="Cambria Math"/>
                            <a:cs typeface="Cambria Math"/>
                          </a:rPr>
                          <m:t>−</m:t>
                        </m:r>
                        <m:f>
                          <m:fPr>
                            <m:ctrlPr>
                              <a:rPr lang="en-US" sz="2400" b="0" i="1">
                                <a:latin typeface="Cambria Math" panose="02040503050406030204" pitchFamily="18" charset="0"/>
                                <a:ea typeface="Cambria Math"/>
                                <a:cs typeface="Cambria Math"/>
                              </a:rPr>
                            </m:ctrlPr>
                          </m:fPr>
                          <m:num>
                            <m:sSup>
                              <m:sSupPr>
                                <m:ctrlPr>
                                  <a:rPr lang="en-US" sz="2400" b="0" i="1">
                                    <a:latin typeface="Cambria Math" panose="02040503050406030204" pitchFamily="18" charset="0"/>
                                    <a:ea typeface="Cambria Math"/>
                                    <a:cs typeface="Cambria Math"/>
                                  </a:rPr>
                                </m:ctrlPr>
                              </m:sSupPr>
                              <m:e>
                                <m:r>
                                  <m:rPr>
                                    <m:sty m:val="p"/>
                                  </m:rPr>
                                  <a:rPr lang="en-US" sz="2400" b="0" i="0">
                                    <a:latin typeface="Cambria Math"/>
                                    <a:ea typeface="Cambria Math"/>
                                    <a:cs typeface="Cambria Math"/>
                                  </a:rPr>
                                  <m:t>x</m:t>
                                </m:r>
                              </m:e>
                              <m:sup>
                                <m:r>
                                  <a:rPr lang="en-US" sz="2400" b="0" i="0">
                                    <a:latin typeface="Cambria Math"/>
                                    <a:ea typeface="Cambria Math"/>
                                    <a:cs typeface="Cambria Math"/>
                                  </a:rPr>
                                  <m:t>2</m:t>
                                </m:r>
                              </m:sup>
                            </m:sSup>
                            <m:sSup>
                              <m:sSupPr>
                                <m:ctrlPr>
                                  <a:rPr lang="en-US" sz="2400" b="0" i="1">
                                    <a:latin typeface="Cambria Math" panose="02040503050406030204" pitchFamily="18" charset="0"/>
                                    <a:ea typeface="Cambria Math"/>
                                    <a:cs typeface="Cambria Math"/>
                                  </a:rPr>
                                </m:ctrlPr>
                              </m:sSupPr>
                              <m:e>
                                <m:r>
                                  <a:rPr lang="en-US" sz="2400" b="0" i="0">
                                    <a:latin typeface="Cambria Math"/>
                                    <a:ea typeface="Cambria Math"/>
                                    <a:cs typeface="Cambria Math"/>
                                  </a:rPr>
                                  <m:t>+</m:t>
                                </m:r>
                                <m:r>
                                  <m:rPr>
                                    <m:sty m:val="p"/>
                                  </m:rPr>
                                  <a:rPr lang="en-US" sz="2400" b="0" i="0">
                                    <a:latin typeface="Cambria Math"/>
                                    <a:ea typeface="Cambria Math"/>
                                    <a:cs typeface="Cambria Math"/>
                                  </a:rPr>
                                  <m:t>y</m:t>
                                </m:r>
                              </m:e>
                              <m:sup>
                                <m:r>
                                  <a:rPr lang="en-US" sz="2400" b="0" i="0">
                                    <a:latin typeface="Cambria Math"/>
                                    <a:ea typeface="Cambria Math"/>
                                    <a:cs typeface="Cambria Math"/>
                                  </a:rPr>
                                  <m:t>2</m:t>
                                </m:r>
                              </m:sup>
                            </m:sSup>
                          </m:num>
                          <m:den>
                            <m:sSup>
                              <m:sSupPr>
                                <m:ctrlPr>
                                  <a:rPr lang="en-US" sz="2400" b="0" i="1">
                                    <a:latin typeface="Cambria Math" panose="02040503050406030204" pitchFamily="18" charset="0"/>
                                    <a:ea typeface="Cambria Math"/>
                                    <a:cs typeface="Cambria Math"/>
                                  </a:rPr>
                                </m:ctrlPr>
                              </m:sSupPr>
                              <m:e>
                                <m:r>
                                  <a:rPr lang="en-US" sz="2400" b="0" i="0">
                                    <a:latin typeface="Cambria Math"/>
                                    <a:ea typeface="Cambria Math"/>
                                    <a:cs typeface="Cambria Math"/>
                                  </a:rPr>
                                  <m:t>2</m:t>
                                </m:r>
                                <m:r>
                                  <m:rPr>
                                    <m:sty m:val="p"/>
                                  </m:rPr>
                                  <a:rPr lang="en-US" sz="2400" b="0" i="0">
                                    <a:latin typeface="Cambria Math"/>
                                    <a:ea typeface="Cambria Math"/>
                                    <a:cs typeface="Cambria Math"/>
                                  </a:rPr>
                                  <m:t>σ</m:t>
                                </m:r>
                              </m:e>
                              <m:sup>
                                <m:r>
                                  <a:rPr lang="en-US" sz="2400" b="0" i="0">
                                    <a:latin typeface="Cambria Math"/>
                                    <a:ea typeface="Cambria Math"/>
                                    <a:cs typeface="Cambria Math"/>
                                  </a:rPr>
                                  <m:t>2</m:t>
                                </m:r>
                              </m:sup>
                            </m:sSup>
                          </m:den>
                        </m:f>
                      </m:sup>
                    </m:sSup>
                  </m:oMath>
                </a14:m>
                <a:r>
                  <a:rPr lang="en-US" sz="5400" dirty="0">
                    <a:latin typeface="Aparajita" panose="02020603050405020304" pitchFamily="18" charset="0"/>
                    <a:cs typeface="Aparajita" panose="02020603050405020304" pitchFamily="18" charset="0"/>
                  </a:rPr>
                  <a:t>      </a:t>
                </a:r>
                <a:r>
                  <a:rPr lang="en-US" sz="1600" dirty="0">
                    <a:latin typeface="Cambria Math"/>
                    <a:cs typeface="Cambria Math"/>
                  </a:rPr>
                  <a:t>[4]</a:t>
                </a:r>
                <a:endParaRPr sz="5400" dirty="0">
                  <a:latin typeface="Cambria Math"/>
                  <a:cs typeface="Cambria Math"/>
                </a:endParaRPr>
              </a:p>
            </p:txBody>
          </p:sp>
        </mc:Choice>
        <mc:Fallback xmlns="">
          <p:sp>
            <p:nvSpPr>
              <p:cNvPr id="326865196" name="Text 11"/>
              <p:cNvSpPr txBox="1">
                <a:spLocks noRot="1" noChangeAspect="1" noMove="1" noResize="1" noEditPoints="1" noAdjustHandles="1" noChangeArrowheads="1" noChangeShapeType="1" noTextEdit="1"/>
              </p:cNvSpPr>
              <p:nvPr/>
            </p:nvSpPr>
            <p:spPr bwMode="auto">
              <a:xfrm>
                <a:off x="7936040" y="1444268"/>
                <a:ext cx="3935613" cy="750774"/>
              </a:xfrm>
              <a:prstGeom prst="rect">
                <a:avLst/>
              </a:prstGeom>
              <a:blipFill>
                <a:blip r:embed="rId5"/>
                <a:stretch>
                  <a:fillRect b="-6504"/>
                </a:stretch>
              </a:blipFill>
              <a:ln/>
            </p:spPr>
            <p:txBody>
              <a:bodyPr/>
              <a:lstStyle/>
              <a:p>
                <a:r>
                  <a:rPr lang="en-US">
                    <a:noFill/>
                  </a:rPr>
                  <a:t> </a:t>
                </a:r>
              </a:p>
            </p:txBody>
          </p:sp>
        </mc:Fallback>
      </mc:AlternateContent>
      <p:sp>
        <p:nvSpPr>
          <p:cNvPr id="866150952" name="Shape 12"/>
          <p:cNvSpPr/>
          <p:nvPr/>
        </p:nvSpPr>
        <p:spPr bwMode="auto">
          <a:xfrm>
            <a:off x="7880533" y="2358668"/>
            <a:ext cx="4072861" cy="502920"/>
          </a:xfrm>
          <a:prstGeom prst="rect">
            <a:avLst/>
          </a:prstGeom>
          <a:solidFill>
            <a:srgbClr val="F2F2F2"/>
          </a:solidFill>
          <a:ln w="12700">
            <a:solidFill>
              <a:srgbClr val="1F497D"/>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039451769" name="Text 13"/>
              <p:cNvSpPr txBox="1"/>
              <p:nvPr/>
            </p:nvSpPr>
            <p:spPr bwMode="auto">
              <a:xfrm>
                <a:off x="7959096" y="2282384"/>
                <a:ext cx="3935612" cy="502920"/>
              </a:xfrm>
              <a:prstGeom prst="rect">
                <a:avLst/>
              </a:prstGeom>
              <a:noFill/>
              <a:ln/>
            </p:spPr>
            <p:txBody>
              <a:bodyPr wrap="square" lIns="50799" tIns="50799" rIns="50799" bIns="50799" rtlCol="0" anchor="ctr"/>
              <a:lstStyle/>
              <a:p>
                <a:pPr>
                  <a:defRPr/>
                </a:pPr>
                <a:r>
                  <a:rPr lang="en-US" sz="2000" i="1" dirty="0">
                    <a:solidFill>
                      <a:srgbClr val="1A1A1A"/>
                    </a:solidFill>
                    <a:latin typeface="Times New Roman"/>
                    <a:ea typeface="Times New Roman"/>
                    <a:cs typeface="Times New Roman"/>
                  </a:rPr>
                  <a:t>  </a:t>
                </a:r>
                <a:r>
                  <a:rPr lang="en-US" sz="2250" dirty="0">
                    <a:solidFill>
                      <a:srgbClr val="1A1A1A"/>
                    </a:solidFill>
                    <a:latin typeface="Times New Roman"/>
                    <a:ea typeface="Times New Roman"/>
                    <a:cs typeface="Times New Roman"/>
                  </a:rPr>
                  <a:t>I</a:t>
                </a:r>
                <a:r>
                  <a:rPr lang="en-US" sz="1400" dirty="0">
                    <a:solidFill>
                      <a:srgbClr val="1A1A1A"/>
                    </a:solidFill>
                    <a:latin typeface="Times New Roman"/>
                    <a:ea typeface="Times New Roman"/>
                    <a:cs typeface="Times New Roman"/>
                  </a:rPr>
                  <a:t>G</a:t>
                </a:r>
                <a:r>
                  <a:rPr lang="en-US" sz="2250" dirty="0">
                    <a:solidFill>
                      <a:srgbClr val="1A1A1A"/>
                    </a:solidFill>
                    <a:latin typeface="Times New Roman"/>
                    <a:ea typeface="Times New Roman"/>
                    <a:cs typeface="Times New Roman"/>
                  </a:rPr>
                  <a:t>(x,y) = G(x,y) </a:t>
                </a:r>
                <a14:m>
                  <m:oMath xmlns:m="http://schemas.openxmlformats.org/officeDocument/2006/math">
                    <m:r>
                      <a:rPr lang="en-US" sz="3200" b="1">
                        <a:latin typeface="Cambria Math" panose="02040503050406030204" pitchFamily="18" charset="0"/>
                      </a:rPr>
                      <m:t>∗</m:t>
                    </m:r>
                  </m:oMath>
                </a14:m>
                <a:r>
                  <a:rPr lang="en-US" sz="3600" b="1" dirty="0">
                    <a:solidFill>
                      <a:srgbClr val="1A1A1A"/>
                    </a:solidFill>
                    <a:latin typeface="Times New Roman"/>
                    <a:ea typeface="Times New Roman"/>
                    <a:cs typeface="Times New Roman"/>
                  </a:rPr>
                  <a:t> </a:t>
                </a:r>
                <a:r>
                  <a:rPr lang="en-US" sz="2250" dirty="0">
                    <a:solidFill>
                      <a:srgbClr val="1A1A1A"/>
                    </a:solidFill>
                    <a:latin typeface="Times New Roman"/>
                    <a:ea typeface="Times New Roman"/>
                    <a:cs typeface="Times New Roman"/>
                  </a:rPr>
                  <a:t>I(x,y)       </a:t>
                </a:r>
                <a:r>
                  <a:rPr lang="en-US" sz="1600" i="1" dirty="0">
                    <a:solidFill>
                      <a:srgbClr val="1A1A1A"/>
                    </a:solidFill>
                    <a:latin typeface="Times New Roman"/>
                    <a:ea typeface="Times New Roman"/>
                    <a:cs typeface="Times New Roman"/>
                  </a:rPr>
                  <a:t>[3]</a:t>
                </a:r>
                <a:endParaRPr lang="en-US" sz="2000" dirty="0"/>
              </a:p>
            </p:txBody>
          </p:sp>
        </mc:Choice>
        <mc:Fallback xmlns="">
          <p:sp>
            <p:nvSpPr>
              <p:cNvPr id="1039451769" name="Text 13"/>
              <p:cNvSpPr txBox="1">
                <a:spLocks noRot="1" noChangeAspect="1" noMove="1" noResize="1" noEditPoints="1" noAdjustHandles="1" noChangeArrowheads="1" noChangeShapeType="1" noTextEdit="1"/>
              </p:cNvSpPr>
              <p:nvPr/>
            </p:nvSpPr>
            <p:spPr bwMode="auto">
              <a:xfrm>
                <a:off x="7959096" y="2282384"/>
                <a:ext cx="3935612" cy="502920"/>
              </a:xfrm>
              <a:prstGeom prst="rect">
                <a:avLst/>
              </a:prstGeom>
              <a:blipFill>
                <a:blip r:embed="rId6"/>
                <a:stretch>
                  <a:fillRect b="-30120"/>
                </a:stretch>
              </a:blipFill>
              <a:ln/>
            </p:spPr>
            <p:txBody>
              <a:bodyPr/>
              <a:lstStyle/>
              <a:p>
                <a:r>
                  <a:rPr lang="en-US">
                    <a:noFill/>
                  </a:rPr>
                  <a:t> </a:t>
                </a:r>
              </a:p>
            </p:txBody>
          </p:sp>
        </mc:Fallback>
      </mc:AlternateContent>
      <p:sp>
        <p:nvSpPr>
          <p:cNvPr id="1650226559" name="Text 15"/>
          <p:cNvSpPr txBox="1"/>
          <p:nvPr/>
        </p:nvSpPr>
        <p:spPr bwMode="auto">
          <a:xfrm>
            <a:off x="114656" y="6041556"/>
            <a:ext cx="11277295" cy="292608"/>
          </a:xfrm>
          <a:prstGeom prst="rect">
            <a:avLst/>
          </a:prstGeom>
          <a:noFill/>
          <a:ln/>
        </p:spPr>
        <p:txBody>
          <a:bodyPr wrap="square" lIns="0" tIns="0" rIns="0" bIns="0" rtlCol="0" anchor="ctr"/>
          <a:lstStyle/>
          <a:p>
            <a:pPr marL="0" indent="0" algn="l">
              <a:buNone/>
              <a:defRPr/>
            </a:pPr>
            <a:r>
              <a:rPr lang="en-US" sz="1400" b="1" i="1" dirty="0">
                <a:solidFill>
                  <a:schemeClr val="tx1">
                    <a:lumMod val="90000"/>
                    <a:lumOff val="5000"/>
                  </a:schemeClr>
                </a:solidFill>
                <a:latin typeface="Times New Roman"/>
                <a:ea typeface="Times New Roman"/>
                <a:cs typeface="Times New Roman"/>
              </a:rPr>
              <a:t>[3] J. Canny, "A Computational Approach to Edge Detection," IEEE TPAMI, PAMI-8(6), 679-698, 1986.   </a:t>
            </a:r>
          </a:p>
          <a:p>
            <a:pPr marL="0" indent="0" algn="l">
              <a:buNone/>
              <a:defRPr/>
            </a:pPr>
            <a:r>
              <a:rPr lang="en-US" sz="1400" b="1" i="1" dirty="0">
                <a:solidFill>
                  <a:schemeClr val="tx1">
                    <a:lumMod val="90000"/>
                    <a:lumOff val="5000"/>
                  </a:schemeClr>
                </a:solidFill>
                <a:latin typeface="Times New Roman"/>
                <a:ea typeface="Times New Roman"/>
                <a:cs typeface="Times New Roman"/>
              </a:rPr>
              <a:t>[4] D. Marr and E. Hildreth, "Theory of Edge Detection," Proc. R. Soc. B, 207(1167), 187-217, 1980.</a:t>
            </a:r>
            <a:endParaRPr sz="1000" b="1" dirty="0">
              <a:solidFill>
                <a:schemeClr val="tx1">
                  <a:lumMod val="90000"/>
                  <a:lumOff val="5000"/>
                </a:schemeClr>
              </a:solidFill>
            </a:endParaRPr>
          </a:p>
        </p:txBody>
      </p:sp>
      <p:sp>
        <p:nvSpPr>
          <p:cNvPr id="1896667470" name="Rectangle 1896667469"/>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96667471" name="TextBox 1896667470"/>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896667472" name="TextBox 1896667471"/>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896667473" name="TextBox 1896667472"/>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2206104</a:t>
            </a:r>
          </a:p>
        </p:txBody>
      </p:sp>
      <p:sp>
        <p:nvSpPr>
          <p:cNvPr id="1896667474" name="TextBox 1896667473"/>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C898DF98-1AF3-4D56-B0D1-66A2428E7C44}"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name="Slide 6">
    <p:bg>
      <p:bgPr>
        <a:solidFill>
          <a:srgbClr val="FFFFFF"/>
        </a:solidFill>
        <a:effectLst/>
      </p:bgPr>
    </p:bg>
    <p:spTree>
      <p:nvGrpSpPr>
        <p:cNvPr id="1" name=""/>
        <p:cNvGrpSpPr/>
        <p:nvPr/>
      </p:nvGrpSpPr>
      <p:grpSpPr bwMode="auto">
        <a:xfrm>
          <a:off x="0" y="0"/>
          <a:ext cx="0" cy="0"/>
          <a:chOff x="0" y="0"/>
          <a:chExt cx="0" cy="0"/>
        </a:xfrm>
      </p:grpSpPr>
      <p:sp>
        <p:nvSpPr>
          <p:cNvPr id="106679501" name="Shape 0"/>
          <p:cNvSpPr/>
          <p:nvPr/>
        </p:nvSpPr>
        <p:spPr bwMode="auto">
          <a:xfrm>
            <a:off x="1982448" y="256032"/>
            <a:ext cx="8553045" cy="542838"/>
          </a:xfrm>
          <a:prstGeom prst="roundRect">
            <a:avLst>
              <a:gd name="adj" fmla="val 10667"/>
            </a:avLst>
          </a:prstGeom>
          <a:solidFill>
            <a:srgbClr val="C00000"/>
          </a:solidFill>
          <a:ln/>
        </p:spPr>
        <p:txBody>
          <a:bodyPr/>
          <a:lstStyle/>
          <a:p>
            <a:endParaRPr lang="en-US"/>
          </a:p>
        </p:txBody>
      </p:sp>
      <p:sp>
        <p:nvSpPr>
          <p:cNvPr id="682211814" name="Text 1"/>
          <p:cNvSpPr txBox="1"/>
          <p:nvPr/>
        </p:nvSpPr>
        <p:spPr bwMode="auto">
          <a:xfrm>
            <a:off x="2423160" y="274320"/>
            <a:ext cx="11002975" cy="457200"/>
          </a:xfrm>
          <a:prstGeom prst="rect">
            <a:avLst/>
          </a:prstGeom>
          <a:noFill/>
          <a:ln/>
        </p:spPr>
        <p:txBody>
          <a:bodyPr wrap="square" lIns="0" tIns="0" rIns="0" bIns="0" rtlCol="0" anchor="ctr"/>
          <a:lstStyle/>
          <a:p>
            <a:pPr marL="0" indent="0" algn="l">
              <a:buNone/>
              <a:defRPr/>
            </a:pPr>
            <a:r>
              <a:rPr lang="en-US" sz="2400" b="1" dirty="0">
                <a:solidFill>
                  <a:srgbClr val="FFFFFF"/>
                </a:solidFill>
                <a:latin typeface="Cambria"/>
                <a:ea typeface="Cambria"/>
                <a:cs typeface="Cambria"/>
              </a:rPr>
              <a:t>Canny Edge Detection  &amp;  RGB + Canny Channel Fusion</a:t>
            </a:r>
            <a:endParaRPr lang="en-US" sz="2400" dirty="0"/>
          </a:p>
        </p:txBody>
      </p:sp>
      <p:sp>
        <p:nvSpPr>
          <p:cNvPr id="149618307" name="Text 5"/>
          <p:cNvSpPr txBox="1"/>
          <p:nvPr/>
        </p:nvSpPr>
        <p:spPr bwMode="auto">
          <a:xfrm>
            <a:off x="13517574" y="256032"/>
            <a:ext cx="274320" cy="274320"/>
          </a:xfrm>
          <a:prstGeom prst="rect">
            <a:avLst/>
          </a:prstGeom>
          <a:noFill/>
          <a:ln/>
        </p:spPr>
        <p:txBody>
          <a:bodyPr wrap="square" lIns="0" tIns="0" rIns="0" bIns="0" rtlCol="0" anchor="ctr"/>
          <a:lstStyle/>
          <a:p>
            <a:pPr marL="0" indent="0" algn="r">
              <a:buNone/>
              <a:defRPr/>
            </a:pPr>
            <a:r>
              <a:rPr lang="en-US" sz="1100">
                <a:solidFill>
                  <a:srgbClr val="FFFFFF"/>
                </a:solidFill>
                <a:latin typeface="Times New Roman"/>
                <a:ea typeface="Times New Roman"/>
                <a:cs typeface="Times New Roman"/>
              </a:rPr>
              <a:t>6</a:t>
            </a:r>
            <a:endParaRPr lang="en-US" sz="1100"/>
          </a:p>
        </p:txBody>
      </p:sp>
      <p:pic>
        <p:nvPicPr>
          <p:cNvPr id="1057690125" name="Image 0" descr="/home/claude/pptx_work/reuse_images/gaussian.png"/>
          <p:cNvPicPr>
            <a:picLocks noChangeAspect="1"/>
          </p:cNvPicPr>
          <p:nvPr/>
        </p:nvPicPr>
        <p:blipFill rotWithShape="1">
          <a:blip r:embed="rId3"/>
          <a:stretch/>
        </p:blipFill>
        <p:spPr bwMode="auto">
          <a:xfrm>
            <a:off x="241158" y="967774"/>
            <a:ext cx="2098061" cy="1826635"/>
          </a:xfrm>
          <a:prstGeom prst="rect">
            <a:avLst/>
          </a:prstGeom>
        </p:spPr>
      </p:pic>
      <p:sp>
        <p:nvSpPr>
          <p:cNvPr id="112578500" name="Text 7"/>
          <p:cNvSpPr txBox="1"/>
          <p:nvPr/>
        </p:nvSpPr>
        <p:spPr bwMode="auto">
          <a:xfrm>
            <a:off x="2387860" y="1844720"/>
            <a:ext cx="365760" cy="320040"/>
          </a:xfrm>
          <a:prstGeom prst="rect">
            <a:avLst/>
          </a:prstGeom>
          <a:noFill/>
          <a:ln/>
        </p:spPr>
        <p:txBody>
          <a:bodyPr wrap="square" lIns="0" tIns="0" rIns="0" bIns="0" rtlCol="0" anchor="ctr"/>
          <a:lstStyle/>
          <a:p>
            <a:pPr marL="0" indent="0" algn="ctr">
              <a:buNone/>
              <a:defRPr/>
            </a:pPr>
            <a:r>
              <a:rPr lang="en-US" sz="3200" dirty="0">
                <a:solidFill>
                  <a:srgbClr val="1F497D"/>
                </a:solidFill>
                <a:latin typeface="Times New Roman"/>
                <a:ea typeface="Times New Roman"/>
                <a:cs typeface="Times New Roman"/>
              </a:rPr>
              <a:t>→</a:t>
            </a:r>
            <a:endParaRPr lang="en-US" sz="3200" dirty="0"/>
          </a:p>
        </p:txBody>
      </p:sp>
      <p:pic>
        <p:nvPicPr>
          <p:cNvPr id="733471161" name="Image 1" descr="/home/claude/pptx_work/reuse_images/canny.png"/>
          <p:cNvPicPr>
            <a:picLocks noChangeAspect="1"/>
          </p:cNvPicPr>
          <p:nvPr/>
        </p:nvPicPr>
        <p:blipFill rotWithShape="1">
          <a:blip r:embed="rId4"/>
          <a:stretch/>
        </p:blipFill>
        <p:spPr bwMode="auto">
          <a:xfrm>
            <a:off x="2802261" y="967774"/>
            <a:ext cx="2168661" cy="1826635"/>
          </a:xfrm>
          <a:prstGeom prst="rect">
            <a:avLst/>
          </a:prstGeom>
        </p:spPr>
      </p:pic>
      <p:sp>
        <p:nvSpPr>
          <p:cNvPr id="440154563" name="Text 8"/>
          <p:cNvSpPr txBox="1"/>
          <p:nvPr/>
        </p:nvSpPr>
        <p:spPr bwMode="auto">
          <a:xfrm>
            <a:off x="241158" y="2925618"/>
            <a:ext cx="4729764" cy="237038"/>
          </a:xfrm>
          <a:prstGeom prst="rect">
            <a:avLst/>
          </a:prstGeom>
          <a:noFill/>
          <a:ln/>
        </p:spPr>
        <p:txBody>
          <a:bodyPr wrap="square" lIns="0" tIns="0" rIns="0" bIns="0" rtlCol="0" anchor="ctr"/>
          <a:lstStyle/>
          <a:p>
            <a:pPr marL="0" indent="0">
              <a:buNone/>
              <a:defRPr/>
            </a:pPr>
            <a:r>
              <a:rPr lang="en-US" sz="2000" b="1" i="1" dirty="0">
                <a:solidFill>
                  <a:schemeClr val="tx1">
                    <a:lumMod val="90000"/>
                    <a:lumOff val="5000"/>
                  </a:schemeClr>
                </a:solidFill>
                <a:latin typeface="Times New Roman"/>
                <a:ea typeface="Times New Roman"/>
                <a:cs typeface="Times New Roman"/>
              </a:rPr>
              <a:t>Gaussian-Smoothed </a:t>
            </a:r>
            <a:r>
              <a:rPr lang="en-US" sz="2800" b="1" i="1" dirty="0">
                <a:solidFill>
                  <a:schemeClr val="tx1">
                    <a:lumMod val="90000"/>
                    <a:lumOff val="5000"/>
                  </a:schemeClr>
                </a:solidFill>
                <a:latin typeface="Times New Roman"/>
                <a:ea typeface="Times New Roman"/>
                <a:cs typeface="Times New Roman"/>
              </a:rPr>
              <a:t>→ </a:t>
            </a:r>
            <a:r>
              <a:rPr lang="en-US" sz="2000" b="1" i="1" dirty="0">
                <a:solidFill>
                  <a:schemeClr val="tx1">
                    <a:lumMod val="90000"/>
                    <a:lumOff val="5000"/>
                  </a:schemeClr>
                </a:solidFill>
                <a:latin typeface="Times New Roman"/>
                <a:ea typeface="Times New Roman"/>
                <a:cs typeface="Times New Roman"/>
              </a:rPr>
              <a:t>Binary Edge Map</a:t>
            </a:r>
            <a:endParaRPr sz="2000" b="1" dirty="0">
              <a:solidFill>
                <a:schemeClr val="tx1">
                  <a:lumMod val="90000"/>
                  <a:lumOff val="5000"/>
                </a:schemeClr>
              </a:solidFill>
            </a:endParaRPr>
          </a:p>
        </p:txBody>
      </p:sp>
      <p:sp>
        <p:nvSpPr>
          <p:cNvPr id="255420544" name="Text 9"/>
          <p:cNvSpPr txBox="1"/>
          <p:nvPr/>
        </p:nvSpPr>
        <p:spPr bwMode="auto">
          <a:xfrm>
            <a:off x="4842157" y="1010413"/>
            <a:ext cx="7120895" cy="640080"/>
          </a:xfrm>
          <a:prstGeom prst="rect">
            <a:avLst/>
          </a:prstGeom>
          <a:noFill/>
          <a:ln/>
        </p:spPr>
        <p:txBody>
          <a:bodyPr wrap="square" lIns="0" tIns="0" rIns="0" bIns="0" rtlCol="0" anchor="ctr"/>
          <a:lstStyle/>
          <a:p>
            <a:pPr marL="0" indent="0" algn="ctr">
              <a:buNone/>
              <a:defRPr/>
            </a:pPr>
            <a:r>
              <a:rPr lang="en-US" sz="2000" b="1" dirty="0">
                <a:solidFill>
                  <a:srgbClr val="1F497D"/>
                </a:solidFill>
                <a:latin typeface="Times New Roman"/>
                <a:ea typeface="Times New Roman"/>
                <a:cs typeface="Times New Roman"/>
              </a:rPr>
              <a:t>Gradient Estimation (G</a:t>
            </a:r>
            <a:r>
              <a:rPr lang="en-US" b="1" dirty="0">
                <a:solidFill>
                  <a:srgbClr val="1F497D"/>
                </a:solidFill>
                <a:latin typeface="Times New Roman"/>
                <a:ea typeface="Times New Roman"/>
                <a:cs typeface="Times New Roman"/>
              </a:rPr>
              <a:t>x</a:t>
            </a:r>
            <a:r>
              <a:rPr lang="en-US" sz="2000" b="1" dirty="0">
                <a:solidFill>
                  <a:srgbClr val="1F497D"/>
                </a:solidFill>
                <a:latin typeface="Times New Roman"/>
                <a:ea typeface="Times New Roman"/>
                <a:cs typeface="Times New Roman"/>
              </a:rPr>
              <a:t>, G</a:t>
            </a:r>
            <a:r>
              <a:rPr lang="en-US" b="1" dirty="0">
                <a:solidFill>
                  <a:srgbClr val="1F497D"/>
                </a:solidFill>
                <a:latin typeface="Times New Roman"/>
                <a:ea typeface="Times New Roman"/>
                <a:cs typeface="Times New Roman"/>
              </a:rPr>
              <a:t>y</a:t>
            </a:r>
            <a:r>
              <a:rPr lang="en-US" sz="2000" b="1" dirty="0">
                <a:solidFill>
                  <a:srgbClr val="1F497D"/>
                </a:solidFill>
                <a:latin typeface="Times New Roman"/>
                <a:ea typeface="Times New Roman"/>
                <a:cs typeface="Times New Roman"/>
              </a:rPr>
              <a:t>)  →  Non-Maximum Suppression  </a:t>
            </a:r>
          </a:p>
          <a:p>
            <a:pPr marL="0" indent="0" algn="ctr">
              <a:buNone/>
              <a:defRPr/>
            </a:pPr>
            <a:r>
              <a:rPr lang="en-US" sz="2000" b="1" dirty="0">
                <a:solidFill>
                  <a:srgbClr val="1F497D"/>
                </a:solidFill>
                <a:latin typeface="Times New Roman"/>
                <a:ea typeface="Times New Roman"/>
                <a:cs typeface="Times New Roman"/>
              </a:rPr>
              <a:t>→  Double Threshold  →  Hysteresis  →  Binary Edge Map</a:t>
            </a:r>
          </a:p>
        </p:txBody>
      </p:sp>
      <p:sp>
        <p:nvSpPr>
          <p:cNvPr id="2070761686" name="Shape 10"/>
          <p:cNvSpPr/>
          <p:nvPr/>
        </p:nvSpPr>
        <p:spPr bwMode="auto">
          <a:xfrm>
            <a:off x="6488077" y="1754524"/>
            <a:ext cx="3291840" cy="502920"/>
          </a:xfrm>
          <a:prstGeom prst="rect">
            <a:avLst/>
          </a:prstGeom>
          <a:solidFill>
            <a:srgbClr val="F2F2F2"/>
          </a:solidFill>
          <a:ln w="12700">
            <a:solidFill>
              <a:srgbClr val="1F497D"/>
            </a:solidFill>
            <a:prstDash val="solid"/>
          </a:ln>
        </p:spPr>
        <p:txBody>
          <a:bodyPr anchor="ctr"/>
          <a:lstStyle/>
          <a:p>
            <a:pPr algn="ctr">
              <a:defRPr/>
            </a:pPr>
            <a:endParaRPr sz="2600"/>
          </a:p>
        </p:txBody>
      </p:sp>
      <p:sp>
        <p:nvSpPr>
          <p:cNvPr id="1927961139" name="Text 11"/>
          <p:cNvSpPr txBox="1"/>
          <p:nvPr/>
        </p:nvSpPr>
        <p:spPr bwMode="auto">
          <a:xfrm>
            <a:off x="6488077" y="1754524"/>
            <a:ext cx="3291840" cy="502920"/>
          </a:xfrm>
          <a:prstGeom prst="rect">
            <a:avLst/>
          </a:prstGeom>
          <a:noFill/>
          <a:ln/>
        </p:spPr>
        <p:txBody>
          <a:bodyPr wrap="square" lIns="50800" tIns="50800" rIns="50800" bIns="50800" rtlCol="0" anchor="ctr"/>
          <a:lstStyle/>
          <a:p>
            <a:pPr marL="0" indent="0" algn="ctr">
              <a:buNone/>
              <a:defRPr/>
            </a:pPr>
            <a:r>
              <a:rPr lang="en-US" sz="2200" dirty="0">
                <a:solidFill>
                  <a:srgbClr val="1A1A1A"/>
                </a:solidFill>
                <a:latin typeface="Times New Roman"/>
                <a:ea typeface="Times New Roman"/>
                <a:cs typeface="Times New Roman"/>
              </a:rPr>
              <a:t>M(</a:t>
            </a:r>
            <a:r>
              <a:rPr lang="en-US" dirty="0" err="1">
                <a:solidFill>
                  <a:srgbClr val="1A1A1A"/>
                </a:solidFill>
                <a:latin typeface="Times New Roman"/>
                <a:ea typeface="Times New Roman"/>
                <a:cs typeface="Times New Roman"/>
              </a:rPr>
              <a:t>x,y</a:t>
            </a:r>
            <a:r>
              <a:rPr lang="en-US" sz="2200" dirty="0">
                <a:solidFill>
                  <a:srgbClr val="1A1A1A"/>
                </a:solidFill>
                <a:latin typeface="Times New Roman"/>
                <a:ea typeface="Times New Roman"/>
                <a:cs typeface="Times New Roman"/>
              </a:rPr>
              <a:t>) = √(G</a:t>
            </a:r>
            <a:r>
              <a:rPr lang="en-US" sz="2000" dirty="0">
                <a:solidFill>
                  <a:srgbClr val="1A1A1A"/>
                </a:solidFill>
                <a:latin typeface="Times New Roman"/>
                <a:ea typeface="Times New Roman"/>
                <a:cs typeface="Times New Roman"/>
              </a:rPr>
              <a:t>x</a:t>
            </a:r>
            <a:r>
              <a:rPr lang="en-US" sz="2200" dirty="0">
                <a:solidFill>
                  <a:srgbClr val="1A1A1A"/>
                </a:solidFill>
                <a:latin typeface="Times New Roman"/>
                <a:ea typeface="Times New Roman"/>
                <a:cs typeface="Times New Roman"/>
              </a:rPr>
              <a:t>² + G</a:t>
            </a:r>
            <a:r>
              <a:rPr lang="en-US" sz="2000" dirty="0">
                <a:solidFill>
                  <a:srgbClr val="1A1A1A"/>
                </a:solidFill>
                <a:latin typeface="Times New Roman"/>
                <a:ea typeface="Times New Roman"/>
                <a:cs typeface="Times New Roman"/>
              </a:rPr>
              <a:t>y</a:t>
            </a:r>
            <a:r>
              <a:rPr lang="en-US" sz="2200" dirty="0">
                <a:solidFill>
                  <a:srgbClr val="1A1A1A"/>
                </a:solidFill>
                <a:latin typeface="Times New Roman"/>
                <a:ea typeface="Times New Roman"/>
                <a:cs typeface="Times New Roman"/>
              </a:rPr>
              <a:t>²)   </a:t>
            </a:r>
            <a:r>
              <a:rPr lang="en-US" dirty="0">
                <a:solidFill>
                  <a:srgbClr val="1A1A1A"/>
                </a:solidFill>
                <a:latin typeface="Times New Roman"/>
                <a:ea typeface="Times New Roman"/>
                <a:cs typeface="Times New Roman"/>
              </a:rPr>
              <a:t>[3]</a:t>
            </a:r>
            <a:endParaRPr lang="en-US" sz="2200" dirty="0"/>
          </a:p>
        </p:txBody>
      </p:sp>
      <p:sp>
        <p:nvSpPr>
          <p:cNvPr id="400522050" name="Text 12"/>
          <p:cNvSpPr txBox="1"/>
          <p:nvPr/>
        </p:nvSpPr>
        <p:spPr bwMode="auto">
          <a:xfrm>
            <a:off x="4996786" y="2525714"/>
            <a:ext cx="6954056" cy="457200"/>
          </a:xfrm>
          <a:prstGeom prst="rect">
            <a:avLst/>
          </a:prstGeom>
          <a:noFill/>
          <a:ln/>
        </p:spPr>
        <p:txBody>
          <a:bodyPr wrap="square" lIns="0" tIns="0" rIns="0" bIns="0" rtlCol="0" anchor="ctr"/>
          <a:lstStyle/>
          <a:p>
            <a:pPr marL="0" indent="0" algn="ctr">
              <a:buNone/>
              <a:defRPr/>
            </a:pPr>
            <a:r>
              <a:rPr lang="en-US" sz="2800" b="1" dirty="0">
                <a:solidFill>
                  <a:schemeClr val="accent1">
                    <a:lumMod val="50000"/>
                  </a:schemeClr>
                </a:solidFill>
                <a:latin typeface="Times New Roman"/>
                <a:ea typeface="Times New Roman"/>
                <a:cs typeface="Times New Roman"/>
              </a:rPr>
              <a:t>Extracts Significant Local Intensity Boundaries as a Thin Binary Edge Map.</a:t>
            </a:r>
            <a:endParaRPr lang="en-US" sz="2800" b="1" dirty="0">
              <a:solidFill>
                <a:schemeClr val="accent1">
                  <a:lumMod val="50000"/>
                </a:schemeClr>
              </a:solidFill>
            </a:endParaRPr>
          </a:p>
        </p:txBody>
      </p:sp>
      <p:sp>
        <p:nvSpPr>
          <p:cNvPr id="178556237" name="Text 13"/>
          <p:cNvSpPr txBox="1"/>
          <p:nvPr/>
        </p:nvSpPr>
        <p:spPr bwMode="auto">
          <a:xfrm>
            <a:off x="6430974" y="6107448"/>
            <a:ext cx="5718999" cy="150184"/>
          </a:xfrm>
          <a:prstGeom prst="rect">
            <a:avLst/>
          </a:prstGeom>
          <a:noFill/>
          <a:ln/>
        </p:spPr>
        <p:txBody>
          <a:bodyPr wrap="square" lIns="0" tIns="0" rIns="0" bIns="0" rtlCol="0" anchor="ctr"/>
          <a:lstStyle/>
          <a:p>
            <a:pPr>
              <a:defRPr/>
            </a:pPr>
            <a:r>
              <a:rPr lang="en-US" sz="1600" dirty="0">
                <a:solidFill>
                  <a:schemeClr val="tx1">
                    <a:lumMod val="90000"/>
                    <a:lumOff val="5000"/>
                  </a:schemeClr>
                </a:solidFill>
                <a:latin typeface="Times New Roman"/>
                <a:ea typeface="Times New Roman"/>
                <a:cs typeface="Times New Roman"/>
              </a:rPr>
              <a:t>[3] J. Canny, "A Computational Approach to Edge Detection,"  1986.   </a:t>
            </a:r>
          </a:p>
        </p:txBody>
      </p:sp>
      <p:sp>
        <p:nvSpPr>
          <p:cNvPr id="763555436" name="Shape 14"/>
          <p:cNvSpPr/>
          <p:nvPr/>
        </p:nvSpPr>
        <p:spPr bwMode="auto">
          <a:xfrm>
            <a:off x="468842" y="3518917"/>
            <a:ext cx="11214560" cy="0"/>
          </a:xfrm>
          <a:prstGeom prst="line">
            <a:avLst/>
          </a:prstGeom>
          <a:ln>
            <a:solidFill>
              <a:schemeClr val="bg2">
                <a:lumMod val="50000"/>
              </a:schemeClr>
            </a:solidFill>
          </a:ln>
        </p:spPr>
        <p:style>
          <a:lnRef idx="1">
            <a:schemeClr val="dk1"/>
          </a:lnRef>
          <a:fillRef idx="0">
            <a:schemeClr val="dk1"/>
          </a:fillRef>
          <a:effectRef idx="0">
            <a:schemeClr val="dk1"/>
          </a:effectRef>
          <a:fontRef idx="minor">
            <a:schemeClr val="tx1"/>
          </a:fontRef>
        </p:style>
        <p:txBody>
          <a:bodyPr/>
          <a:lstStyle/>
          <a:p>
            <a:endParaRPr lang="en-US"/>
          </a:p>
        </p:txBody>
      </p:sp>
      <p:pic>
        <p:nvPicPr>
          <p:cNvPr id="928188155" name="Image 2" descr="/home/claude/pptx_work/reuse_images/rgb.png"/>
          <p:cNvPicPr>
            <a:picLocks noChangeAspect="1"/>
          </p:cNvPicPr>
          <p:nvPr/>
        </p:nvPicPr>
        <p:blipFill rotWithShape="1">
          <a:blip r:embed="rId5"/>
          <a:stretch/>
        </p:blipFill>
        <p:spPr bwMode="auto">
          <a:xfrm>
            <a:off x="309406" y="3734565"/>
            <a:ext cx="1752714" cy="1836776"/>
          </a:xfrm>
          <a:prstGeom prst="rect">
            <a:avLst/>
          </a:prstGeom>
        </p:spPr>
      </p:pic>
      <p:sp>
        <p:nvSpPr>
          <p:cNvPr id="795480459" name="Text 15"/>
          <p:cNvSpPr txBox="1"/>
          <p:nvPr/>
        </p:nvSpPr>
        <p:spPr bwMode="auto">
          <a:xfrm>
            <a:off x="502916" y="5708501"/>
            <a:ext cx="1479532" cy="457200"/>
          </a:xfrm>
          <a:prstGeom prst="rect">
            <a:avLst/>
          </a:prstGeom>
          <a:noFill/>
          <a:ln/>
        </p:spPr>
        <p:txBody>
          <a:bodyPr wrap="square" lIns="0" tIns="0" rIns="0" bIns="0" rtlCol="0" anchor="ctr"/>
          <a:lstStyle/>
          <a:p>
            <a:pPr marL="0" indent="0" algn="ctr">
              <a:buNone/>
              <a:defRPr/>
            </a:pPr>
            <a:r>
              <a:rPr lang="en-US" sz="2400" b="1" dirty="0">
                <a:solidFill>
                  <a:schemeClr val="tx1">
                    <a:lumMod val="90000"/>
                    <a:lumOff val="5000"/>
                  </a:schemeClr>
                </a:solidFill>
                <a:latin typeface="Times New Roman"/>
                <a:ea typeface="Times New Roman"/>
                <a:cs typeface="Times New Roman"/>
              </a:rPr>
              <a:t>RGB</a:t>
            </a:r>
            <a:endParaRPr sz="2400" b="1" dirty="0">
              <a:solidFill>
                <a:schemeClr val="tx1">
                  <a:lumMod val="90000"/>
                  <a:lumOff val="5000"/>
                </a:schemeClr>
              </a:solidFill>
            </a:endParaRPr>
          </a:p>
          <a:p>
            <a:pPr marL="0" indent="0" algn="ctr">
              <a:buNone/>
              <a:defRPr/>
            </a:pPr>
            <a:r>
              <a:rPr lang="en-US" sz="2400" b="1" dirty="0">
                <a:solidFill>
                  <a:schemeClr val="tx1">
                    <a:lumMod val="90000"/>
                    <a:lumOff val="5000"/>
                  </a:schemeClr>
                </a:solidFill>
                <a:latin typeface="Times New Roman"/>
                <a:ea typeface="Times New Roman"/>
                <a:cs typeface="Times New Roman"/>
              </a:rPr>
              <a:t>H×W×3</a:t>
            </a:r>
            <a:endParaRPr sz="2400" b="1" dirty="0">
              <a:solidFill>
                <a:schemeClr val="tx1">
                  <a:lumMod val="90000"/>
                  <a:lumOff val="5000"/>
                </a:schemeClr>
              </a:solidFill>
            </a:endParaRPr>
          </a:p>
        </p:txBody>
      </p:sp>
      <p:sp>
        <p:nvSpPr>
          <p:cNvPr id="641034945" name="Text 16"/>
          <p:cNvSpPr txBox="1"/>
          <p:nvPr/>
        </p:nvSpPr>
        <p:spPr bwMode="auto">
          <a:xfrm>
            <a:off x="2046886" y="4454436"/>
            <a:ext cx="443860" cy="457200"/>
          </a:xfrm>
          <a:prstGeom prst="rect">
            <a:avLst/>
          </a:prstGeom>
          <a:noFill/>
          <a:ln/>
        </p:spPr>
        <p:txBody>
          <a:bodyPr wrap="square" lIns="0" tIns="0" rIns="0" bIns="0" rtlCol="0" anchor="ctr"/>
          <a:lstStyle/>
          <a:p>
            <a:pPr marL="0" indent="0" algn="ctr">
              <a:buNone/>
              <a:defRPr/>
            </a:pPr>
            <a:r>
              <a:rPr lang="en-US" sz="4800" b="1" dirty="0">
                <a:solidFill>
                  <a:schemeClr val="tx1">
                    <a:lumMod val="90000"/>
                    <a:lumOff val="5000"/>
                  </a:schemeClr>
                </a:solidFill>
                <a:latin typeface="Times New Roman"/>
                <a:ea typeface="Times New Roman"/>
                <a:cs typeface="Times New Roman"/>
              </a:rPr>
              <a:t>+</a:t>
            </a:r>
            <a:endParaRPr sz="4800" b="1" dirty="0">
              <a:solidFill>
                <a:schemeClr val="tx1">
                  <a:lumMod val="90000"/>
                  <a:lumOff val="5000"/>
                </a:schemeClr>
              </a:solidFill>
            </a:endParaRPr>
          </a:p>
        </p:txBody>
      </p:sp>
      <p:pic>
        <p:nvPicPr>
          <p:cNvPr id="273769275" name="Image 3" descr="/home/claude/pptx_work/reuse_images/canny.png"/>
          <p:cNvPicPr>
            <a:picLocks noChangeAspect="1"/>
          </p:cNvPicPr>
          <p:nvPr/>
        </p:nvPicPr>
        <p:blipFill rotWithShape="1">
          <a:blip r:embed="rId4"/>
          <a:stretch/>
        </p:blipFill>
        <p:spPr bwMode="auto">
          <a:xfrm>
            <a:off x="2466456" y="3738885"/>
            <a:ext cx="1688100" cy="1832456"/>
          </a:xfrm>
          <a:prstGeom prst="rect">
            <a:avLst/>
          </a:prstGeom>
        </p:spPr>
      </p:pic>
      <p:sp>
        <p:nvSpPr>
          <p:cNvPr id="1218584758" name="Text 17"/>
          <p:cNvSpPr txBox="1"/>
          <p:nvPr/>
        </p:nvSpPr>
        <p:spPr bwMode="auto">
          <a:xfrm>
            <a:off x="2570740" y="5697688"/>
            <a:ext cx="1479532" cy="457200"/>
          </a:xfrm>
          <a:prstGeom prst="rect">
            <a:avLst/>
          </a:prstGeom>
          <a:noFill/>
          <a:ln/>
        </p:spPr>
        <p:txBody>
          <a:bodyPr wrap="square" lIns="0" tIns="0" rIns="0" bIns="0" rtlCol="0" anchor="ctr"/>
          <a:lstStyle/>
          <a:p>
            <a:pPr marL="0" indent="0" algn="ctr">
              <a:buNone/>
              <a:defRPr/>
            </a:pPr>
            <a:r>
              <a:rPr lang="en-US" sz="2400" b="1" dirty="0">
                <a:solidFill>
                  <a:schemeClr val="tx1">
                    <a:lumMod val="90000"/>
                    <a:lumOff val="5000"/>
                  </a:schemeClr>
                </a:solidFill>
                <a:latin typeface="Times New Roman"/>
                <a:ea typeface="Times New Roman"/>
                <a:cs typeface="Times New Roman"/>
              </a:rPr>
              <a:t>Canny</a:t>
            </a:r>
            <a:endParaRPr sz="2400" b="1" dirty="0">
              <a:solidFill>
                <a:schemeClr val="tx1">
                  <a:lumMod val="90000"/>
                  <a:lumOff val="5000"/>
                </a:schemeClr>
              </a:solidFill>
            </a:endParaRPr>
          </a:p>
          <a:p>
            <a:pPr marL="0" indent="0" algn="ctr">
              <a:buNone/>
              <a:defRPr/>
            </a:pPr>
            <a:r>
              <a:rPr lang="en-US" sz="2400" b="1" dirty="0">
                <a:solidFill>
                  <a:schemeClr val="tx1">
                    <a:lumMod val="90000"/>
                    <a:lumOff val="5000"/>
                  </a:schemeClr>
                </a:solidFill>
                <a:latin typeface="Times New Roman"/>
                <a:ea typeface="Times New Roman"/>
                <a:cs typeface="Times New Roman"/>
              </a:rPr>
              <a:t>H×W×1</a:t>
            </a:r>
            <a:endParaRPr sz="2400" b="1" dirty="0">
              <a:solidFill>
                <a:schemeClr val="tx1">
                  <a:lumMod val="90000"/>
                  <a:lumOff val="5000"/>
                </a:schemeClr>
              </a:solidFill>
            </a:endParaRPr>
          </a:p>
        </p:txBody>
      </p:sp>
      <p:sp>
        <p:nvSpPr>
          <p:cNvPr id="448343896" name="Text 18"/>
          <p:cNvSpPr txBox="1"/>
          <p:nvPr/>
        </p:nvSpPr>
        <p:spPr bwMode="auto">
          <a:xfrm>
            <a:off x="4150953" y="4454436"/>
            <a:ext cx="443860" cy="457200"/>
          </a:xfrm>
          <a:prstGeom prst="rect">
            <a:avLst/>
          </a:prstGeom>
          <a:noFill/>
          <a:ln/>
        </p:spPr>
        <p:txBody>
          <a:bodyPr wrap="square" lIns="0" tIns="0" rIns="0" bIns="0" rtlCol="0" anchor="ctr"/>
          <a:lstStyle/>
          <a:p>
            <a:pPr marL="0" indent="0" algn="ctr">
              <a:buNone/>
              <a:defRPr/>
            </a:pPr>
            <a:r>
              <a:rPr lang="en-US" sz="4800" b="1" dirty="0">
                <a:solidFill>
                  <a:schemeClr val="tx1">
                    <a:lumMod val="90000"/>
                    <a:lumOff val="5000"/>
                  </a:schemeClr>
                </a:solidFill>
                <a:latin typeface="Times New Roman"/>
                <a:ea typeface="Times New Roman"/>
                <a:cs typeface="Times New Roman"/>
              </a:rPr>
              <a:t>=</a:t>
            </a:r>
            <a:endParaRPr sz="4800" b="1" dirty="0">
              <a:solidFill>
                <a:schemeClr val="tx1">
                  <a:lumMod val="90000"/>
                  <a:lumOff val="5000"/>
                </a:schemeClr>
              </a:solidFill>
            </a:endParaRPr>
          </a:p>
        </p:txBody>
      </p:sp>
      <p:pic>
        <p:nvPicPr>
          <p:cNvPr id="411961830" name="Image 4" descr="/home/claude/pptx_work/reuse_images/fusion.png"/>
          <p:cNvPicPr>
            <a:picLocks noChangeAspect="1"/>
          </p:cNvPicPr>
          <p:nvPr/>
        </p:nvPicPr>
        <p:blipFill rotWithShape="1">
          <a:blip r:embed="rId6"/>
          <a:stretch/>
        </p:blipFill>
        <p:spPr bwMode="auto">
          <a:xfrm>
            <a:off x="4594813" y="3734565"/>
            <a:ext cx="1810911" cy="1832456"/>
          </a:xfrm>
          <a:prstGeom prst="rect">
            <a:avLst/>
          </a:prstGeom>
        </p:spPr>
      </p:pic>
      <p:sp>
        <p:nvSpPr>
          <p:cNvPr id="2022872298" name="Text 19"/>
          <p:cNvSpPr txBox="1"/>
          <p:nvPr/>
        </p:nvSpPr>
        <p:spPr bwMode="auto">
          <a:xfrm>
            <a:off x="4623866" y="5708501"/>
            <a:ext cx="1864211" cy="457200"/>
          </a:xfrm>
          <a:prstGeom prst="rect">
            <a:avLst/>
          </a:prstGeom>
          <a:noFill/>
          <a:ln/>
        </p:spPr>
        <p:txBody>
          <a:bodyPr wrap="square" lIns="0" tIns="0" rIns="0" bIns="0" rtlCol="0" anchor="ctr"/>
          <a:lstStyle/>
          <a:p>
            <a:pPr marL="0" indent="0" algn="ctr">
              <a:buNone/>
              <a:defRPr/>
            </a:pPr>
            <a:r>
              <a:rPr lang="en-US" sz="2400" b="1" dirty="0">
                <a:solidFill>
                  <a:schemeClr val="tx1">
                    <a:lumMod val="90000"/>
                    <a:lumOff val="5000"/>
                  </a:schemeClr>
                </a:solidFill>
                <a:latin typeface="Times New Roman"/>
                <a:ea typeface="Times New Roman"/>
                <a:cs typeface="Times New Roman"/>
              </a:rPr>
              <a:t>RGB + Canny</a:t>
            </a:r>
            <a:endParaRPr sz="2400" b="1" dirty="0">
              <a:solidFill>
                <a:schemeClr val="tx1">
                  <a:lumMod val="90000"/>
                  <a:lumOff val="5000"/>
                </a:schemeClr>
              </a:solidFill>
            </a:endParaRPr>
          </a:p>
          <a:p>
            <a:pPr marL="0" indent="0" algn="ctr">
              <a:buNone/>
              <a:defRPr/>
            </a:pPr>
            <a:r>
              <a:rPr lang="en-US" sz="2400" b="1" dirty="0">
                <a:solidFill>
                  <a:schemeClr val="tx1">
                    <a:lumMod val="90000"/>
                    <a:lumOff val="5000"/>
                  </a:schemeClr>
                </a:solidFill>
                <a:latin typeface="Times New Roman"/>
                <a:ea typeface="Times New Roman"/>
                <a:cs typeface="Times New Roman"/>
              </a:rPr>
              <a:t>H×W×4</a:t>
            </a:r>
            <a:endParaRPr sz="2400" b="1" dirty="0">
              <a:solidFill>
                <a:schemeClr val="tx1">
                  <a:lumMod val="90000"/>
                  <a:lumOff val="5000"/>
                </a:schemeClr>
              </a:solidFill>
            </a:endParaRPr>
          </a:p>
        </p:txBody>
      </p:sp>
      <p:sp>
        <p:nvSpPr>
          <p:cNvPr id="1424080396" name="Shape 20"/>
          <p:cNvSpPr/>
          <p:nvPr/>
        </p:nvSpPr>
        <p:spPr bwMode="auto">
          <a:xfrm>
            <a:off x="6488077" y="4062581"/>
            <a:ext cx="5528332" cy="594360"/>
          </a:xfrm>
          <a:prstGeom prst="rect">
            <a:avLst/>
          </a:prstGeom>
          <a:solidFill>
            <a:srgbClr val="F2F2F2"/>
          </a:solidFill>
          <a:ln w="12700">
            <a:solidFill>
              <a:srgbClr val="1F497D"/>
            </a:solidFill>
            <a:prstDash val="solid"/>
          </a:ln>
        </p:spPr>
        <p:txBody>
          <a:bodyPr anchor="ctr"/>
          <a:lstStyle/>
          <a:p>
            <a:pPr algn="ctr">
              <a:defRPr/>
            </a:pPr>
            <a:endParaRPr sz="2600"/>
          </a:p>
        </p:txBody>
      </p:sp>
      <p:sp>
        <p:nvSpPr>
          <p:cNvPr id="749683902" name="Text 21"/>
          <p:cNvSpPr txBox="1"/>
          <p:nvPr/>
        </p:nvSpPr>
        <p:spPr bwMode="auto">
          <a:xfrm>
            <a:off x="6488077" y="4062581"/>
            <a:ext cx="5528332" cy="594360"/>
          </a:xfrm>
          <a:prstGeom prst="rect">
            <a:avLst/>
          </a:prstGeom>
          <a:noFill/>
          <a:ln/>
        </p:spPr>
        <p:txBody>
          <a:bodyPr wrap="square" lIns="50799" tIns="50799" rIns="50799" bIns="50799" rtlCol="0" anchor="ctr"/>
          <a:lstStyle/>
          <a:p>
            <a:pPr marL="0" indent="0" algn="l">
              <a:buNone/>
              <a:defRPr/>
            </a:pPr>
            <a:r>
              <a:rPr lang="en-US" sz="2150" b="1" dirty="0">
                <a:solidFill>
                  <a:srgbClr val="1A1A1A"/>
                </a:solidFill>
                <a:latin typeface="Times New Roman"/>
                <a:ea typeface="Times New Roman"/>
                <a:cs typeface="Times New Roman"/>
              </a:rPr>
              <a:t>ℝ^(H×W×3)  ⊕  ℝ^(H×W×1)  =  ℝ^(H×W×4)</a:t>
            </a:r>
            <a:endParaRPr lang="en-US" sz="2150" b="1" dirty="0"/>
          </a:p>
        </p:txBody>
      </p:sp>
      <p:sp>
        <p:nvSpPr>
          <p:cNvPr id="1294481109" name="Text 22"/>
          <p:cNvSpPr txBox="1"/>
          <p:nvPr/>
        </p:nvSpPr>
        <p:spPr bwMode="auto">
          <a:xfrm>
            <a:off x="6858705" y="4794101"/>
            <a:ext cx="5104387" cy="777240"/>
          </a:xfrm>
          <a:prstGeom prst="rect">
            <a:avLst/>
          </a:prstGeom>
          <a:noFill/>
          <a:ln/>
        </p:spPr>
        <p:txBody>
          <a:bodyPr wrap="square" lIns="0" tIns="0" rIns="0" bIns="0" rtlCol="0" anchor="t"/>
          <a:lstStyle/>
          <a:p>
            <a:pPr marL="0" indent="0" algn="ctr">
              <a:buNone/>
              <a:defRPr/>
            </a:pPr>
            <a:r>
              <a:rPr lang="en-US" sz="2000" b="1" dirty="0">
                <a:solidFill>
                  <a:srgbClr val="1A1A1A"/>
                </a:solidFill>
                <a:latin typeface="Times New Roman"/>
                <a:ea typeface="Times New Roman"/>
                <a:cs typeface="Times New Roman"/>
              </a:rPr>
              <a:t>Canny map appended as a 4th channel; all 4 channels are then standardised (zero mean, unit variance).</a:t>
            </a:r>
            <a:endParaRPr lang="en-US" sz="2400" b="1" dirty="0"/>
          </a:p>
        </p:txBody>
      </p:sp>
      <p:sp>
        <p:nvSpPr>
          <p:cNvPr id="2070761687" name="Rectangle 2070761686"/>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0761688" name="TextBox 2070761687"/>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2070761689" name="TextBox 2070761688"/>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2070761690" name="TextBox 2070761689"/>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2206104</a:t>
            </a:r>
          </a:p>
        </p:txBody>
      </p:sp>
      <p:sp>
        <p:nvSpPr>
          <p:cNvPr id="2070761691" name="TextBox 2070761690"/>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509FBD23-848E-470D-8B7D-FD1AC5F36988}" type="slidenum">
              <a:rPr lang="en-US" sz="1300" b="1">
                <a:solidFill>
                  <a:srgbClr val="FFFFFF"/>
                </a:solidFill>
                <a:latin typeface="Times New Roman"/>
              </a:rPr>
              <a:t>‹#›</a:t>
            </a:fld>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EFB00F12-8B72-3D3A-79B9-4F23240203BE}"/>
              </a:ext>
            </a:extLst>
          </p:cNvPr>
          <p:cNvSpPr/>
          <p:nvPr/>
        </p:nvSpPr>
        <p:spPr bwMode="auto">
          <a:xfrm>
            <a:off x="508000" y="254766"/>
            <a:ext cx="10718800" cy="806658"/>
          </a:xfrm>
          <a:prstGeom prst="roundRect">
            <a:avLst>
              <a:gd name="adj" fmla="val 10667"/>
            </a:avLst>
          </a:prstGeom>
          <a:solidFill>
            <a:srgbClr val="C00000"/>
          </a:solidFill>
          <a:ln/>
        </p:spPr>
        <p:txBody>
          <a:bodyPr/>
          <a:lstStyle/>
          <a:p>
            <a:endParaRPr lang="en-US"/>
          </a:p>
        </p:txBody>
      </p:sp>
      <p:sp>
        <p:nvSpPr>
          <p:cNvPr id="2" name="Title 1">
            <a:extLst>
              <a:ext uri="{FF2B5EF4-FFF2-40B4-BE49-F238E27FC236}">
                <a16:creationId xmlns:a16="http://schemas.microsoft.com/office/drawing/2014/main" id="{34825669-3F69-91FE-E312-B63A67C89DFD}"/>
              </a:ext>
            </a:extLst>
          </p:cNvPr>
          <p:cNvSpPr>
            <a:spLocks noGrp="1"/>
          </p:cNvSpPr>
          <p:nvPr>
            <p:ph type="title"/>
          </p:nvPr>
        </p:nvSpPr>
        <p:spPr>
          <a:xfrm>
            <a:off x="-523685" y="379754"/>
            <a:ext cx="12207685" cy="392185"/>
          </a:xfrm>
        </p:spPr>
        <p:txBody>
          <a:bodyPr/>
          <a:lstStyle/>
          <a:p>
            <a:r>
              <a:rPr lang="en-US" sz="3200" dirty="0">
                <a:solidFill>
                  <a:schemeClr val="bg1"/>
                </a:solidFill>
                <a:latin typeface="Times New Roman" panose="02020603050405020304" pitchFamily="18" charset="0"/>
                <a:cs typeface="Times New Roman" panose="02020603050405020304" pitchFamily="18" charset="0"/>
              </a:rPr>
              <a:t>3.2.4 Design </a:t>
            </a:r>
            <a:r>
              <a:rPr lang="en-US" sz="3200" dirty="0" err="1">
                <a:solidFill>
                  <a:schemeClr val="bg1"/>
                </a:solidFill>
                <a:latin typeface="Times New Roman" panose="02020603050405020304" pitchFamily="18" charset="0"/>
                <a:cs typeface="Times New Roman" panose="02020603050405020304" pitchFamily="18" charset="0"/>
              </a:rPr>
              <a:t>Methods:</a:t>
            </a:r>
            <a:r>
              <a:rPr lang="en-US" sz="3200" b="1" dirty="0" err="1">
                <a:solidFill>
                  <a:schemeClr val="bg1"/>
                </a:solidFill>
                <a:latin typeface="Times New Roman" panose="02020603050405020304" pitchFamily="18" charset="0"/>
                <a:cs typeface="Times New Roman" panose="02020603050405020304" pitchFamily="18" charset="0"/>
              </a:rPr>
              <a:t>The</a:t>
            </a:r>
            <a:r>
              <a:rPr lang="en-US" sz="3200" b="1" dirty="0">
                <a:solidFill>
                  <a:schemeClr val="bg1"/>
                </a:solidFill>
                <a:latin typeface="Times New Roman" panose="02020603050405020304" pitchFamily="18" charset="0"/>
                <a:cs typeface="Times New Roman" panose="02020603050405020304" pitchFamily="18" charset="0"/>
              </a:rPr>
              <a:t> Siamese U-Net Architecture</a:t>
            </a:r>
          </a:p>
        </p:txBody>
      </p:sp>
      <p:sp>
        <p:nvSpPr>
          <p:cNvPr id="11" name="Rounded Rectangle 10"/>
          <p:cNvSpPr/>
          <p:nvPr/>
        </p:nvSpPr>
        <p:spPr>
          <a:xfrm>
            <a:off x="119917" y="2005378"/>
            <a:ext cx="2303239" cy="82296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2400" b="1" i="0" dirty="0">
                <a:solidFill>
                  <a:srgbClr val="FFFFFF"/>
                </a:solidFill>
                <a:latin typeface="Times New Roman" panose="02020603050405020304" pitchFamily="18" charset="0"/>
                <a:cs typeface="Times New Roman" panose="02020603050405020304" pitchFamily="18" charset="0"/>
              </a:rPr>
              <a:t>T1: 4 × 256 × 256</a:t>
            </a:r>
          </a:p>
        </p:txBody>
      </p:sp>
      <p:sp>
        <p:nvSpPr>
          <p:cNvPr id="12" name="Rounded Rectangle 11"/>
          <p:cNvSpPr/>
          <p:nvPr/>
        </p:nvSpPr>
        <p:spPr>
          <a:xfrm>
            <a:off x="119917" y="4154217"/>
            <a:ext cx="2303239" cy="82296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2400" b="1" i="0" dirty="0">
                <a:solidFill>
                  <a:srgbClr val="FFFFFF"/>
                </a:solidFill>
                <a:latin typeface="Times New Roman" panose="02020603050405020304" pitchFamily="18" charset="0"/>
                <a:cs typeface="Times New Roman" panose="02020603050405020304" pitchFamily="18" charset="0"/>
              </a:rPr>
              <a:t>T2: 4 × 256 × 256</a:t>
            </a:r>
          </a:p>
        </p:txBody>
      </p:sp>
      <p:sp>
        <p:nvSpPr>
          <p:cNvPr id="13" name="Rounded Rectangle 12"/>
          <p:cNvSpPr/>
          <p:nvPr/>
        </p:nvSpPr>
        <p:spPr>
          <a:xfrm>
            <a:off x="2788916" y="1469342"/>
            <a:ext cx="2148840" cy="3919316"/>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2800" b="1" i="0" dirty="0">
                <a:solidFill>
                  <a:srgbClr val="FFFFFF"/>
                </a:solidFill>
                <a:latin typeface="Times New Roman" panose="02020603050405020304" pitchFamily="18" charset="0"/>
                <a:cs typeface="Times New Roman" panose="02020603050405020304" pitchFamily="18" charset="0"/>
              </a:rPr>
              <a:t>Siamese encoder</a:t>
            </a:r>
          </a:p>
          <a:p>
            <a:pPr algn="ctr"/>
            <a:r>
              <a:rPr sz="2000" b="0" i="0" dirty="0">
                <a:solidFill>
                  <a:srgbClr val="FFFFFF"/>
                </a:solidFill>
                <a:latin typeface="Times New Roman" panose="02020603050405020304" pitchFamily="18" charset="0"/>
                <a:cs typeface="Times New Roman" panose="02020603050405020304" pitchFamily="18" charset="0"/>
              </a:rPr>
              <a:t>ResNet-34 (ImageNet)
shared weights
5 scales:
1/2 · 1/4 · 1/8 · 1/16 · 1/32
64 → 512 channels</a:t>
            </a:r>
          </a:p>
        </p:txBody>
      </p:sp>
      <p:cxnSp>
        <p:nvCxnSpPr>
          <p:cNvPr id="14" name="Connector 13"/>
          <p:cNvCxnSpPr>
            <a:cxnSpLocks/>
          </p:cNvCxnSpPr>
          <p:nvPr/>
        </p:nvCxnSpPr>
        <p:spPr>
          <a:xfrm>
            <a:off x="2423156" y="2416858"/>
            <a:ext cx="365760" cy="36576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p:cNvCxnSpPr>
          <p:nvPr/>
        </p:nvCxnSpPr>
        <p:spPr>
          <a:xfrm flipV="1">
            <a:off x="2423156" y="4199938"/>
            <a:ext cx="365760" cy="36576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303516" y="1469342"/>
            <a:ext cx="2240280" cy="3919316"/>
          </a:xfrm>
          <a:prstGeom prst="roundRect">
            <a:avLst>
              <a:gd name="adj" fmla="val 8000"/>
            </a:avLst>
          </a:prstGeom>
          <a:solidFill>
            <a:srgbClr val="1F6F8B"/>
          </a:solidFill>
          <a:ln>
            <a:no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2800" b="1" i="0" dirty="0">
                <a:solidFill>
                  <a:srgbClr val="FFFFFF"/>
                </a:solidFill>
                <a:latin typeface="Times New Roman" panose="02020603050405020304" pitchFamily="18" charset="0"/>
                <a:cs typeface="Times New Roman" panose="02020603050405020304" pitchFamily="18" charset="0"/>
              </a:rPr>
              <a:t>Fusion at every scale</a:t>
            </a:r>
          </a:p>
          <a:p>
            <a:pPr algn="ctr"/>
            <a:r>
              <a:rPr sz="2000" b="1" i="0" dirty="0">
                <a:solidFill>
                  <a:srgbClr val="FFFFFF"/>
                </a:solidFill>
                <a:latin typeface="Times New Roman" panose="02020603050405020304" pitchFamily="18" charset="0"/>
                <a:cs typeface="Times New Roman" panose="02020603050405020304" pitchFamily="18" charset="0"/>
              </a:rPr>
              <a:t>BAM: attention over
both dates (1/4 … 1/32)
Siam-</a:t>
            </a:r>
            <a:r>
              <a:rPr sz="2000" b="1" i="0" dirty="0" err="1">
                <a:solidFill>
                  <a:srgbClr val="FFFFFF"/>
                </a:solidFill>
                <a:latin typeface="Times New Roman" panose="02020603050405020304" pitchFamily="18" charset="0"/>
                <a:cs typeface="Times New Roman" panose="02020603050405020304" pitchFamily="18" charset="0"/>
              </a:rPr>
              <a:t>Concat</a:t>
            </a:r>
            <a:r>
              <a:rPr sz="2000" b="1" i="0" dirty="0">
                <a:solidFill>
                  <a:srgbClr val="FFFFFF"/>
                </a:solidFill>
                <a:latin typeface="Times New Roman" panose="02020603050405020304" pitchFamily="18" charset="0"/>
                <a:cs typeface="Times New Roman" panose="02020603050405020304" pitchFamily="18" charset="0"/>
              </a:rPr>
              <a:t>:
[F₁, F₂, |F₁ − F₂|]
→ 1×1 conv</a:t>
            </a:r>
          </a:p>
        </p:txBody>
      </p:sp>
      <p:cxnSp>
        <p:nvCxnSpPr>
          <p:cNvPr id="17" name="Connector 16"/>
          <p:cNvCxnSpPr>
            <a:cxnSpLocks/>
          </p:cNvCxnSpPr>
          <p:nvPr/>
        </p:nvCxnSpPr>
        <p:spPr>
          <a:xfrm>
            <a:off x="4937756" y="3578146"/>
            <a:ext cx="365760"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909556" y="1574415"/>
            <a:ext cx="2011680" cy="2579803"/>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b="1" i="0" dirty="0">
                <a:solidFill>
                  <a:srgbClr val="FFFFFF"/>
                </a:solidFill>
                <a:latin typeface="Times New Roman" panose="02020603050405020304" pitchFamily="18" charset="0"/>
                <a:cs typeface="Times New Roman" panose="02020603050405020304" pitchFamily="18" charset="0"/>
              </a:rPr>
              <a:t>U-Net decoder</a:t>
            </a:r>
          </a:p>
          <a:p>
            <a:pPr algn="ctr"/>
            <a:r>
              <a:rPr sz="2000" b="0" i="0" dirty="0">
                <a:solidFill>
                  <a:srgbClr val="FFFFFF"/>
                </a:solidFill>
                <a:latin typeface="Times New Roman" panose="02020603050405020304" pitchFamily="18" charset="0"/>
                <a:cs typeface="Times New Roman" panose="02020603050405020304" pitchFamily="18" charset="0"/>
              </a:rPr>
              <a:t>1/32 → 1/2 with skip
connections, edge-guided
fusion, ×2 up + 3×3
refinement</a:t>
            </a:r>
          </a:p>
        </p:txBody>
      </p:sp>
      <p:sp>
        <p:nvSpPr>
          <p:cNvPr id="19" name="Rounded Rectangle 18"/>
          <p:cNvSpPr/>
          <p:nvPr/>
        </p:nvSpPr>
        <p:spPr>
          <a:xfrm>
            <a:off x="7909556" y="4428538"/>
            <a:ext cx="2011680" cy="96012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2800" b="1" i="0">
                <a:solidFill>
                  <a:srgbClr val="FFFFFF"/>
                </a:solidFill>
                <a:latin typeface="Times New Roman" panose="02020603050405020304" pitchFamily="18" charset="0"/>
                <a:cs typeface="Times New Roman" panose="02020603050405020304" pitchFamily="18" charset="0"/>
              </a:rPr>
              <a:t>Edge head</a:t>
            </a:r>
          </a:p>
          <a:p>
            <a:pPr algn="ctr"/>
            <a:r>
              <a:rPr sz="1600" b="0" i="0">
                <a:solidFill>
                  <a:srgbClr val="FFFFFF"/>
                </a:solidFill>
                <a:latin typeface="Times New Roman" panose="02020603050405020304" pitchFamily="18" charset="0"/>
                <a:cs typeface="Times New Roman" panose="02020603050405020304" pitchFamily="18" charset="0"/>
              </a:rPr>
              <a:t>fused 1/2 + 1/4 + context</a:t>
            </a:r>
          </a:p>
        </p:txBody>
      </p:sp>
      <p:cxnSp>
        <p:nvCxnSpPr>
          <p:cNvPr id="4" name="Connector 19"/>
          <p:cNvCxnSpPr>
            <a:cxnSpLocks/>
          </p:cNvCxnSpPr>
          <p:nvPr/>
        </p:nvCxnSpPr>
        <p:spPr>
          <a:xfrm>
            <a:off x="7543796" y="2965498"/>
            <a:ext cx="365760"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20"/>
          <p:cNvCxnSpPr>
            <a:cxnSpLocks/>
          </p:cNvCxnSpPr>
          <p:nvPr/>
        </p:nvCxnSpPr>
        <p:spPr>
          <a:xfrm>
            <a:off x="7543796" y="4885738"/>
            <a:ext cx="365760"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21"/>
          <p:cNvCxnSpPr>
            <a:cxnSpLocks/>
          </p:cNvCxnSpPr>
          <p:nvPr/>
        </p:nvCxnSpPr>
        <p:spPr>
          <a:xfrm flipV="1">
            <a:off x="8915396" y="4154217"/>
            <a:ext cx="0" cy="274321"/>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2"/>
          <p:cNvSpPr/>
          <p:nvPr/>
        </p:nvSpPr>
        <p:spPr>
          <a:xfrm>
            <a:off x="10241275" y="1574415"/>
            <a:ext cx="1691639" cy="2579803"/>
          </a:xfrm>
          <a:prstGeom prst="roundRect">
            <a:avLst>
              <a:gd name="adj" fmla="val 8000"/>
            </a:avLst>
          </a:prstGeom>
          <a:solidFill>
            <a:srgbClr val="F3F4F6"/>
          </a:solidFill>
          <a:ln w="12700">
            <a:solidFill>
              <a:srgbClr val="D9DCE1"/>
            </a:solid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2400" b="1" i="0" dirty="0">
                <a:solidFill>
                  <a:srgbClr val="262B33"/>
                </a:solidFill>
                <a:latin typeface="Times New Roman" panose="02020603050405020304" pitchFamily="18" charset="0"/>
                <a:cs typeface="Times New Roman" panose="02020603050405020304" pitchFamily="18" charset="0"/>
              </a:rPr>
              <a:t>Change map</a:t>
            </a:r>
          </a:p>
          <a:p>
            <a:pPr algn="ctr"/>
            <a:r>
              <a:rPr sz="1600" b="0" i="0" dirty="0">
                <a:solidFill>
                  <a:srgbClr val="5F6670"/>
                </a:solidFill>
                <a:latin typeface="Times New Roman" panose="02020603050405020304" pitchFamily="18" charset="0"/>
                <a:cs typeface="Times New Roman" panose="02020603050405020304" pitchFamily="18" charset="0"/>
              </a:rPr>
              <a:t>1 × 256 × 256
BCE + Dice</a:t>
            </a:r>
          </a:p>
        </p:txBody>
      </p:sp>
      <p:sp>
        <p:nvSpPr>
          <p:cNvPr id="30" name="Rounded Rectangle 23"/>
          <p:cNvSpPr/>
          <p:nvPr/>
        </p:nvSpPr>
        <p:spPr>
          <a:xfrm>
            <a:off x="10241276" y="4428538"/>
            <a:ext cx="1691640" cy="960120"/>
          </a:xfrm>
          <a:prstGeom prst="roundRect">
            <a:avLst>
              <a:gd name="adj" fmla="val 8000"/>
            </a:avLst>
          </a:prstGeom>
          <a:solidFill>
            <a:srgbClr val="F3F4F6"/>
          </a:solidFill>
          <a:ln w="12700">
            <a:solidFill>
              <a:srgbClr val="D9DCE1"/>
            </a:solidFill>
          </a:ln>
        </p:spPr>
        <p:style>
          <a:lnRef idx="1">
            <a:schemeClr val="accent1"/>
          </a:lnRef>
          <a:fillRef idx="3">
            <a:schemeClr val="accent1"/>
          </a:fillRef>
          <a:effectRef idx="0">
            <a:schemeClr val="accent1"/>
          </a:effectRef>
          <a:fontRef idx="minor">
            <a:schemeClr val="lt1"/>
          </a:fontRef>
        </p:style>
        <p:txBody>
          <a:bodyPr wrap="square" lIns="54864" tIns="54864" rIns="54864" bIns="54864" rtlCol="0" anchor="ctr"/>
          <a:lstStyle/>
          <a:p>
            <a:pPr algn="ctr"/>
            <a:r>
              <a:rPr sz="2400" b="1" i="0" dirty="0">
                <a:solidFill>
                  <a:srgbClr val="262B33"/>
                </a:solidFill>
                <a:latin typeface="Times New Roman" panose="02020603050405020304" pitchFamily="18" charset="0"/>
                <a:cs typeface="Times New Roman" panose="02020603050405020304" pitchFamily="18" charset="0"/>
              </a:rPr>
              <a:t>Edge map</a:t>
            </a:r>
          </a:p>
        </p:txBody>
      </p:sp>
      <p:cxnSp>
        <p:nvCxnSpPr>
          <p:cNvPr id="31" name="Connector 24"/>
          <p:cNvCxnSpPr>
            <a:cxnSpLocks/>
          </p:cNvCxnSpPr>
          <p:nvPr/>
        </p:nvCxnSpPr>
        <p:spPr>
          <a:xfrm>
            <a:off x="9921236" y="2965498"/>
            <a:ext cx="320040"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25"/>
          <p:cNvCxnSpPr>
            <a:cxnSpLocks/>
          </p:cNvCxnSpPr>
          <p:nvPr/>
        </p:nvCxnSpPr>
        <p:spPr>
          <a:xfrm>
            <a:off x="9921236" y="4885738"/>
            <a:ext cx="320040"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35" name="TextBox 34"/>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36" name="TextBox 35"/>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2206119</a:t>
            </a:r>
          </a:p>
        </p:txBody>
      </p:sp>
      <p:sp>
        <p:nvSpPr>
          <p:cNvPr id="37" name="TextBox 36"/>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5847C721-E9F8-438E-8C6B-195087C3FD7D}" type="slidenum">
              <a:rPr lang="en-US" sz="1300" b="1">
                <a:solidFill>
                  <a:srgbClr val="FFFFFF"/>
                </a:solidFill>
                <a:latin typeface="Times New Roman"/>
              </a:rPr>
              <a:t>‹#›</a:t>
            </a:fld>
          </a:p>
        </p:txBody>
      </p:sp>
    </p:spTree>
    <p:extLst>
      <p:ext uri="{BB962C8B-B14F-4D97-AF65-F5344CB8AC3E}">
        <p14:creationId xmlns:p14="http://schemas.microsoft.com/office/powerpoint/2010/main" val="2235879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0">
            <a:extLst>
              <a:ext uri="{FF2B5EF4-FFF2-40B4-BE49-F238E27FC236}">
                <a16:creationId xmlns:a16="http://schemas.microsoft.com/office/drawing/2014/main" id="{9D993FFF-3C23-CEBD-DE51-3EADACC37785}"/>
              </a:ext>
            </a:extLst>
          </p:cNvPr>
          <p:cNvSpPr/>
          <p:nvPr/>
        </p:nvSpPr>
        <p:spPr bwMode="auto">
          <a:xfrm>
            <a:off x="1109883" y="19313"/>
            <a:ext cx="10696295" cy="806658"/>
          </a:xfrm>
          <a:prstGeom prst="roundRect">
            <a:avLst>
              <a:gd name="adj" fmla="val 10667"/>
            </a:avLst>
          </a:prstGeom>
          <a:solidFill>
            <a:srgbClr val="C00000"/>
          </a:solidFill>
          <a:ln/>
        </p:spPr>
        <p:txBody>
          <a:bodyPr/>
          <a:lstStyle/>
          <a:p>
            <a:endParaRPr lang="en-US"/>
          </a:p>
        </p:txBody>
      </p:sp>
      <p:sp>
        <p:nvSpPr>
          <p:cNvPr id="11" name="Rounded Rectangle 10"/>
          <p:cNvSpPr/>
          <p:nvPr/>
        </p:nvSpPr>
        <p:spPr>
          <a:xfrm>
            <a:off x="579121" y="898810"/>
            <a:ext cx="5455919" cy="254643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12" name="TextBox 11"/>
          <p:cNvSpPr txBox="1"/>
          <p:nvPr/>
        </p:nvSpPr>
        <p:spPr>
          <a:xfrm>
            <a:off x="769295" y="1001481"/>
            <a:ext cx="5082865" cy="2408352"/>
          </a:xfrm>
          <a:prstGeom prst="rect">
            <a:avLst/>
          </a:prstGeom>
          <a:noFill/>
        </p:spPr>
        <p:txBody>
          <a:bodyPr wrap="square" lIns="45720" rIns="45720" anchor="t">
            <a:spAutoFit/>
          </a:bodyPr>
          <a:lstStyle/>
          <a:p>
            <a:pPr algn="ctr">
              <a:spcAft>
                <a:spcPts val="600"/>
              </a:spcAft>
            </a:pPr>
            <a:r>
              <a:rPr sz="2400" b="1" i="0" dirty="0">
                <a:solidFill>
                  <a:srgbClr val="C00000"/>
                </a:solidFill>
                <a:latin typeface="Times New Roman" panose="02020603050405020304" pitchFamily="18" charset="0"/>
                <a:cs typeface="Times New Roman" panose="02020603050405020304" pitchFamily="18" charset="0"/>
              </a:rPr>
              <a:t>Spatial-temporal attention (BAM)</a:t>
            </a:r>
          </a:p>
          <a:p>
            <a:pPr algn="ctr">
              <a:spcAft>
                <a:spcPts val="300"/>
              </a:spcAft>
            </a:pPr>
            <a:r>
              <a:rPr sz="2000" b="0" i="0" dirty="0">
                <a:latin typeface="Times New Roman" panose="02020603050405020304" pitchFamily="18" charset="0"/>
                <a:cs typeface="Times New Roman" panose="02020603050405020304" pitchFamily="18" charset="0"/>
              </a:rPr>
              <a:t>X = [F₁ ‖ F₂]   (dates side by side)</a:t>
            </a:r>
          </a:p>
          <a:p>
            <a:pPr algn="ctr">
              <a:spcAft>
                <a:spcPts val="300"/>
              </a:spcAft>
            </a:pPr>
            <a:r>
              <a:rPr sz="2000" b="0" i="0" dirty="0">
                <a:latin typeface="Times New Roman" panose="02020603050405020304" pitchFamily="18" charset="0"/>
                <a:cs typeface="Times New Roman" panose="02020603050405020304" pitchFamily="18" charset="0"/>
              </a:rPr>
              <a:t>A = </a:t>
            </a:r>
            <a:r>
              <a:rPr sz="2000" b="0" i="0" dirty="0" err="1">
                <a:latin typeface="Times New Roman" panose="02020603050405020304" pitchFamily="18" charset="0"/>
                <a:cs typeface="Times New Roman" panose="02020603050405020304" pitchFamily="18" charset="0"/>
              </a:rPr>
              <a:t>softmax</a:t>
            </a:r>
            <a:r>
              <a:rPr sz="2000" b="0" i="0" dirty="0">
                <a:latin typeface="Times New Roman" panose="02020603050405020304" pitchFamily="18" charset="0"/>
                <a:cs typeface="Times New Roman" panose="02020603050405020304" pitchFamily="18" charset="0"/>
              </a:rPr>
              <a:t>(QᵀK / √d)</a:t>
            </a:r>
          </a:p>
          <a:p>
            <a:pPr algn="ctr">
              <a:spcAft>
                <a:spcPts val="300"/>
              </a:spcAft>
            </a:pPr>
            <a:r>
              <a:rPr sz="2000" b="0" i="0" dirty="0">
                <a:latin typeface="Times New Roman" panose="02020603050405020304" pitchFamily="18" charset="0"/>
                <a:cs typeface="Times New Roman" panose="02020603050405020304" pitchFamily="18" charset="0"/>
              </a:rPr>
              <a:t>X′ = X + γ · V Aᵀ,   γ = 0 at start</a:t>
            </a:r>
          </a:p>
          <a:p>
            <a:pPr algn="ctr">
              <a:spcAft>
                <a:spcPts val="600"/>
              </a:spcAft>
            </a:pPr>
            <a:r>
              <a:rPr b="1" dirty="0">
                <a:latin typeface="Times New Roman" panose="02020603050405020304" pitchFamily="18" charset="0"/>
                <a:cs typeface="Times New Roman" panose="02020603050405020304" pitchFamily="18" charset="0"/>
              </a:rPr>
              <a:t>Every pixel of either date can attend to every pixel of both dates; γ = 0 at start keeps ImageNet features intact.</a:t>
            </a:r>
          </a:p>
        </p:txBody>
      </p:sp>
      <p:sp>
        <p:nvSpPr>
          <p:cNvPr id="13" name="Rounded Rectangle 12"/>
          <p:cNvSpPr/>
          <p:nvPr/>
        </p:nvSpPr>
        <p:spPr>
          <a:xfrm>
            <a:off x="6156961" y="898810"/>
            <a:ext cx="5455919" cy="254643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14" name="TextBox 13"/>
          <p:cNvSpPr txBox="1"/>
          <p:nvPr/>
        </p:nvSpPr>
        <p:spPr>
          <a:xfrm>
            <a:off x="6347135" y="1058871"/>
            <a:ext cx="5082865" cy="2031325"/>
          </a:xfrm>
          <a:prstGeom prst="rect">
            <a:avLst/>
          </a:prstGeom>
          <a:noFill/>
        </p:spPr>
        <p:txBody>
          <a:bodyPr wrap="square" lIns="45720" rIns="45720" anchor="t">
            <a:spAutoFit/>
          </a:bodyPr>
          <a:lstStyle/>
          <a:p>
            <a:pPr algn="ctr">
              <a:spcAft>
                <a:spcPts val="600"/>
              </a:spcAft>
            </a:pPr>
            <a:r>
              <a:rPr sz="2800" b="1" i="0" dirty="0">
                <a:solidFill>
                  <a:srgbClr val="C00000"/>
                </a:solidFill>
                <a:latin typeface="Times New Roman" panose="02020603050405020304" pitchFamily="18" charset="0"/>
                <a:cs typeface="Times New Roman" panose="02020603050405020304" pitchFamily="18" charset="0"/>
              </a:rPr>
              <a:t>Siam-</a:t>
            </a:r>
            <a:r>
              <a:rPr sz="2800" b="1" i="0" dirty="0" err="1">
                <a:solidFill>
                  <a:srgbClr val="C00000"/>
                </a:solidFill>
                <a:latin typeface="Times New Roman" panose="02020603050405020304" pitchFamily="18" charset="0"/>
                <a:cs typeface="Times New Roman" panose="02020603050405020304" pitchFamily="18" charset="0"/>
              </a:rPr>
              <a:t>Concat</a:t>
            </a:r>
            <a:r>
              <a:rPr sz="2800" b="1" i="0" dirty="0">
                <a:solidFill>
                  <a:srgbClr val="C00000"/>
                </a:solidFill>
                <a:latin typeface="Times New Roman" panose="02020603050405020304" pitchFamily="18" charset="0"/>
                <a:cs typeface="Times New Roman" panose="02020603050405020304" pitchFamily="18" charset="0"/>
              </a:rPr>
              <a:t> </a:t>
            </a:r>
            <a:r>
              <a:rPr lang="en-US" sz="2800" b="1" i="0" dirty="0">
                <a:solidFill>
                  <a:srgbClr val="C00000"/>
                </a:solidFill>
                <a:latin typeface="Times New Roman" panose="02020603050405020304" pitchFamily="18" charset="0"/>
                <a:cs typeface="Times New Roman" panose="02020603050405020304" pitchFamily="18" charset="0"/>
              </a:rPr>
              <a:t>F</a:t>
            </a:r>
            <a:r>
              <a:rPr sz="2800" b="1" i="0" dirty="0">
                <a:solidFill>
                  <a:srgbClr val="C00000"/>
                </a:solidFill>
                <a:latin typeface="Times New Roman" panose="02020603050405020304" pitchFamily="18" charset="0"/>
                <a:cs typeface="Times New Roman" panose="02020603050405020304" pitchFamily="18" charset="0"/>
              </a:rPr>
              <a:t>usion</a:t>
            </a:r>
          </a:p>
          <a:p>
            <a:pPr algn="ctr">
              <a:spcAft>
                <a:spcPts val="300"/>
              </a:spcAft>
            </a:pPr>
            <a:r>
              <a:rPr sz="2400" b="0" i="0" dirty="0">
                <a:latin typeface="Times New Roman" panose="02020603050405020304" pitchFamily="18" charset="0"/>
                <a:cs typeface="Times New Roman" panose="02020603050405020304" pitchFamily="18" charset="0"/>
              </a:rPr>
              <a:t>D = |F₁′ − F₂′|</a:t>
            </a:r>
          </a:p>
          <a:p>
            <a:pPr algn="ctr">
              <a:spcAft>
                <a:spcPts val="300"/>
              </a:spcAft>
            </a:pPr>
            <a:r>
              <a:rPr sz="2400" b="0" i="0" dirty="0">
                <a:latin typeface="Times New Roman" panose="02020603050405020304" pitchFamily="18" charset="0"/>
                <a:cs typeface="Times New Roman" panose="02020603050405020304" pitchFamily="18" charset="0"/>
              </a:rPr>
              <a:t>F = </a:t>
            </a:r>
            <a:r>
              <a:rPr sz="2400" b="0" i="0" dirty="0" err="1">
                <a:latin typeface="Times New Roman" panose="02020603050405020304" pitchFamily="18" charset="0"/>
                <a:cs typeface="Times New Roman" panose="02020603050405020304" pitchFamily="18" charset="0"/>
              </a:rPr>
              <a:t>ReLU</a:t>
            </a:r>
            <a:r>
              <a:rPr sz="2400" b="0" i="0" dirty="0">
                <a:latin typeface="Times New Roman" panose="02020603050405020304" pitchFamily="18" charset="0"/>
                <a:cs typeface="Times New Roman" panose="02020603050405020304" pitchFamily="18" charset="0"/>
              </a:rPr>
              <a:t>(BN(W₁ₓ₁ ∗ [F₁′, F₂′, D]))</a:t>
            </a:r>
          </a:p>
          <a:p>
            <a:pPr algn="ctr">
              <a:spcAft>
                <a:spcPts val="600"/>
              </a:spcAft>
            </a:pPr>
            <a:r>
              <a:rPr sz="2000" b="1" dirty="0">
                <a:latin typeface="Times New Roman" panose="02020603050405020304" pitchFamily="18" charset="0"/>
                <a:cs typeface="Times New Roman" panose="02020603050405020304" pitchFamily="18" charset="0"/>
              </a:rPr>
              <a:t>Keeps the appearance of both dates and their difference instead of the difference only.</a:t>
            </a:r>
          </a:p>
        </p:txBody>
      </p:sp>
      <p:sp>
        <p:nvSpPr>
          <p:cNvPr id="15" name="Rounded Rectangle 14"/>
          <p:cNvSpPr/>
          <p:nvPr/>
        </p:nvSpPr>
        <p:spPr>
          <a:xfrm>
            <a:off x="518162" y="3532907"/>
            <a:ext cx="5455919" cy="2578314"/>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16" name="TextBox 15"/>
          <p:cNvSpPr txBox="1"/>
          <p:nvPr/>
        </p:nvSpPr>
        <p:spPr>
          <a:xfrm>
            <a:off x="609601" y="3464553"/>
            <a:ext cx="5273039" cy="2731517"/>
          </a:xfrm>
          <a:prstGeom prst="rect">
            <a:avLst/>
          </a:prstGeom>
          <a:noFill/>
        </p:spPr>
        <p:txBody>
          <a:bodyPr wrap="square" lIns="45720" rIns="45720" anchor="t">
            <a:spAutoFit/>
          </a:bodyPr>
          <a:lstStyle/>
          <a:p>
            <a:pPr algn="ctr">
              <a:spcAft>
                <a:spcPts val="600"/>
              </a:spcAft>
            </a:pPr>
            <a:r>
              <a:rPr sz="2200" b="1" i="0" dirty="0">
                <a:solidFill>
                  <a:srgbClr val="C00000"/>
                </a:solidFill>
                <a:latin typeface="Times New Roman" panose="02020603050405020304" pitchFamily="18" charset="0"/>
                <a:cs typeface="Times New Roman" panose="02020603050405020304" pitchFamily="18" charset="0"/>
              </a:rPr>
              <a:t>Multi-task loss</a:t>
            </a:r>
          </a:p>
          <a:p>
            <a:pPr algn="ctr">
              <a:spcAft>
                <a:spcPts val="300"/>
              </a:spcAft>
            </a:pPr>
            <a:r>
              <a:rPr sz="2000" b="0" i="0" dirty="0">
                <a:latin typeface="Times New Roman" panose="02020603050405020304" pitchFamily="18" charset="0"/>
                <a:cs typeface="Times New Roman" panose="02020603050405020304" pitchFamily="18" charset="0"/>
              </a:rPr>
              <a:t>L = L(BCE) + L(Dice) + 0.4 · L(edge)</a:t>
            </a:r>
          </a:p>
          <a:p>
            <a:pPr algn="ctr">
              <a:spcAft>
                <a:spcPts val="300"/>
              </a:spcAft>
            </a:pPr>
            <a:r>
              <a:rPr sz="2000" b="0" i="0" dirty="0">
                <a:latin typeface="Times New Roman" panose="02020603050405020304" pitchFamily="18" charset="0"/>
                <a:cs typeface="Times New Roman" panose="02020603050405020304" pitchFamily="18" charset="0"/>
              </a:rPr>
              <a:t>L(Dice) = 1 − (2Σpy + 1) / (</a:t>
            </a:r>
            <a:r>
              <a:rPr sz="2000" b="0" i="0" dirty="0" err="1">
                <a:latin typeface="Times New Roman" panose="02020603050405020304" pitchFamily="18" charset="0"/>
                <a:cs typeface="Times New Roman" panose="02020603050405020304" pitchFamily="18" charset="0"/>
              </a:rPr>
              <a:t>Σp</a:t>
            </a:r>
            <a:r>
              <a:rPr sz="2000" b="0" i="0" dirty="0">
                <a:latin typeface="Times New Roman" panose="02020603050405020304" pitchFamily="18" charset="0"/>
                <a:cs typeface="Times New Roman" panose="02020603050405020304" pitchFamily="18" charset="0"/>
              </a:rPr>
              <a:t> + </a:t>
            </a:r>
            <a:r>
              <a:rPr sz="2000" b="0" i="0" dirty="0" err="1">
                <a:latin typeface="Times New Roman" panose="02020603050405020304" pitchFamily="18" charset="0"/>
                <a:cs typeface="Times New Roman" panose="02020603050405020304" pitchFamily="18" charset="0"/>
              </a:rPr>
              <a:t>Σy</a:t>
            </a:r>
            <a:r>
              <a:rPr sz="2000" b="0" i="0" dirty="0">
                <a:latin typeface="Times New Roman" panose="02020603050405020304" pitchFamily="18" charset="0"/>
                <a:cs typeface="Times New Roman" panose="02020603050405020304" pitchFamily="18" charset="0"/>
              </a:rPr>
              <a:t> + 1)</a:t>
            </a:r>
          </a:p>
          <a:p>
            <a:pPr algn="ctr">
              <a:spcAft>
                <a:spcPts val="300"/>
              </a:spcAft>
            </a:pPr>
            <a:r>
              <a:rPr sz="2000" b="0" i="0" dirty="0">
                <a:latin typeface="Times New Roman" panose="02020603050405020304" pitchFamily="18" charset="0"/>
                <a:cs typeface="Times New Roman" panose="02020603050405020304" pitchFamily="18" charset="0"/>
              </a:rPr>
              <a:t>L(edge): β-weighted BCE,  β = |Y⁻| / |Y|</a:t>
            </a:r>
          </a:p>
          <a:p>
            <a:pPr algn="ctr">
              <a:spcAft>
                <a:spcPts val="600"/>
              </a:spcAft>
            </a:pPr>
            <a:r>
              <a:rPr sz="2200" b="1" dirty="0">
                <a:latin typeface="Times New Roman" panose="02020603050405020304" pitchFamily="18" charset="0"/>
                <a:cs typeface="Times New Roman" panose="02020603050405020304" pitchFamily="18" charset="0"/>
              </a:rPr>
              <a:t>Dice fights the 95 % background; </a:t>
            </a:r>
            <a:endParaRPr lang="en-US" sz="2200" b="1" dirty="0">
              <a:latin typeface="Times New Roman" panose="02020603050405020304" pitchFamily="18" charset="0"/>
              <a:cs typeface="Times New Roman" panose="02020603050405020304" pitchFamily="18" charset="0"/>
            </a:endParaRPr>
          </a:p>
          <a:p>
            <a:pPr algn="ctr">
              <a:spcAft>
                <a:spcPts val="600"/>
              </a:spcAft>
            </a:pPr>
            <a:r>
              <a:rPr sz="2200" b="1" dirty="0">
                <a:latin typeface="Times New Roman" panose="02020603050405020304" pitchFamily="18" charset="0"/>
                <a:cs typeface="Times New Roman" panose="02020603050405020304" pitchFamily="18" charset="0"/>
              </a:rPr>
              <a:t>class-balanced BCE makes the rare edge pixels count.</a:t>
            </a:r>
          </a:p>
        </p:txBody>
      </p:sp>
      <p:sp>
        <p:nvSpPr>
          <p:cNvPr id="17" name="Rounded Rectangle 16"/>
          <p:cNvSpPr/>
          <p:nvPr/>
        </p:nvSpPr>
        <p:spPr>
          <a:xfrm>
            <a:off x="6156960" y="3532907"/>
            <a:ext cx="5455919" cy="254643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18" name="TextBox 17"/>
          <p:cNvSpPr txBox="1"/>
          <p:nvPr/>
        </p:nvSpPr>
        <p:spPr>
          <a:xfrm>
            <a:off x="6347135" y="3573472"/>
            <a:ext cx="5082865" cy="2131353"/>
          </a:xfrm>
          <a:prstGeom prst="rect">
            <a:avLst/>
          </a:prstGeom>
          <a:noFill/>
        </p:spPr>
        <p:txBody>
          <a:bodyPr wrap="square" lIns="45720" rIns="45720" anchor="t">
            <a:spAutoFit/>
          </a:bodyPr>
          <a:lstStyle/>
          <a:p>
            <a:pPr algn="ctr">
              <a:spcAft>
                <a:spcPts val="600"/>
              </a:spcAft>
            </a:pPr>
            <a:r>
              <a:rPr sz="2800" b="1" i="0" dirty="0">
                <a:solidFill>
                  <a:srgbClr val="C00000"/>
                </a:solidFill>
                <a:latin typeface="Times New Roman" panose="02020603050405020304" pitchFamily="18" charset="0"/>
                <a:cs typeface="Times New Roman" panose="02020603050405020304" pitchFamily="18" charset="0"/>
              </a:rPr>
              <a:t>Evaluation metrics</a:t>
            </a:r>
          </a:p>
          <a:p>
            <a:pPr algn="ctr">
              <a:spcAft>
                <a:spcPts val="300"/>
              </a:spcAft>
            </a:pPr>
            <a:r>
              <a:rPr sz="2400" b="0" i="0" dirty="0">
                <a:latin typeface="Times New Roman" panose="02020603050405020304" pitchFamily="18" charset="0"/>
                <a:cs typeface="Times New Roman" panose="02020603050405020304" pitchFamily="18" charset="0"/>
              </a:rPr>
              <a:t>P = TP/(TP+FP),  R = TP/(TP+FN)</a:t>
            </a:r>
          </a:p>
          <a:p>
            <a:pPr algn="ctr">
              <a:spcAft>
                <a:spcPts val="300"/>
              </a:spcAft>
            </a:pPr>
            <a:r>
              <a:rPr sz="2400" b="0" i="0" dirty="0">
                <a:latin typeface="Times New Roman" panose="02020603050405020304" pitchFamily="18" charset="0"/>
                <a:cs typeface="Times New Roman" panose="02020603050405020304" pitchFamily="18" charset="0"/>
              </a:rPr>
              <a:t>F1 = 2PR/(P+R)</a:t>
            </a:r>
            <a:endParaRPr lang="en-US" sz="2400" b="0" i="0" dirty="0">
              <a:latin typeface="Times New Roman" panose="02020603050405020304" pitchFamily="18" charset="0"/>
              <a:cs typeface="Times New Roman" panose="02020603050405020304" pitchFamily="18" charset="0"/>
            </a:endParaRPr>
          </a:p>
          <a:p>
            <a:pPr algn="ctr">
              <a:spcAft>
                <a:spcPts val="300"/>
              </a:spcAft>
            </a:pPr>
            <a:r>
              <a:rPr sz="2400" b="0" i="0" dirty="0" err="1">
                <a:latin typeface="Times New Roman" panose="02020603050405020304" pitchFamily="18" charset="0"/>
                <a:cs typeface="Times New Roman" panose="02020603050405020304" pitchFamily="18" charset="0"/>
              </a:rPr>
              <a:t>IoU</a:t>
            </a:r>
            <a:r>
              <a:rPr sz="2400" b="0" i="0" dirty="0">
                <a:latin typeface="Times New Roman" panose="02020603050405020304" pitchFamily="18" charset="0"/>
                <a:cs typeface="Times New Roman" panose="02020603050405020304" pitchFamily="18" charset="0"/>
              </a:rPr>
              <a:t> = TP/(TP+FP+FN)</a:t>
            </a:r>
          </a:p>
          <a:p>
            <a:pPr algn="ctr">
              <a:spcAft>
                <a:spcPts val="600"/>
              </a:spcAft>
            </a:pPr>
            <a:r>
              <a:rPr sz="2000" b="1" dirty="0">
                <a:latin typeface="Times New Roman" panose="02020603050405020304" pitchFamily="18" charset="0"/>
                <a:cs typeface="Times New Roman" panose="02020603050405020304" pitchFamily="18" charset="0"/>
              </a:rPr>
              <a:t>Computed over all test pixels (</a:t>
            </a:r>
            <a:r>
              <a:rPr lang="en-US" sz="2000" b="1" dirty="0">
                <a:latin typeface="Times New Roman" panose="02020603050405020304" pitchFamily="18" charset="0"/>
                <a:cs typeface="Times New Roman" panose="02020603050405020304" pitchFamily="18" charset="0"/>
              </a:rPr>
              <a:t>D</a:t>
            </a:r>
            <a:r>
              <a:rPr sz="2000" b="1" dirty="0">
                <a:latin typeface="Times New Roman" panose="02020603050405020304" pitchFamily="18" charset="0"/>
                <a:cs typeface="Times New Roman" panose="02020603050405020304" pitchFamily="18" charset="0"/>
              </a:rPr>
              <a:t>ataset level)</a:t>
            </a:r>
          </a:p>
        </p:txBody>
      </p:sp>
      <p:sp>
        <p:nvSpPr>
          <p:cNvPr id="4" name="TextBox 3">
            <a:extLst>
              <a:ext uri="{FF2B5EF4-FFF2-40B4-BE49-F238E27FC236}">
                <a16:creationId xmlns:a16="http://schemas.microsoft.com/office/drawing/2014/main" id="{5A7A2004-D09D-7402-73CD-5810294783F4}"/>
              </a:ext>
            </a:extLst>
          </p:cNvPr>
          <p:cNvSpPr txBox="1"/>
          <p:nvPr/>
        </p:nvSpPr>
        <p:spPr>
          <a:xfrm>
            <a:off x="1263378" y="0"/>
            <a:ext cx="10625173" cy="707886"/>
          </a:xfrm>
          <a:prstGeom prst="rect">
            <a:avLst/>
          </a:prstGeom>
          <a:noFill/>
        </p:spPr>
        <p:txBody>
          <a:bodyPr wrap="square">
            <a:spAutoFit/>
          </a:bodyPr>
          <a:lstStyle/>
          <a:p>
            <a:r>
              <a:rPr lang="en-US" sz="4000" dirty="0">
                <a:solidFill>
                  <a:schemeClr val="bg1"/>
                </a:solidFill>
                <a:latin typeface="Times New Roman" panose="02020603050405020304" pitchFamily="18" charset="0"/>
                <a:cs typeface="Times New Roman" panose="02020603050405020304" pitchFamily="18" charset="0"/>
              </a:rPr>
              <a:t>3.2.5 Design Methods: Attention, Fusion, Loss</a:t>
            </a:r>
          </a:p>
        </p:txBody>
      </p:sp>
      <p:sp>
        <p:nvSpPr>
          <p:cNvPr id="20" name="Rectangle 19"/>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22" name="TextBox 21"/>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23" name="TextBox 22"/>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2206119</a:t>
            </a:r>
          </a:p>
        </p:txBody>
      </p:sp>
      <p:sp>
        <p:nvSpPr>
          <p:cNvPr id="24" name="TextBox 23"/>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D1068C80-769A-47CB-9F25-BDED0FADDF92}" type="slidenum">
              <a:rPr lang="en-US" sz="1300" b="1">
                <a:solidFill>
                  <a:srgbClr val="FFFFFF"/>
                </a:solidFill>
                <a:latin typeface="Times New Roman"/>
              </a:rPr>
              <a:t>‹#›</a:t>
            </a:fld>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8267" y="332206"/>
            <a:ext cx="7241203" cy="729006"/>
          </a:xfrm>
        </p:spPr>
        <p:txBody>
          <a:bodyPr/>
          <a:lstStyle/>
          <a:p>
            <a:r>
              <a:rPr sz="3200" b="1" dirty="0">
                <a:solidFill>
                  <a:srgbClr val="C00000"/>
                </a:solidFill>
                <a:latin typeface="Times New Roman" panose="02020603050405020304" pitchFamily="18" charset="0"/>
                <a:cs typeface="Times New Roman" panose="02020603050405020304" pitchFamily="18" charset="0"/>
              </a:rPr>
              <a:t>3.3 Design: Training and Inference</a:t>
            </a:r>
          </a:p>
        </p:txBody>
      </p:sp>
      <p:sp>
        <p:nvSpPr>
          <p:cNvPr id="11" name="TextBox 10"/>
          <p:cNvSpPr txBox="1"/>
          <p:nvPr/>
        </p:nvSpPr>
        <p:spPr>
          <a:xfrm>
            <a:off x="122548" y="1117006"/>
            <a:ext cx="5409572" cy="5139869"/>
          </a:xfrm>
          <a:prstGeom prst="rect">
            <a:avLst/>
          </a:prstGeom>
          <a:noFill/>
        </p:spPr>
        <p:txBody>
          <a:bodyPr wrap="square" lIns="45720" rIns="45720" anchor="t">
            <a:spAutoFit/>
          </a:bodyPr>
          <a:lstStyle/>
          <a:p>
            <a:pPr algn="l">
              <a:spcAft>
                <a:spcPts val="600"/>
              </a:spcAft>
            </a:pPr>
            <a:r>
              <a:rPr sz="2400" b="1" i="0" dirty="0">
                <a:solidFill>
                  <a:srgbClr val="C00000"/>
                </a:solidFill>
                <a:latin typeface="Times New Roman" panose="02020603050405020304" pitchFamily="18" charset="0"/>
                <a:cs typeface="Times New Roman" panose="02020603050405020304" pitchFamily="18" charset="0"/>
              </a:rPr>
              <a:t>Training</a:t>
            </a:r>
          </a:p>
          <a:p>
            <a:pPr marL="228600" indent="-201168" algn="l">
              <a:spcAft>
                <a:spcPts val="600"/>
              </a:spcAft>
              <a:buClr>
                <a:srgbClr val="C00000"/>
              </a:buClr>
              <a:buChar char="▪"/>
            </a:pPr>
            <a:r>
              <a:rPr sz="2000" b="0" i="0" dirty="0">
                <a:solidFill>
                  <a:srgbClr val="262B33"/>
                </a:solidFill>
                <a:latin typeface="Times New Roman" panose="02020603050405020304" pitchFamily="18" charset="0"/>
                <a:cs typeface="Times New Roman" panose="02020603050405020304" pitchFamily="18" charset="0"/>
              </a:rPr>
              <a:t>Native-resolution 256 × 256 random crops, 4 per image per epoch; 30 % </a:t>
            </a:r>
            <a:r>
              <a:rPr sz="2000" b="0" i="0" dirty="0" err="1">
                <a:solidFill>
                  <a:srgbClr val="262B33"/>
                </a:solidFill>
                <a:latin typeface="Times New Roman" panose="02020603050405020304" pitchFamily="18" charset="0"/>
                <a:cs typeface="Times New Roman" panose="02020603050405020304" pitchFamily="18" charset="0"/>
              </a:rPr>
              <a:t>centred</a:t>
            </a:r>
            <a:r>
              <a:rPr sz="2000" b="0" i="0" dirty="0">
                <a:solidFill>
                  <a:srgbClr val="262B33"/>
                </a:solidFill>
                <a:latin typeface="Times New Roman" panose="02020603050405020304" pitchFamily="18" charset="0"/>
                <a:cs typeface="Times New Roman" panose="02020603050405020304" pitchFamily="18" charset="0"/>
              </a:rPr>
              <a:t> on a change</a:t>
            </a:r>
          </a:p>
          <a:p>
            <a:pPr marL="228600" indent="-201168" algn="l">
              <a:spcAft>
                <a:spcPts val="600"/>
              </a:spcAft>
              <a:buClr>
                <a:srgbClr val="C00000"/>
              </a:buClr>
              <a:buChar char="▪"/>
            </a:pPr>
            <a:r>
              <a:rPr sz="2000" b="0" i="0" dirty="0" err="1">
                <a:solidFill>
                  <a:srgbClr val="262B33"/>
                </a:solidFill>
                <a:latin typeface="Times New Roman" panose="02020603050405020304" pitchFamily="18" charset="0"/>
                <a:cs typeface="Times New Roman" panose="02020603050405020304" pitchFamily="18" charset="0"/>
              </a:rPr>
              <a:t>Synchronised</a:t>
            </a:r>
            <a:r>
              <a:rPr sz="2000" b="0" i="0" dirty="0">
                <a:solidFill>
                  <a:srgbClr val="262B33"/>
                </a:solidFill>
                <a:latin typeface="Times New Roman" panose="02020603050405020304" pitchFamily="18" charset="0"/>
                <a:cs typeface="Times New Roman" panose="02020603050405020304" pitchFamily="18" charset="0"/>
              </a:rPr>
              <a:t> flips / 90° rotations; independent brightness–contrast–</a:t>
            </a:r>
            <a:r>
              <a:rPr sz="2000" b="0" i="0" dirty="0" err="1">
                <a:solidFill>
                  <a:srgbClr val="262B33"/>
                </a:solidFill>
                <a:latin typeface="Times New Roman" panose="02020603050405020304" pitchFamily="18" charset="0"/>
                <a:cs typeface="Times New Roman" panose="02020603050405020304" pitchFamily="18" charset="0"/>
              </a:rPr>
              <a:t>colour</a:t>
            </a:r>
            <a:r>
              <a:rPr sz="2000" b="0" i="0" dirty="0">
                <a:solidFill>
                  <a:srgbClr val="262B33"/>
                </a:solidFill>
                <a:latin typeface="Times New Roman" panose="02020603050405020304" pitchFamily="18" charset="0"/>
                <a:cs typeface="Times New Roman" panose="02020603050405020304" pitchFamily="18" charset="0"/>
              </a:rPr>
              <a:t> jitter per date</a:t>
            </a:r>
          </a:p>
          <a:p>
            <a:pPr marL="228600" indent="-201168" algn="l">
              <a:spcAft>
                <a:spcPts val="600"/>
              </a:spcAft>
              <a:buClr>
                <a:srgbClr val="C00000"/>
              </a:buClr>
              <a:buChar char="▪"/>
            </a:pPr>
            <a:r>
              <a:rPr sz="2000" b="0" i="0" dirty="0" err="1">
                <a:solidFill>
                  <a:srgbClr val="262B33"/>
                </a:solidFill>
                <a:latin typeface="Times New Roman" panose="02020603050405020304" pitchFamily="18" charset="0"/>
                <a:cs typeface="Times New Roman" panose="02020603050405020304" pitchFamily="18" charset="0"/>
              </a:rPr>
              <a:t>AdamW</a:t>
            </a:r>
            <a:r>
              <a:rPr sz="2000" b="0" i="0" dirty="0">
                <a:solidFill>
                  <a:srgbClr val="262B33"/>
                </a:solidFill>
                <a:latin typeface="Times New Roman" panose="02020603050405020304" pitchFamily="18" charset="0"/>
                <a:cs typeface="Times New Roman" panose="02020603050405020304" pitchFamily="18" charset="0"/>
              </a:rPr>
              <a:t>, </a:t>
            </a:r>
            <a:r>
              <a:rPr sz="2000" b="0" i="0" dirty="0" err="1">
                <a:solidFill>
                  <a:srgbClr val="262B33"/>
                </a:solidFill>
                <a:latin typeface="Times New Roman" panose="02020603050405020304" pitchFamily="18" charset="0"/>
                <a:cs typeface="Times New Roman" panose="02020603050405020304" pitchFamily="18" charset="0"/>
              </a:rPr>
              <a:t>lr</a:t>
            </a:r>
            <a:r>
              <a:rPr sz="2000" b="0" i="0" dirty="0">
                <a:solidFill>
                  <a:srgbClr val="262B33"/>
                </a:solidFill>
                <a:latin typeface="Times New Roman" panose="02020603050405020304" pitchFamily="18" charset="0"/>
                <a:cs typeface="Times New Roman" panose="02020603050405020304" pitchFamily="18" charset="0"/>
              </a:rPr>
              <a:t> 1e-4, warm-up + cosine decay, batch 4, gradient clipping</a:t>
            </a:r>
          </a:p>
          <a:p>
            <a:pPr marL="228600" indent="-201168" algn="l">
              <a:spcAft>
                <a:spcPts val="600"/>
              </a:spcAft>
              <a:buClr>
                <a:srgbClr val="C00000"/>
              </a:buClr>
              <a:buChar char="▪"/>
            </a:pPr>
            <a:r>
              <a:rPr sz="2000" b="0" i="0" dirty="0">
                <a:solidFill>
                  <a:srgbClr val="262B33"/>
                </a:solidFill>
                <a:latin typeface="Times New Roman" panose="02020603050405020304" pitchFamily="18" charset="0"/>
                <a:cs typeface="Times New Roman" panose="02020603050405020304" pitchFamily="18" charset="0"/>
              </a:rPr>
              <a:t>Apple M-series GPU (MPS): ≈ 6.3 min/epoch; early stop at epoch 47, best at 32</a:t>
            </a:r>
          </a:p>
          <a:p>
            <a:pPr algn="l">
              <a:spcAft>
                <a:spcPts val="600"/>
              </a:spcAft>
            </a:pPr>
            <a:r>
              <a:rPr sz="2400" b="1" i="0" dirty="0">
                <a:solidFill>
                  <a:srgbClr val="C00000"/>
                </a:solidFill>
                <a:latin typeface="Times New Roman" panose="02020603050405020304" pitchFamily="18" charset="0"/>
                <a:cs typeface="Times New Roman" panose="02020603050405020304" pitchFamily="18" charset="0"/>
              </a:rPr>
              <a:t>Inference</a:t>
            </a:r>
          </a:p>
          <a:p>
            <a:pPr marL="228600" indent="-201168" algn="l">
              <a:spcAft>
                <a:spcPts val="600"/>
              </a:spcAft>
              <a:buClr>
                <a:srgbClr val="C00000"/>
              </a:buClr>
              <a:buChar char="▪"/>
            </a:pPr>
            <a:r>
              <a:rPr sz="2000" b="0" i="0" dirty="0">
                <a:solidFill>
                  <a:srgbClr val="262B33"/>
                </a:solidFill>
                <a:latin typeface="Times New Roman" panose="02020603050405020304" pitchFamily="18" charset="0"/>
                <a:cs typeface="Times New Roman" panose="02020603050405020304" pitchFamily="18" charset="0"/>
              </a:rPr>
              <a:t>Full 1024 × 1024 images, 256-px tiles with 64-px overlap</a:t>
            </a:r>
          </a:p>
          <a:p>
            <a:pPr marL="228600" indent="-201168" algn="l">
              <a:spcAft>
                <a:spcPts val="600"/>
              </a:spcAft>
              <a:buClr>
                <a:srgbClr val="C00000"/>
              </a:buClr>
              <a:buChar char="▪"/>
            </a:pPr>
            <a:r>
              <a:rPr sz="2000" b="0" i="0" dirty="0">
                <a:solidFill>
                  <a:srgbClr val="262B33"/>
                </a:solidFill>
                <a:latin typeface="Times New Roman" panose="02020603050405020304" pitchFamily="18" charset="0"/>
                <a:cs typeface="Times New Roman" panose="02020603050405020304" pitchFamily="18" charset="0"/>
              </a:rPr>
              <a:t>Test-time augmentation: average of 4 flips</a:t>
            </a:r>
          </a:p>
          <a:p>
            <a:pPr marL="228600" indent="-201168" algn="l">
              <a:spcAft>
                <a:spcPts val="600"/>
              </a:spcAft>
              <a:buClr>
                <a:srgbClr val="C00000"/>
              </a:buClr>
              <a:buChar char="▪"/>
            </a:pPr>
            <a:r>
              <a:rPr sz="2000" b="0" i="0" dirty="0">
                <a:solidFill>
                  <a:srgbClr val="262B33"/>
                </a:solidFill>
                <a:latin typeface="Times New Roman" panose="02020603050405020304" pitchFamily="18" charset="0"/>
                <a:cs typeface="Times New Roman" panose="02020603050405020304" pitchFamily="18" charset="0"/>
              </a:rPr>
              <a:t>Threshold 0.41 chosen on the validation set only</a:t>
            </a:r>
          </a:p>
        </p:txBody>
      </p:sp>
      <p:graphicFrame>
        <p:nvGraphicFramePr>
          <p:cNvPr id="12" name="Chart 11"/>
          <p:cNvGraphicFramePr>
            <a:graphicFrameLocks noGrp="1"/>
          </p:cNvGraphicFramePr>
          <p:nvPr/>
        </p:nvGraphicFramePr>
        <p:xfrm>
          <a:off x="5429053" y="1071285"/>
          <a:ext cx="6640399" cy="5139869"/>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5" name="TextBox 14"/>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6" name="TextBox 15"/>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2206119</a:t>
            </a:r>
          </a:p>
        </p:txBody>
      </p:sp>
      <p:sp>
        <p:nvSpPr>
          <p:cNvPr id="17" name="TextBox 16"/>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E70F1615-59B8-4556-8A48-746C53A84C64}" type="slidenum">
              <a:rPr lang="en-US" sz="1300" b="1">
                <a:solidFill>
                  <a:srgbClr val="FFFFFF"/>
                </a:solidFill>
                <a:latin typeface="Times New Roman"/>
              </a:rPr>
              <a:t>‹#›</a:t>
            </a:fld>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85800" y="1097280"/>
            <a:ext cx="4206240" cy="4906471"/>
          </a:xfrm>
          <a:prstGeom prst="rect">
            <a:avLst/>
          </a:prstGeom>
          <a:noFill/>
        </p:spPr>
        <p:txBody>
          <a:bodyPr wrap="square" lIns="45720" rIns="45720" anchor="t">
            <a:spAutoFit/>
          </a:bodyPr>
          <a:lstStyle/>
          <a:p>
            <a:pPr algn="l">
              <a:spcAft>
                <a:spcPts val="700"/>
              </a:spcAft>
            </a:pPr>
            <a:r>
              <a:rPr sz="2000" b="1" i="0" dirty="0">
                <a:solidFill>
                  <a:srgbClr val="C00000"/>
                </a:solidFill>
                <a:latin typeface="Times New Roman" panose="02020603050405020304" pitchFamily="18" charset="0"/>
                <a:cs typeface="Times New Roman" panose="02020603050405020304" pitchFamily="18" charset="0"/>
              </a:rPr>
              <a:t>PyQt5 desktop application</a:t>
            </a:r>
          </a:p>
          <a:p>
            <a:pPr marL="228600" indent="-201168" algn="l">
              <a:spcAft>
                <a:spcPts val="700"/>
              </a:spcAft>
              <a:buClr>
                <a:srgbClr val="C00000"/>
              </a:buClr>
              <a:buChar char="▪"/>
            </a:pPr>
            <a:r>
              <a:rPr b="0" i="0" dirty="0">
                <a:solidFill>
                  <a:srgbClr val="262B33"/>
                </a:solidFill>
                <a:latin typeface="Times New Roman" panose="02020603050405020304" pitchFamily="18" charset="0"/>
                <a:cs typeface="Times New Roman" panose="02020603050405020304" pitchFamily="18" charset="0"/>
              </a:rPr>
              <a:t>Load Before / After (and optional ground truth)</a:t>
            </a:r>
          </a:p>
          <a:p>
            <a:pPr marL="228600" indent="-201168" algn="l">
              <a:spcAft>
                <a:spcPts val="700"/>
              </a:spcAft>
              <a:buClr>
                <a:srgbClr val="C00000"/>
              </a:buClr>
              <a:buChar char="▪"/>
            </a:pPr>
            <a:r>
              <a:rPr b="0" i="0" dirty="0">
                <a:solidFill>
                  <a:srgbClr val="262B33"/>
                </a:solidFill>
                <a:latin typeface="Times New Roman" panose="02020603050405020304" pitchFamily="18" charset="0"/>
                <a:cs typeface="Times New Roman" panose="02020603050405020304" pitchFamily="18" charset="0"/>
              </a:rPr>
              <a:t>Model menu: v2 4-ch (final), v2 3-ch, old v1, two v1 + v2 ensembles</a:t>
            </a:r>
          </a:p>
          <a:p>
            <a:pPr marL="228600" indent="-201168" algn="l">
              <a:spcAft>
                <a:spcPts val="700"/>
              </a:spcAft>
              <a:buClr>
                <a:srgbClr val="C00000"/>
              </a:buClr>
              <a:buChar char="▪"/>
            </a:pPr>
            <a:r>
              <a:rPr b="0" i="0" dirty="0">
                <a:solidFill>
                  <a:srgbClr val="262B33"/>
                </a:solidFill>
                <a:latin typeface="Times New Roman" panose="02020603050405020304" pitchFamily="18" charset="0"/>
                <a:cs typeface="Times New Roman" panose="02020603050405020304" pitchFamily="18" charset="0"/>
              </a:rPr>
              <a:t>“Compare all models” – every model side by side on one pair</a:t>
            </a:r>
          </a:p>
          <a:p>
            <a:pPr marL="228600" indent="-201168" algn="l">
              <a:spcAft>
                <a:spcPts val="700"/>
              </a:spcAft>
              <a:buClr>
                <a:srgbClr val="C00000"/>
              </a:buClr>
              <a:buChar char="▪"/>
            </a:pPr>
            <a:r>
              <a:rPr b="0" i="0" dirty="0">
                <a:solidFill>
                  <a:srgbClr val="262B33"/>
                </a:solidFill>
                <a:latin typeface="Times New Roman" panose="02020603050405020304" pitchFamily="18" charset="0"/>
                <a:cs typeface="Times New Roman" panose="02020603050405020304" pitchFamily="18" charset="0"/>
              </a:rPr>
              <a:t>Overlay on the Before (default) or After image</a:t>
            </a:r>
          </a:p>
          <a:p>
            <a:pPr marL="228600" indent="-201168" algn="l">
              <a:spcAft>
                <a:spcPts val="700"/>
              </a:spcAft>
              <a:buClr>
                <a:srgbClr val="C00000"/>
              </a:buClr>
              <a:buChar char="▪"/>
            </a:pPr>
            <a:r>
              <a:rPr b="0" i="0" dirty="0">
                <a:solidFill>
                  <a:srgbClr val="262B33"/>
                </a:solidFill>
                <a:latin typeface="Times New Roman" panose="02020603050405020304" pitchFamily="18" charset="0"/>
                <a:cs typeface="Times New Roman" panose="02020603050405020304" pitchFamily="18" charset="0"/>
              </a:rPr>
              <a:t>Threshold slider, validation / Otsu presets; optional TTA</a:t>
            </a:r>
          </a:p>
          <a:p>
            <a:pPr marL="228600" indent="-201168" algn="l">
              <a:spcAft>
                <a:spcPts val="700"/>
              </a:spcAft>
              <a:buClr>
                <a:srgbClr val="C00000"/>
              </a:buClr>
              <a:buChar char="▪"/>
            </a:pPr>
            <a:r>
              <a:rPr b="0" i="0" dirty="0">
                <a:solidFill>
                  <a:srgbClr val="262B33"/>
                </a:solidFill>
                <a:latin typeface="Times New Roman" panose="02020603050405020304" pitchFamily="18" charset="0"/>
                <a:cs typeface="Times New Roman" panose="02020603050405020304" pitchFamily="18" charset="0"/>
              </a:rPr>
              <a:t>Live F1, IoU, precision, recall and changed-area %</a:t>
            </a:r>
          </a:p>
          <a:p>
            <a:pPr algn="l">
              <a:spcAft>
                <a:spcPts val="700"/>
              </a:spcAft>
            </a:pPr>
            <a:r>
              <a:rPr b="1" i="0" dirty="0">
                <a:solidFill>
                  <a:srgbClr val="262B33"/>
                </a:solidFill>
                <a:latin typeface="Times New Roman" panose="02020603050405020304" pitchFamily="18" charset="0"/>
                <a:cs typeface="Times New Roman" panose="02020603050405020304" pitchFamily="18" charset="0"/>
              </a:rPr>
              <a:t>Run:  python app.py</a:t>
            </a:r>
          </a:p>
        </p:txBody>
      </p:sp>
      <p:pic>
        <p:nvPicPr>
          <p:cNvPr id="12" name="Picture 11" descr="gui.png"/>
          <p:cNvPicPr>
            <a:picLocks noChangeAspect="1"/>
          </p:cNvPicPr>
          <p:nvPr/>
        </p:nvPicPr>
        <p:blipFill>
          <a:blip r:embed="rId3"/>
          <a:stretch>
            <a:fillRect/>
          </a:stretch>
        </p:blipFill>
        <p:spPr>
          <a:xfrm>
            <a:off x="5074920" y="1097280"/>
            <a:ext cx="7009050" cy="4663440"/>
          </a:xfrm>
          <a:prstGeom prst="rect">
            <a:avLst/>
          </a:prstGeom>
        </p:spPr>
      </p:pic>
      <p:sp>
        <p:nvSpPr>
          <p:cNvPr id="13" name="TextBox 12"/>
          <p:cNvSpPr txBox="1"/>
          <p:nvPr/>
        </p:nvSpPr>
        <p:spPr>
          <a:xfrm>
            <a:off x="5074920" y="5779008"/>
            <a:ext cx="6570549" cy="369332"/>
          </a:xfrm>
          <a:prstGeom prst="rect">
            <a:avLst/>
          </a:prstGeom>
          <a:noFill/>
        </p:spPr>
        <p:txBody>
          <a:bodyPr wrap="square" lIns="0" tIns="0" rIns="0" bIns="0" anchor="t">
            <a:spAutoFit/>
          </a:bodyPr>
          <a:lstStyle/>
          <a:p>
            <a:pPr algn="ctr">
              <a:spcAft>
                <a:spcPts val="600"/>
              </a:spcAft>
            </a:pPr>
            <a:r>
              <a:rPr sz="2400" b="1" i="0" dirty="0">
                <a:solidFill>
                  <a:srgbClr val="C00000"/>
                </a:solidFill>
                <a:latin typeface="Times New Roman" panose="02020603050405020304" pitchFamily="18" charset="0"/>
                <a:cs typeface="Times New Roman" panose="02020603050405020304" pitchFamily="18" charset="0"/>
              </a:rPr>
              <a:t>Live run on test_102</a:t>
            </a:r>
          </a:p>
        </p:txBody>
      </p:sp>
      <p:sp>
        <p:nvSpPr>
          <p:cNvPr id="4" name="TextBox 3">
            <a:extLst>
              <a:ext uri="{FF2B5EF4-FFF2-40B4-BE49-F238E27FC236}">
                <a16:creationId xmlns:a16="http://schemas.microsoft.com/office/drawing/2014/main" id="{1287CDC5-8DF8-EE04-C032-75C237CEF5F9}"/>
              </a:ext>
            </a:extLst>
          </p:cNvPr>
          <p:cNvSpPr txBox="1"/>
          <p:nvPr/>
        </p:nvSpPr>
        <p:spPr>
          <a:xfrm>
            <a:off x="1777042" y="162194"/>
            <a:ext cx="9057736" cy="769441"/>
          </a:xfrm>
          <a:prstGeom prst="rect">
            <a:avLst/>
          </a:prstGeom>
          <a:noFill/>
        </p:spPr>
        <p:txBody>
          <a:bodyPr wrap="square" rtlCol="0">
            <a:spAutoFit/>
          </a:bodyPr>
          <a:lstStyle/>
          <a:p>
            <a:r>
              <a:rPr lang="en-US" sz="4400" b="1" dirty="0">
                <a:solidFill>
                  <a:srgbClr val="C00000"/>
                </a:solidFill>
                <a:latin typeface="Times New Roman" panose="02020603050405020304" pitchFamily="18" charset="0"/>
                <a:cs typeface="Times New Roman" panose="02020603050405020304" pitchFamily="18" charset="0"/>
              </a:rPr>
              <a:t>4. Implementation: Demonstration</a:t>
            </a:r>
          </a:p>
        </p:txBody>
      </p:sp>
      <p:sp>
        <p:nvSpPr>
          <p:cNvPr id="14" name="Rectangle 13"/>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6" name="TextBox 15"/>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7" name="TextBox 16"/>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2206122</a:t>
            </a:r>
          </a:p>
        </p:txBody>
      </p:sp>
      <p:sp>
        <p:nvSpPr>
          <p:cNvPr id="18" name="TextBox 17"/>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7D4E0BB5-FD97-49A2-AA9B-FBF0C8410696}" type="slidenum">
              <a:rPr lang="en-US" sz="1300" b="1">
                <a:solidFill>
                  <a:srgbClr val="FFFFFF"/>
                </a:solidFill>
                <a:latin typeface="Times New Roman"/>
              </a:rPr>
              <a:t>‹#›</a:t>
            </a:fld>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BAFD5-E714-20F8-5175-2EB134A2F3F2}"/>
            </a:ext>
          </a:extLst>
        </p:cNvPr>
        <p:cNvGrpSpPr/>
        <p:nvPr/>
      </p:nvGrpSpPr>
      <p:grpSpPr>
        <a:xfrm>
          <a:off x="0" y="0"/>
          <a:ext cx="0" cy="0"/>
          <a:chOff x="0" y="0"/>
          <a:chExt cx="0" cy="0"/>
        </a:xfrm>
      </p:grpSpPr>
      <p:sp>
        <p:nvSpPr>
          <p:cNvPr id="2" name="Rounded Rectangle 1"/>
          <p:cNvSpPr/>
          <p:nvPr/>
        </p:nvSpPr>
        <p:spPr>
          <a:xfrm>
            <a:off x="2550261" y="109728"/>
            <a:ext cx="7091171" cy="896112"/>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2550261" y="137160"/>
            <a:ext cx="7091171"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4.2 Bangladeshi Imagery: Old vs New Model</a:t>
            </a:r>
          </a:p>
        </p:txBody>
      </p:sp>
      <p:sp>
        <p:nvSpPr>
          <p:cNvPr id="4" name="TextBox 3"/>
          <p:cNvSpPr txBox="1"/>
          <p:nvPr/>
        </p:nvSpPr>
        <p:spPr>
          <a:xfrm>
            <a:off x="2550261" y="576072"/>
            <a:ext cx="7091171" cy="365760"/>
          </a:xfrm>
          <a:prstGeom prst="rect">
            <a:avLst/>
          </a:prstGeom>
          <a:noFill/>
        </p:spPr>
        <p:txBody>
          <a:bodyPr wrap="square" anchor="ctr" lIns="18288" rIns="18288" tIns="18288" bIns="18288">
            <a:spAutoFit/>
          </a:bodyPr>
          <a:lstStyle/>
          <a:p>
            <a:pPr algn="ctr">
              <a:spcAft>
                <a:spcPts val="600"/>
              </a:spcAft>
            </a:pPr>
            <a:r>
              <a:rPr sz="1400" b="0" i="1">
                <a:solidFill>
                  <a:srgbClr val="FFFFFF"/>
                </a:solidFill>
                <a:latin typeface="Times New Roman"/>
              </a:rPr>
              <a:t>Purbachal, Dhaka — 12 image pairs (1024 × 1024), no ground truth available</a:t>
            </a:r>
          </a:p>
        </p:txBody>
      </p:sp>
      <p:sp>
        <p:nvSpPr>
          <p:cNvPr id="5" name="TextBox 4"/>
          <p:cNvSpPr txBox="1"/>
          <p:nvPr/>
        </p:nvSpPr>
        <p:spPr>
          <a:xfrm>
            <a:off x="411480" y="1188720"/>
            <a:ext cx="3977639" cy="2743200"/>
          </a:xfrm>
          <a:prstGeom prst="rect">
            <a:avLst/>
          </a:prstGeom>
          <a:noFill/>
        </p:spPr>
        <p:txBody>
          <a:bodyPr wrap="square" anchor="t" lIns="45720" rIns="45720">
            <a:spAutoFit/>
          </a:bodyPr>
          <a:lstStyle/>
          <a:p>
            <a:pPr algn="l" marL="256032" indent="-219456">
              <a:spcAft>
                <a:spcPts val="500"/>
              </a:spcAft>
              <a:buClr>
                <a:srgbClr val="C00000"/>
              </a:buClr>
              <a:buChar char="▪"/>
            </a:pPr>
            <a:r>
              <a:rPr sz="1500" b="1" i="0">
                <a:solidFill>
                  <a:srgbClr val="1A1A1A"/>
                </a:solidFill>
                <a:latin typeface="Times New Roman"/>
              </a:rPr>
              <a:t>Scene: </a:t>
            </a:r>
            <a:r>
              <a:rPr sz="1500" b="0" i="0">
                <a:solidFill>
                  <a:srgbClr val="1A1A1A"/>
                </a:solidFill>
                <a:latin typeface="Times New Roman"/>
              </a:rPr>
              <a:t>open plots in T₁ became dense apartment blocks in T₂ – most of the area changed.</a:t>
            </a:r>
          </a:p>
          <a:p>
            <a:pPr algn="l" marL="256032" indent="-219456">
              <a:spcAft>
                <a:spcPts val="500"/>
              </a:spcAft>
              <a:buClr>
                <a:srgbClr val="C00000"/>
              </a:buClr>
              <a:buChar char="▪"/>
            </a:pPr>
            <a:r>
              <a:rPr sz="1500" b="1" i="0">
                <a:solidFill>
                  <a:srgbClr val="1A1A1A"/>
                </a:solidFill>
                <a:latin typeface="Times New Roman"/>
              </a:rPr>
              <a:t>Old v1 model: </a:t>
            </a:r>
            <a:r>
              <a:rPr sz="1500" b="0" i="0">
                <a:solidFill>
                  <a:srgbClr val="1A1A1A"/>
                </a:solidFill>
                <a:latin typeface="Times New Roman"/>
              </a:rPr>
              <a:t>marks 9.7 % of pixels, many on plots that are built up in T₂.</a:t>
            </a:r>
          </a:p>
          <a:p>
            <a:pPr algn="l" marL="256032" indent="-219456">
              <a:spcAft>
                <a:spcPts val="500"/>
              </a:spcAft>
              <a:buClr>
                <a:srgbClr val="C00000"/>
              </a:buClr>
              <a:buChar char="▪"/>
            </a:pPr>
            <a:r>
              <a:rPr sz="1500" b="1" i="0">
                <a:solidFill>
                  <a:srgbClr val="1A1A1A"/>
                </a:solidFill>
                <a:latin typeface="Times New Roman"/>
              </a:rPr>
              <a:t>New v2 (4-ch): </a:t>
            </a:r>
            <a:r>
              <a:rPr sz="1500" b="0" i="0">
                <a:solidFill>
                  <a:srgbClr val="1A1A1A"/>
                </a:solidFill>
                <a:latin typeface="Times New Roman"/>
              </a:rPr>
              <a:t>only 1.8 % – very conservative; RGB-only v2 marks 7.9 %.</a:t>
            </a:r>
          </a:p>
          <a:p>
            <a:pPr algn="l" marL="256032" indent="-219456">
              <a:spcAft>
                <a:spcPts val="500"/>
              </a:spcAft>
              <a:buClr>
                <a:srgbClr val="C00000"/>
              </a:buClr>
              <a:buChar char="▪"/>
            </a:pPr>
            <a:r>
              <a:rPr sz="1500" b="1" i="0">
                <a:solidFill>
                  <a:srgbClr val="1A1A1A"/>
                </a:solidFill>
                <a:latin typeface="Times New Roman"/>
              </a:rPr>
              <a:t>Up-sampling ×2 / ×4 </a:t>
            </a:r>
            <a:r>
              <a:rPr sz="1500" b="0" i="0">
                <a:solidFill>
                  <a:srgbClr val="1A1A1A"/>
                </a:solidFill>
                <a:latin typeface="Times New Roman"/>
              </a:rPr>
              <a:t>did not help → domain shift, not scale.</a:t>
            </a:r>
          </a:p>
          <a:p>
            <a:pPr algn="l" marL="256032" indent="-219456">
              <a:spcAft>
                <a:spcPts val="500"/>
              </a:spcAft>
              <a:buClr>
                <a:srgbClr val="C00000"/>
              </a:buClr>
              <a:buChar char="▪"/>
            </a:pPr>
            <a:r>
              <a:rPr sz="1500" b="1" i="0">
                <a:solidFill>
                  <a:srgbClr val="C00000"/>
                </a:solidFill>
                <a:latin typeface="Times New Roman"/>
              </a:rPr>
              <a:t>No labels: </a:t>
            </a:r>
            <a:r>
              <a:rPr sz="1500" b="0" i="0">
                <a:solidFill>
                  <a:srgbClr val="1A1A1A"/>
                </a:solidFill>
                <a:latin typeface="Times New Roman"/>
              </a:rPr>
              <a:t>these cannot be scored – see WHU-CD in 5.3.</a:t>
            </a:r>
          </a:p>
        </p:txBody>
      </p:sp>
      <p:graphicFrame>
        <p:nvGraphicFramePr>
          <p:cNvPr id="6" name="Chart 5"/>
          <p:cNvGraphicFramePr>
            <a:graphicFrameLocks noGrp="1"/>
          </p:cNvGraphicFramePr>
          <p:nvPr/>
        </p:nvGraphicFramePr>
        <p:xfrm>
          <a:off x="411480" y="3931920"/>
          <a:ext cx="3977639" cy="2423160"/>
        </p:xfrm>
        <a:graphic>
          <a:graphicData uri="http://schemas.openxmlformats.org/drawingml/2006/chart">
            <c:chart xmlns:c="http://schemas.openxmlformats.org/drawingml/2006/chart" r:id="rId4"/>
          </a:graphicData>
        </a:graphic>
      </p:graphicFrame>
      <p:pic>
        <p:nvPicPr>
          <p:cNvPr id="7" name="Picture 6" descr="pb_test_2_0.jpg"/>
          <p:cNvPicPr>
            <a:picLocks noChangeAspect="1"/>
          </p:cNvPicPr>
          <p:nvPr/>
        </p:nvPicPr>
        <p:blipFill>
          <a:blip r:embed="rId5"/>
          <a:stretch>
            <a:fillRect/>
          </a:stretch>
        </p:blipFill>
        <p:spPr>
          <a:xfrm>
            <a:off x="4572000" y="1481328"/>
            <a:ext cx="1389888" cy="1389888"/>
          </a:xfrm>
          <a:prstGeom prst="rect">
            <a:avLst/>
          </a:prstGeom>
        </p:spPr>
      </p:pic>
      <p:sp>
        <p:nvSpPr>
          <p:cNvPr id="8" name="TextBox 7"/>
          <p:cNvSpPr txBox="1"/>
          <p:nvPr/>
        </p:nvSpPr>
        <p:spPr>
          <a:xfrm>
            <a:off x="4572000" y="1188720"/>
            <a:ext cx="1389888" cy="274320"/>
          </a:xfrm>
          <a:prstGeom prst="rect">
            <a:avLst/>
          </a:prstGeom>
          <a:noFill/>
        </p:spPr>
        <p:txBody>
          <a:bodyPr wrap="square" anchor="t" lIns="0" rIns="0" tIns="0" bIns="0">
            <a:spAutoFit/>
          </a:bodyPr>
          <a:lstStyle/>
          <a:p>
            <a:pPr algn="ctr">
              <a:spcAft>
                <a:spcPts val="600"/>
              </a:spcAft>
            </a:pPr>
            <a:r>
              <a:rPr sz="1200" b="1" i="0">
                <a:solidFill>
                  <a:srgbClr val="1A1A1A"/>
                </a:solidFill>
                <a:latin typeface="Times New Roman"/>
              </a:rPr>
              <a:t>Before (T₁)</a:t>
            </a:r>
          </a:p>
        </p:txBody>
      </p:sp>
      <p:pic>
        <p:nvPicPr>
          <p:cNvPr id="9" name="Picture 8" descr="pb_test_2_1.jpg"/>
          <p:cNvPicPr>
            <a:picLocks noChangeAspect="1"/>
          </p:cNvPicPr>
          <p:nvPr/>
        </p:nvPicPr>
        <p:blipFill>
          <a:blip r:embed="rId6"/>
          <a:stretch>
            <a:fillRect/>
          </a:stretch>
        </p:blipFill>
        <p:spPr>
          <a:xfrm>
            <a:off x="6035040" y="1481328"/>
            <a:ext cx="1389888" cy="1389888"/>
          </a:xfrm>
          <a:prstGeom prst="rect">
            <a:avLst/>
          </a:prstGeom>
        </p:spPr>
      </p:pic>
      <p:sp>
        <p:nvSpPr>
          <p:cNvPr id="10" name="TextBox 9"/>
          <p:cNvSpPr txBox="1"/>
          <p:nvPr/>
        </p:nvSpPr>
        <p:spPr>
          <a:xfrm>
            <a:off x="6035040" y="1188720"/>
            <a:ext cx="1389888" cy="274320"/>
          </a:xfrm>
          <a:prstGeom prst="rect">
            <a:avLst/>
          </a:prstGeom>
          <a:noFill/>
        </p:spPr>
        <p:txBody>
          <a:bodyPr wrap="square" anchor="t" lIns="0" rIns="0" tIns="0" bIns="0">
            <a:spAutoFit/>
          </a:bodyPr>
          <a:lstStyle/>
          <a:p>
            <a:pPr algn="ctr">
              <a:spcAft>
                <a:spcPts val="600"/>
              </a:spcAft>
            </a:pPr>
            <a:r>
              <a:rPr sz="1200" b="1" i="0">
                <a:solidFill>
                  <a:srgbClr val="1A1A1A"/>
                </a:solidFill>
                <a:latin typeface="Times New Roman"/>
              </a:rPr>
              <a:t>After (T₂)</a:t>
            </a:r>
          </a:p>
        </p:txBody>
      </p:sp>
      <p:pic>
        <p:nvPicPr>
          <p:cNvPr id="11" name="Picture 10" descr="pb_test_2_3.jpg"/>
          <p:cNvPicPr>
            <a:picLocks noChangeAspect="1"/>
          </p:cNvPicPr>
          <p:nvPr/>
        </p:nvPicPr>
        <p:blipFill>
          <a:blip r:embed="rId7"/>
          <a:stretch>
            <a:fillRect/>
          </a:stretch>
        </p:blipFill>
        <p:spPr>
          <a:xfrm>
            <a:off x="7498079" y="1481328"/>
            <a:ext cx="1389888" cy="1389888"/>
          </a:xfrm>
          <a:prstGeom prst="rect">
            <a:avLst/>
          </a:prstGeom>
        </p:spPr>
      </p:pic>
      <p:sp>
        <p:nvSpPr>
          <p:cNvPr id="12" name="TextBox 11"/>
          <p:cNvSpPr txBox="1"/>
          <p:nvPr/>
        </p:nvSpPr>
        <p:spPr>
          <a:xfrm>
            <a:off x="7498079" y="1188720"/>
            <a:ext cx="1389888" cy="274320"/>
          </a:xfrm>
          <a:prstGeom prst="rect">
            <a:avLst/>
          </a:prstGeom>
          <a:noFill/>
        </p:spPr>
        <p:txBody>
          <a:bodyPr wrap="square" anchor="t" lIns="0" rIns="0" tIns="0" bIns="0">
            <a:spAutoFit/>
          </a:bodyPr>
          <a:lstStyle/>
          <a:p>
            <a:pPr algn="ctr">
              <a:spcAft>
                <a:spcPts val="600"/>
              </a:spcAft>
            </a:pPr>
            <a:r>
              <a:rPr sz="1200" b="1" i="0">
                <a:solidFill>
                  <a:srgbClr val="1A1A1A"/>
                </a:solidFill>
                <a:latin typeface="Times New Roman"/>
              </a:rPr>
              <a:t>v1 (old)</a:t>
            </a:r>
          </a:p>
        </p:txBody>
      </p:sp>
      <p:pic>
        <p:nvPicPr>
          <p:cNvPr id="13" name="Picture 12" descr="pb_test_2_4.jpg"/>
          <p:cNvPicPr>
            <a:picLocks noChangeAspect="1"/>
          </p:cNvPicPr>
          <p:nvPr/>
        </p:nvPicPr>
        <p:blipFill>
          <a:blip r:embed="rId8"/>
          <a:stretch>
            <a:fillRect/>
          </a:stretch>
        </p:blipFill>
        <p:spPr>
          <a:xfrm>
            <a:off x="8961120" y="1481328"/>
            <a:ext cx="1389888" cy="1389888"/>
          </a:xfrm>
          <a:prstGeom prst="rect">
            <a:avLst/>
          </a:prstGeom>
        </p:spPr>
      </p:pic>
      <p:sp>
        <p:nvSpPr>
          <p:cNvPr id="14" name="TextBox 13"/>
          <p:cNvSpPr txBox="1"/>
          <p:nvPr/>
        </p:nvSpPr>
        <p:spPr>
          <a:xfrm>
            <a:off x="8961120" y="1188720"/>
            <a:ext cx="1389888" cy="274320"/>
          </a:xfrm>
          <a:prstGeom prst="rect">
            <a:avLst/>
          </a:prstGeom>
          <a:noFill/>
        </p:spPr>
        <p:txBody>
          <a:bodyPr wrap="square" anchor="t" lIns="0" rIns="0" tIns="0" bIns="0">
            <a:spAutoFit/>
          </a:bodyPr>
          <a:lstStyle/>
          <a:p>
            <a:pPr algn="ctr">
              <a:spcAft>
                <a:spcPts val="600"/>
              </a:spcAft>
            </a:pPr>
            <a:r>
              <a:rPr sz="1200" b="1" i="0">
                <a:solidFill>
                  <a:srgbClr val="1A1A1A"/>
                </a:solidFill>
                <a:latin typeface="Times New Roman"/>
              </a:rPr>
              <a:t>v2 4-ch</a:t>
            </a:r>
          </a:p>
        </p:txBody>
      </p:sp>
      <p:pic>
        <p:nvPicPr>
          <p:cNvPr id="15" name="Picture 14" descr="pb_test_2_5.jpg"/>
          <p:cNvPicPr>
            <a:picLocks noChangeAspect="1"/>
          </p:cNvPicPr>
          <p:nvPr/>
        </p:nvPicPr>
        <p:blipFill>
          <a:blip r:embed="rId9"/>
          <a:stretch>
            <a:fillRect/>
          </a:stretch>
        </p:blipFill>
        <p:spPr>
          <a:xfrm>
            <a:off x="10424160" y="1481328"/>
            <a:ext cx="1389888" cy="1389888"/>
          </a:xfrm>
          <a:prstGeom prst="rect">
            <a:avLst/>
          </a:prstGeom>
        </p:spPr>
      </p:pic>
      <p:sp>
        <p:nvSpPr>
          <p:cNvPr id="16" name="TextBox 15"/>
          <p:cNvSpPr txBox="1"/>
          <p:nvPr/>
        </p:nvSpPr>
        <p:spPr>
          <a:xfrm>
            <a:off x="10424160" y="1188720"/>
            <a:ext cx="1389888" cy="274320"/>
          </a:xfrm>
          <a:prstGeom prst="rect">
            <a:avLst/>
          </a:prstGeom>
          <a:noFill/>
        </p:spPr>
        <p:txBody>
          <a:bodyPr wrap="square" anchor="t" lIns="0" rIns="0" tIns="0" bIns="0">
            <a:spAutoFit/>
          </a:bodyPr>
          <a:lstStyle/>
          <a:p>
            <a:pPr algn="ctr">
              <a:spcAft>
                <a:spcPts val="600"/>
              </a:spcAft>
            </a:pPr>
            <a:r>
              <a:rPr sz="1200" b="1" i="0">
                <a:solidFill>
                  <a:srgbClr val="1A1A1A"/>
                </a:solidFill>
                <a:latin typeface="Times New Roman"/>
              </a:rPr>
              <a:t>v2 3-ch</a:t>
            </a:r>
          </a:p>
        </p:txBody>
      </p:sp>
      <p:pic>
        <p:nvPicPr>
          <p:cNvPr id="17" name="Picture 16" descr="pb_test_5_0.jpg"/>
          <p:cNvPicPr>
            <a:picLocks noChangeAspect="1"/>
          </p:cNvPicPr>
          <p:nvPr/>
        </p:nvPicPr>
        <p:blipFill>
          <a:blip r:embed="rId10"/>
          <a:stretch>
            <a:fillRect/>
          </a:stretch>
        </p:blipFill>
        <p:spPr>
          <a:xfrm>
            <a:off x="4572000" y="3154680"/>
            <a:ext cx="1389888" cy="1389888"/>
          </a:xfrm>
          <a:prstGeom prst="rect">
            <a:avLst/>
          </a:prstGeom>
        </p:spPr>
      </p:pic>
      <p:pic>
        <p:nvPicPr>
          <p:cNvPr id="18" name="Picture 17" descr="pb_test_5_1.jpg"/>
          <p:cNvPicPr>
            <a:picLocks noChangeAspect="1"/>
          </p:cNvPicPr>
          <p:nvPr/>
        </p:nvPicPr>
        <p:blipFill>
          <a:blip r:embed="rId11"/>
          <a:stretch>
            <a:fillRect/>
          </a:stretch>
        </p:blipFill>
        <p:spPr>
          <a:xfrm>
            <a:off x="6035040" y="3154680"/>
            <a:ext cx="1389888" cy="1389888"/>
          </a:xfrm>
          <a:prstGeom prst="rect">
            <a:avLst/>
          </a:prstGeom>
        </p:spPr>
      </p:pic>
      <p:pic>
        <p:nvPicPr>
          <p:cNvPr id="19" name="Picture 18" descr="pb_test_5_3.jpg"/>
          <p:cNvPicPr>
            <a:picLocks noChangeAspect="1"/>
          </p:cNvPicPr>
          <p:nvPr/>
        </p:nvPicPr>
        <p:blipFill>
          <a:blip r:embed="rId12"/>
          <a:stretch>
            <a:fillRect/>
          </a:stretch>
        </p:blipFill>
        <p:spPr>
          <a:xfrm>
            <a:off x="7498079" y="3154680"/>
            <a:ext cx="1389888" cy="1389888"/>
          </a:xfrm>
          <a:prstGeom prst="rect">
            <a:avLst/>
          </a:prstGeom>
        </p:spPr>
      </p:pic>
      <p:pic>
        <p:nvPicPr>
          <p:cNvPr id="20" name="Picture 19" descr="pb_test_5_4.jpg"/>
          <p:cNvPicPr>
            <a:picLocks noChangeAspect="1"/>
          </p:cNvPicPr>
          <p:nvPr/>
        </p:nvPicPr>
        <p:blipFill>
          <a:blip r:embed="rId13"/>
          <a:stretch>
            <a:fillRect/>
          </a:stretch>
        </p:blipFill>
        <p:spPr>
          <a:xfrm>
            <a:off x="8961120" y="3154680"/>
            <a:ext cx="1389888" cy="1389888"/>
          </a:xfrm>
          <a:prstGeom prst="rect">
            <a:avLst/>
          </a:prstGeom>
        </p:spPr>
      </p:pic>
      <p:pic>
        <p:nvPicPr>
          <p:cNvPr id="21" name="Picture 20" descr="pb_test_5_5.jpg"/>
          <p:cNvPicPr>
            <a:picLocks noChangeAspect="1"/>
          </p:cNvPicPr>
          <p:nvPr/>
        </p:nvPicPr>
        <p:blipFill>
          <a:blip r:embed="rId14"/>
          <a:stretch>
            <a:fillRect/>
          </a:stretch>
        </p:blipFill>
        <p:spPr>
          <a:xfrm>
            <a:off x="10424160" y="3154680"/>
            <a:ext cx="1389888" cy="1389888"/>
          </a:xfrm>
          <a:prstGeom prst="rect">
            <a:avLst/>
          </a:prstGeom>
        </p:spPr>
      </p:pic>
      <p:sp>
        <p:nvSpPr>
          <p:cNvPr id="22" name="TextBox 21"/>
          <p:cNvSpPr txBox="1"/>
          <p:nvPr/>
        </p:nvSpPr>
        <p:spPr>
          <a:xfrm>
            <a:off x="4572000" y="4846320"/>
            <a:ext cx="7269480" cy="1508760"/>
          </a:xfrm>
          <a:prstGeom prst="rect">
            <a:avLst/>
          </a:prstGeom>
          <a:noFill/>
        </p:spPr>
        <p:txBody>
          <a:bodyPr wrap="square" anchor="t" lIns="45720" rIns="45720">
            <a:spAutoFit/>
          </a:bodyPr>
          <a:lstStyle/>
          <a:p>
            <a:pPr algn="l">
              <a:spcAft>
                <a:spcPts val="400"/>
              </a:spcAft>
            </a:pPr>
            <a:r>
              <a:rPr sz="1300" b="1" i="0">
                <a:solidFill>
                  <a:srgbClr val="1A1A1A"/>
                </a:solidFill>
                <a:latin typeface="Times New Roman"/>
              </a:rPr>
              <a:t>Rows: </a:t>
            </a:r>
            <a:r>
              <a:rPr sz="1300" b="0" i="0">
                <a:solidFill>
                  <a:srgbClr val="1A1A1A"/>
                </a:solidFill>
                <a:latin typeface="Times New Roman"/>
              </a:rPr>
              <a:t>test_2 (top), test_5 (bottom). </a:t>
            </a:r>
            <a:r>
              <a:rPr sz="1300" b="1" i="0">
                <a:solidFill>
                  <a:srgbClr val="C00000"/>
                </a:solidFill>
                <a:latin typeface="Times New Roman"/>
              </a:rPr>
              <a:t>Red</a:t>
            </a:r>
            <a:r>
              <a:rPr sz="1300" b="0" i="0">
                <a:solidFill>
                  <a:srgbClr val="1A1A1A"/>
                </a:solidFill>
                <a:latin typeface="Times New Roman"/>
              </a:rPr>
              <a:t> = detected change, drawn on the Before image.</a:t>
            </a:r>
          </a:p>
          <a:p>
            <a:pPr algn="l">
              <a:spcAft>
                <a:spcPts val="400"/>
              </a:spcAft>
            </a:pPr>
            <a:r>
              <a:rPr sz="1300" b="1" i="0">
                <a:solidFill>
                  <a:srgbClr val="1A1A1A"/>
                </a:solidFill>
                <a:latin typeface="Times New Roman"/>
              </a:rPr>
              <a:t>Reading: </a:t>
            </a:r>
            <a:r>
              <a:rPr sz="1300" b="0" i="0">
                <a:solidFill>
                  <a:srgbClr val="1A1A1A"/>
                </a:solidFill>
                <a:latin typeface="Times New Roman"/>
              </a:rPr>
              <a:t>v1 appears to catch more of the new construction here, but on labelled data it raised many false alarms; the real fix is labelled local data and fine-tuning.</a:t>
            </a:r>
          </a:p>
        </p:txBody>
      </p:sp>
      <p:sp>
        <p:nvSpPr>
          <p:cNvPr id="23" name="Rectangle 22"/>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25" name="TextBox 24"/>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26" name="TextBox 25"/>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2206114</a:t>
            </a:r>
          </a:p>
        </p:txBody>
      </p:sp>
      <p:sp>
        <p:nvSpPr>
          <p:cNvPr id="27" name="TextBox 26"/>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921376D0-FE49-4600-920B-1AACAE6D70B8}" type="slidenum">
              <a:rPr lang="en-US" sz="1300" b="1">
                <a:solidFill>
                  <a:srgbClr val="FFFFFF"/>
                </a:solidFill>
                <a:latin typeface="Times New Roman"/>
              </a:rPr>
              <a:t>‹#›</a:t>
            </a:fld>
          </a:p>
        </p:txBody>
      </p:sp>
    </p:spTree>
    <p:extLst>
      <p:ext uri="{BB962C8B-B14F-4D97-AF65-F5344CB8AC3E}">
        <p14:creationId xmlns:p14="http://schemas.microsoft.com/office/powerpoint/2010/main" val="2665441560"/>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2368753" y="109728"/>
            <a:ext cx="7454188" cy="896112"/>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2368753" y="137160"/>
            <a:ext cx="7454188"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4.1 Results on the LEVIR-CD Test Set</a:t>
            </a:r>
          </a:p>
        </p:txBody>
      </p:sp>
      <p:sp>
        <p:nvSpPr>
          <p:cNvPr id="4" name="TextBox 3"/>
          <p:cNvSpPr txBox="1"/>
          <p:nvPr/>
        </p:nvSpPr>
        <p:spPr>
          <a:xfrm>
            <a:off x="2368753" y="576072"/>
            <a:ext cx="7454188" cy="365760"/>
          </a:xfrm>
          <a:prstGeom prst="rect">
            <a:avLst/>
          </a:prstGeom>
          <a:noFill/>
        </p:spPr>
        <p:txBody>
          <a:bodyPr wrap="square" anchor="ctr" lIns="18288" rIns="18288" tIns="18288" bIns="18288">
            <a:spAutoFit/>
          </a:bodyPr>
          <a:lstStyle/>
          <a:p>
            <a:pPr algn="ctr">
              <a:spcAft>
                <a:spcPts val="600"/>
              </a:spcAft>
            </a:pPr>
            <a:r>
              <a:rPr sz="1400" b="0" i="1">
                <a:solidFill>
                  <a:srgbClr val="FFFFFF"/>
                </a:solidFill>
                <a:latin typeface="Times New Roman"/>
              </a:rPr>
              <a:t>Example test_100 — farmland turned into a housing estate (F1 0.939 · IoU 0.885)</a:t>
            </a:r>
          </a:p>
        </p:txBody>
      </p:sp>
      <p:sp>
        <p:nvSpPr>
          <p:cNvPr id="5" name="TextBox 4"/>
          <p:cNvSpPr txBox="1"/>
          <p:nvPr/>
        </p:nvSpPr>
        <p:spPr>
          <a:xfrm>
            <a:off x="411480" y="1234440"/>
            <a:ext cx="4937760" cy="5029200"/>
          </a:xfrm>
          <a:prstGeom prst="rect">
            <a:avLst/>
          </a:prstGeom>
          <a:noFill/>
        </p:spPr>
        <p:txBody>
          <a:bodyPr wrap="square" anchor="t" lIns="45720" rIns="45720">
            <a:spAutoFit/>
          </a:bodyPr>
          <a:lstStyle/>
          <a:p>
            <a:pPr algn="l" marL="256032" indent="-219456">
              <a:spcAft>
                <a:spcPts val="1000"/>
              </a:spcAft>
              <a:buClr>
                <a:srgbClr val="C00000"/>
              </a:buClr>
              <a:buChar char="▪"/>
            </a:pPr>
            <a:r>
              <a:rPr sz="1700" b="1" i="0">
                <a:solidFill>
                  <a:srgbClr val="1A1A1A"/>
                </a:solidFill>
                <a:latin typeface="Times New Roman"/>
              </a:rPr>
              <a:t>Input: </a:t>
            </a:r>
            <a:r>
              <a:rPr sz="1700" b="0" i="0">
                <a:solidFill>
                  <a:srgbClr val="1A1A1A"/>
                </a:solidFill>
                <a:latin typeface="Times New Roman"/>
              </a:rPr>
              <a:t>an empty field (T₁) becomes a dense estate of new houses and roads (T₂).</a:t>
            </a:r>
          </a:p>
          <a:p>
            <a:pPr algn="l" marL="256032" indent="-219456">
              <a:spcAft>
                <a:spcPts val="1000"/>
              </a:spcAft>
              <a:buClr>
                <a:srgbClr val="C00000"/>
              </a:buClr>
              <a:buChar char="▪"/>
            </a:pPr>
            <a:r>
              <a:rPr sz="1700" b="1" i="0">
                <a:solidFill>
                  <a:srgbClr val="1A1A1A"/>
                </a:solidFill>
                <a:latin typeface="Times New Roman"/>
              </a:rPr>
              <a:t>Probability map: </a:t>
            </a:r>
            <a:r>
              <a:rPr sz="1700" b="0" i="0">
                <a:solidFill>
                  <a:srgbClr val="1A1A1A"/>
                </a:solidFill>
                <a:latin typeface="Times New Roman"/>
              </a:rPr>
              <a:t>high confidence on every new house, clean background.</a:t>
            </a:r>
          </a:p>
          <a:p>
            <a:pPr algn="l" marL="256032" indent="-219456">
              <a:spcAft>
                <a:spcPts val="1000"/>
              </a:spcAft>
              <a:buClr>
                <a:srgbClr val="C00000"/>
              </a:buClr>
              <a:buChar char="▪"/>
            </a:pPr>
            <a:r>
              <a:rPr sz="1700" b="1" i="0">
                <a:solidFill>
                  <a:srgbClr val="1A1A1A"/>
                </a:solidFill>
                <a:latin typeface="Times New Roman"/>
              </a:rPr>
              <a:t>Prediction: </a:t>
            </a:r>
            <a:r>
              <a:rPr sz="1700" b="0" i="0">
                <a:solidFill>
                  <a:srgbClr val="1A1A1A"/>
                </a:solidFill>
                <a:latin typeface="Times New Roman"/>
              </a:rPr>
              <a:t>threshold t = 0.41 (chosen on validation) closely matches the ground truth.</a:t>
            </a:r>
          </a:p>
          <a:p>
            <a:pPr algn="l" marL="256032" indent="-219456">
              <a:spcAft>
                <a:spcPts val="1000"/>
              </a:spcAft>
              <a:buClr>
                <a:srgbClr val="C00000"/>
              </a:buClr>
              <a:buChar char="▪"/>
            </a:pPr>
            <a:r>
              <a:rPr sz="1700" b="1" i="0">
                <a:solidFill>
                  <a:srgbClr val="1A1A1A"/>
                </a:solidFill>
                <a:latin typeface="Times New Roman"/>
              </a:rPr>
              <a:t>Error map: </a:t>
            </a:r>
            <a:r>
              <a:rPr sz="1700" b="0" i="0">
                <a:solidFill>
                  <a:srgbClr val="1A1A1A"/>
                </a:solidFill>
                <a:latin typeface="Times New Roman"/>
              </a:rPr>
              <a:t>white = correct, red = false alarm, cyan = miss; errors are thin 1–2 px rims on house outlines.</a:t>
            </a:r>
          </a:p>
          <a:p>
            <a:pPr algn="l" marL="256032" indent="-219456">
              <a:spcAft>
                <a:spcPts val="1000"/>
              </a:spcAft>
              <a:buClr>
                <a:srgbClr val="C00000"/>
              </a:buClr>
              <a:buChar char="▪"/>
            </a:pPr>
            <a:r>
              <a:rPr sz="1700" b="1" i="0">
                <a:solidFill>
                  <a:srgbClr val="C00000"/>
                </a:solidFill>
                <a:latin typeface="Times New Roman"/>
              </a:rPr>
              <a:t>Result: </a:t>
            </a:r>
            <a:r>
              <a:rPr sz="1700" b="0" i="0">
                <a:solidFill>
                  <a:srgbClr val="1A1A1A"/>
                </a:solidFill>
                <a:latin typeface="Times New Roman"/>
              </a:rPr>
              <a:t>precision 0.954, recall 0.925 — closely spaced houses are separated.</a:t>
            </a:r>
          </a:p>
        </p:txBody>
      </p:sp>
      <p:pic>
        <p:nvPicPr>
          <p:cNvPr id="6" name="Picture 5" descr="g2_p0.jpg"/>
          <p:cNvPicPr>
            <a:picLocks noChangeAspect="1"/>
          </p:cNvPicPr>
          <p:nvPr/>
        </p:nvPicPr>
        <p:blipFill>
          <a:blip r:embed="rId2"/>
          <a:stretch>
            <a:fillRect/>
          </a:stretch>
        </p:blipFill>
        <p:spPr>
          <a:xfrm>
            <a:off x="5532120" y="1234440"/>
            <a:ext cx="1993392" cy="2003092"/>
          </a:xfrm>
          <a:prstGeom prst="rect">
            <a:avLst/>
          </a:prstGeom>
        </p:spPr>
      </p:pic>
      <p:sp>
        <p:nvSpPr>
          <p:cNvPr id="7" name="TextBox 6"/>
          <p:cNvSpPr txBox="1"/>
          <p:nvPr/>
        </p:nvSpPr>
        <p:spPr>
          <a:xfrm>
            <a:off x="5532120" y="3246120"/>
            <a:ext cx="1993392" cy="274320"/>
          </a:xfrm>
          <a:prstGeom prst="rect">
            <a:avLst/>
          </a:prstGeom>
          <a:noFill/>
        </p:spPr>
        <p:txBody>
          <a:bodyPr wrap="square" anchor="t" lIns="0" rIns="0" tIns="0" bIns="0">
            <a:spAutoFit/>
          </a:bodyPr>
          <a:lstStyle/>
          <a:p>
            <a:pPr algn="ctr">
              <a:spcAft>
                <a:spcPts val="600"/>
              </a:spcAft>
            </a:pPr>
            <a:r>
              <a:rPr sz="1300" b="1" i="0">
                <a:solidFill>
                  <a:srgbClr val="1A1A1A"/>
                </a:solidFill>
                <a:latin typeface="Times New Roman"/>
              </a:rPr>
              <a:t>Before (T₁)</a:t>
            </a:r>
          </a:p>
        </p:txBody>
      </p:sp>
      <p:pic>
        <p:nvPicPr>
          <p:cNvPr id="8" name="Picture 7" descr="g2_p1.jpg"/>
          <p:cNvPicPr>
            <a:picLocks noChangeAspect="1"/>
          </p:cNvPicPr>
          <p:nvPr/>
        </p:nvPicPr>
        <p:blipFill>
          <a:blip r:embed="rId3"/>
          <a:stretch>
            <a:fillRect/>
          </a:stretch>
        </p:blipFill>
        <p:spPr>
          <a:xfrm>
            <a:off x="7616952" y="1234440"/>
            <a:ext cx="1993392" cy="2007978"/>
          </a:xfrm>
          <a:prstGeom prst="rect">
            <a:avLst/>
          </a:prstGeom>
        </p:spPr>
      </p:pic>
      <p:sp>
        <p:nvSpPr>
          <p:cNvPr id="9" name="TextBox 8"/>
          <p:cNvSpPr txBox="1"/>
          <p:nvPr/>
        </p:nvSpPr>
        <p:spPr>
          <a:xfrm>
            <a:off x="7616952" y="3246120"/>
            <a:ext cx="1993392" cy="274320"/>
          </a:xfrm>
          <a:prstGeom prst="rect">
            <a:avLst/>
          </a:prstGeom>
          <a:noFill/>
        </p:spPr>
        <p:txBody>
          <a:bodyPr wrap="square" anchor="t" lIns="0" rIns="0" tIns="0" bIns="0">
            <a:spAutoFit/>
          </a:bodyPr>
          <a:lstStyle/>
          <a:p>
            <a:pPr algn="ctr">
              <a:spcAft>
                <a:spcPts val="600"/>
              </a:spcAft>
            </a:pPr>
            <a:r>
              <a:rPr sz="1300" b="1" i="0">
                <a:solidFill>
                  <a:srgbClr val="1A1A1A"/>
                </a:solidFill>
                <a:latin typeface="Times New Roman"/>
              </a:rPr>
              <a:t>After (T₂)</a:t>
            </a:r>
          </a:p>
        </p:txBody>
      </p:sp>
      <p:pic>
        <p:nvPicPr>
          <p:cNvPr id="10" name="Picture 9" descr="g2_p2.jpg"/>
          <p:cNvPicPr>
            <a:picLocks noChangeAspect="1"/>
          </p:cNvPicPr>
          <p:nvPr/>
        </p:nvPicPr>
        <p:blipFill>
          <a:blip r:embed="rId4"/>
          <a:stretch>
            <a:fillRect/>
          </a:stretch>
        </p:blipFill>
        <p:spPr>
          <a:xfrm>
            <a:off x="9701784" y="1234440"/>
            <a:ext cx="1993392" cy="2007978"/>
          </a:xfrm>
          <a:prstGeom prst="rect">
            <a:avLst/>
          </a:prstGeom>
        </p:spPr>
      </p:pic>
      <p:sp>
        <p:nvSpPr>
          <p:cNvPr id="11" name="TextBox 10"/>
          <p:cNvSpPr txBox="1"/>
          <p:nvPr/>
        </p:nvSpPr>
        <p:spPr>
          <a:xfrm>
            <a:off x="9701784" y="3246120"/>
            <a:ext cx="1993392" cy="274320"/>
          </a:xfrm>
          <a:prstGeom prst="rect">
            <a:avLst/>
          </a:prstGeom>
          <a:noFill/>
        </p:spPr>
        <p:txBody>
          <a:bodyPr wrap="square" anchor="t" lIns="0" rIns="0" tIns="0" bIns="0">
            <a:spAutoFit/>
          </a:bodyPr>
          <a:lstStyle/>
          <a:p>
            <a:pPr algn="ctr">
              <a:spcAft>
                <a:spcPts val="600"/>
              </a:spcAft>
            </a:pPr>
            <a:r>
              <a:rPr sz="1300" b="1" i="0">
                <a:solidFill>
                  <a:srgbClr val="1A1A1A"/>
                </a:solidFill>
                <a:latin typeface="Times New Roman"/>
              </a:rPr>
              <a:t>Ground truth</a:t>
            </a:r>
          </a:p>
        </p:txBody>
      </p:sp>
      <p:pic>
        <p:nvPicPr>
          <p:cNvPr id="12" name="Picture 11" descr="g2_p3.jpg"/>
          <p:cNvPicPr>
            <a:picLocks noChangeAspect="1"/>
          </p:cNvPicPr>
          <p:nvPr/>
        </p:nvPicPr>
        <p:blipFill>
          <a:blip r:embed="rId5"/>
          <a:stretch>
            <a:fillRect/>
          </a:stretch>
        </p:blipFill>
        <p:spPr>
          <a:xfrm>
            <a:off x="5532120" y="3794760"/>
            <a:ext cx="1993392" cy="2003092"/>
          </a:xfrm>
          <a:prstGeom prst="rect">
            <a:avLst/>
          </a:prstGeom>
        </p:spPr>
      </p:pic>
      <p:sp>
        <p:nvSpPr>
          <p:cNvPr id="13" name="TextBox 12"/>
          <p:cNvSpPr txBox="1"/>
          <p:nvPr/>
        </p:nvSpPr>
        <p:spPr>
          <a:xfrm>
            <a:off x="5532120" y="5806440"/>
            <a:ext cx="1993392" cy="274320"/>
          </a:xfrm>
          <a:prstGeom prst="rect">
            <a:avLst/>
          </a:prstGeom>
          <a:noFill/>
        </p:spPr>
        <p:txBody>
          <a:bodyPr wrap="square" anchor="t" lIns="0" rIns="0" tIns="0" bIns="0">
            <a:spAutoFit/>
          </a:bodyPr>
          <a:lstStyle/>
          <a:p>
            <a:pPr algn="ctr">
              <a:spcAft>
                <a:spcPts val="600"/>
              </a:spcAft>
            </a:pPr>
            <a:r>
              <a:rPr sz="1300" b="1" i="0">
                <a:solidFill>
                  <a:srgbClr val="1A1A1A"/>
                </a:solidFill>
                <a:latin typeface="Times New Roman"/>
              </a:rPr>
              <a:t>Probability</a:t>
            </a:r>
          </a:p>
        </p:txBody>
      </p:sp>
      <p:pic>
        <p:nvPicPr>
          <p:cNvPr id="14" name="Picture 13" descr="g2_p4.jpg"/>
          <p:cNvPicPr>
            <a:picLocks noChangeAspect="1"/>
          </p:cNvPicPr>
          <p:nvPr/>
        </p:nvPicPr>
        <p:blipFill>
          <a:blip r:embed="rId6"/>
          <a:stretch>
            <a:fillRect/>
          </a:stretch>
        </p:blipFill>
        <p:spPr>
          <a:xfrm>
            <a:off x="7616952" y="3794760"/>
            <a:ext cx="1993392" cy="2003092"/>
          </a:xfrm>
          <a:prstGeom prst="rect">
            <a:avLst/>
          </a:prstGeom>
        </p:spPr>
      </p:pic>
      <p:sp>
        <p:nvSpPr>
          <p:cNvPr id="15" name="TextBox 14"/>
          <p:cNvSpPr txBox="1"/>
          <p:nvPr/>
        </p:nvSpPr>
        <p:spPr>
          <a:xfrm>
            <a:off x="7616952" y="5806440"/>
            <a:ext cx="1993392" cy="274320"/>
          </a:xfrm>
          <a:prstGeom prst="rect">
            <a:avLst/>
          </a:prstGeom>
          <a:noFill/>
        </p:spPr>
        <p:txBody>
          <a:bodyPr wrap="square" anchor="t" lIns="0" rIns="0" tIns="0" bIns="0">
            <a:spAutoFit/>
          </a:bodyPr>
          <a:lstStyle/>
          <a:p>
            <a:pPr algn="ctr">
              <a:spcAft>
                <a:spcPts val="600"/>
              </a:spcAft>
            </a:pPr>
            <a:r>
              <a:rPr sz="1300" b="1" i="0">
                <a:solidFill>
                  <a:srgbClr val="1A1A1A"/>
                </a:solidFill>
                <a:latin typeface="Times New Roman"/>
              </a:rPr>
              <a:t>Prediction</a:t>
            </a:r>
          </a:p>
        </p:txBody>
      </p:sp>
      <p:pic>
        <p:nvPicPr>
          <p:cNvPr id="16" name="Picture 15" descr="g2_p5.jpg"/>
          <p:cNvPicPr>
            <a:picLocks noChangeAspect="1"/>
          </p:cNvPicPr>
          <p:nvPr/>
        </p:nvPicPr>
        <p:blipFill>
          <a:blip r:embed="rId7"/>
          <a:stretch>
            <a:fillRect/>
          </a:stretch>
        </p:blipFill>
        <p:spPr>
          <a:xfrm>
            <a:off x="9701784" y="3794760"/>
            <a:ext cx="1993392" cy="2003092"/>
          </a:xfrm>
          <a:prstGeom prst="rect">
            <a:avLst/>
          </a:prstGeom>
        </p:spPr>
      </p:pic>
      <p:sp>
        <p:nvSpPr>
          <p:cNvPr id="17" name="TextBox 16"/>
          <p:cNvSpPr txBox="1"/>
          <p:nvPr/>
        </p:nvSpPr>
        <p:spPr>
          <a:xfrm>
            <a:off x="9701784" y="5806440"/>
            <a:ext cx="1993392" cy="274320"/>
          </a:xfrm>
          <a:prstGeom prst="rect">
            <a:avLst/>
          </a:prstGeom>
          <a:noFill/>
        </p:spPr>
        <p:txBody>
          <a:bodyPr wrap="square" anchor="t" lIns="0" rIns="0" tIns="0" bIns="0">
            <a:spAutoFit/>
          </a:bodyPr>
          <a:lstStyle/>
          <a:p>
            <a:pPr algn="ctr">
              <a:spcAft>
                <a:spcPts val="600"/>
              </a:spcAft>
            </a:pPr>
            <a:r>
              <a:rPr sz="1300" b="1" i="0">
                <a:solidFill>
                  <a:srgbClr val="1A1A1A"/>
                </a:solidFill>
                <a:latin typeface="Times New Roman"/>
              </a:rPr>
              <a:t>Errors</a:t>
            </a:r>
          </a:p>
        </p:txBody>
      </p:sp>
      <p:sp>
        <p:nvSpPr>
          <p:cNvPr id="18" name="Rectangle 17"/>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20" name="TextBox 19"/>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21" name="TextBox 20"/>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2206114</a:t>
            </a:r>
          </a:p>
        </p:txBody>
      </p:sp>
      <p:sp>
        <p:nvSpPr>
          <p:cNvPr id="22" name="TextBox 21"/>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EF8117A2-62A6-4512-9A61-EAACE8F2A84F}" type="slidenum">
              <a:rPr lang="en-US" sz="1300" b="1">
                <a:solidFill>
                  <a:srgbClr val="FFFFFF"/>
                </a:solidFill>
                <a:latin typeface="Times New Roman"/>
              </a:rPr>
              <a:t>‹#›</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2408986" y="109728"/>
            <a:ext cx="7373721" cy="896112"/>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2408986" y="137160"/>
            <a:ext cx="7373721"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5.1 Final Quantitative Results</a:t>
            </a:r>
          </a:p>
        </p:txBody>
      </p:sp>
      <p:sp>
        <p:nvSpPr>
          <p:cNvPr id="4" name="TextBox 3"/>
          <p:cNvSpPr txBox="1"/>
          <p:nvPr/>
        </p:nvSpPr>
        <p:spPr>
          <a:xfrm>
            <a:off x="2408986" y="576072"/>
            <a:ext cx="7373721" cy="365760"/>
          </a:xfrm>
          <a:prstGeom prst="rect">
            <a:avLst/>
          </a:prstGeom>
          <a:noFill/>
        </p:spPr>
        <p:txBody>
          <a:bodyPr wrap="square" anchor="ctr" lIns="18288" rIns="18288" tIns="18288" bIns="18288">
            <a:spAutoFit/>
          </a:bodyPr>
          <a:lstStyle/>
          <a:p>
            <a:pPr algn="ctr">
              <a:spcAft>
                <a:spcPts val="600"/>
              </a:spcAft>
            </a:pPr>
            <a:r>
              <a:rPr sz="1400" b="0" i="1">
                <a:solidFill>
                  <a:srgbClr val="FFFFFF"/>
                </a:solidFill>
                <a:latin typeface="Times New Roman"/>
              </a:rPr>
              <a:t>128 LEVIR-CD test images · full 1024 × 1024 resolution · dataset-level metrics</a:t>
            </a:r>
          </a:p>
        </p:txBody>
      </p:sp>
      <p:sp>
        <p:nvSpPr>
          <p:cNvPr id="5" name="Rounded Rectangle 4"/>
          <p:cNvSpPr/>
          <p:nvPr/>
        </p:nvSpPr>
        <p:spPr>
          <a:xfrm>
            <a:off x="411480" y="1188720"/>
            <a:ext cx="2697480" cy="86868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2600" b="1" i="0">
                <a:solidFill>
                  <a:srgbClr val="FFFFFF"/>
                </a:solidFill>
                <a:latin typeface="Times New Roman"/>
              </a:rPr>
              <a:t>91.17 %</a:t>
            </a:r>
          </a:p>
          <a:p>
            <a:pPr algn="ctr"/>
            <a:r>
              <a:rPr sz="1300" b="0" i="0">
                <a:solidFill>
                  <a:srgbClr val="FFFFFF"/>
                </a:solidFill>
                <a:latin typeface="Times New Roman"/>
              </a:rPr>
              <a:t>Test F1-score</a:t>
            </a:r>
          </a:p>
        </p:txBody>
      </p:sp>
      <p:sp>
        <p:nvSpPr>
          <p:cNvPr id="6" name="Rounded Rectangle 5"/>
          <p:cNvSpPr/>
          <p:nvPr/>
        </p:nvSpPr>
        <p:spPr>
          <a:xfrm>
            <a:off x="3282696" y="1188720"/>
            <a:ext cx="2697480" cy="86868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2600" b="1" i="0">
                <a:solidFill>
                  <a:srgbClr val="C00000"/>
                </a:solidFill>
                <a:latin typeface="Times New Roman"/>
              </a:rPr>
              <a:t>83.78 %</a:t>
            </a:r>
          </a:p>
          <a:p>
            <a:pPr algn="ctr"/>
            <a:r>
              <a:rPr sz="1300" b="0" i="0">
                <a:solidFill>
                  <a:srgbClr val="555B63"/>
                </a:solidFill>
                <a:latin typeface="Times New Roman"/>
              </a:rPr>
              <a:t>Test IoU</a:t>
            </a:r>
          </a:p>
        </p:txBody>
      </p:sp>
      <p:sp>
        <p:nvSpPr>
          <p:cNvPr id="7" name="Rounded Rectangle 6"/>
          <p:cNvSpPr/>
          <p:nvPr/>
        </p:nvSpPr>
        <p:spPr>
          <a:xfrm>
            <a:off x="6153912" y="1188720"/>
            <a:ext cx="2697480" cy="86868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2600" b="1" i="0">
                <a:solidFill>
                  <a:srgbClr val="C00000"/>
                </a:solidFill>
                <a:latin typeface="Times New Roman"/>
              </a:rPr>
              <a:t>99.11 %</a:t>
            </a:r>
          </a:p>
          <a:p>
            <a:pPr algn="ctr"/>
            <a:r>
              <a:rPr sz="1300" b="0" i="0">
                <a:solidFill>
                  <a:srgbClr val="555B63"/>
                </a:solidFill>
                <a:latin typeface="Times New Roman"/>
              </a:rPr>
              <a:t>Overall accuracy</a:t>
            </a:r>
          </a:p>
        </p:txBody>
      </p:sp>
      <p:sp>
        <p:nvSpPr>
          <p:cNvPr id="8" name="Rounded Rectangle 7"/>
          <p:cNvSpPr/>
          <p:nvPr/>
        </p:nvSpPr>
        <p:spPr>
          <a:xfrm>
            <a:off x="9025128" y="1188720"/>
            <a:ext cx="2697480" cy="86868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2600" b="1" i="0">
                <a:solidFill>
                  <a:srgbClr val="C00000"/>
                </a:solidFill>
                <a:latin typeface="Times New Roman"/>
              </a:rPr>
              <a:t>0.907</a:t>
            </a:r>
          </a:p>
          <a:p>
            <a:pPr algn="ctr"/>
            <a:r>
              <a:rPr sz="1300" b="0" i="0">
                <a:solidFill>
                  <a:srgbClr val="555B63"/>
                </a:solidFill>
                <a:latin typeface="Times New Roman"/>
              </a:rPr>
              <a:t>Cohen's κ</a:t>
            </a:r>
          </a:p>
        </p:txBody>
      </p:sp>
      <p:graphicFrame>
        <p:nvGraphicFramePr>
          <p:cNvPr id="9" name="Chart 8"/>
          <p:cNvGraphicFramePr>
            <a:graphicFrameLocks noGrp="1"/>
          </p:cNvGraphicFramePr>
          <p:nvPr/>
        </p:nvGraphicFramePr>
        <p:xfrm>
          <a:off x="411480" y="2240280"/>
          <a:ext cx="5577840" cy="3429000"/>
        </p:xfrm>
        <a:graphic>
          <a:graphicData uri="http://schemas.openxmlformats.org/drawingml/2006/chart">
            <c:chart xmlns:c="http://schemas.openxmlformats.org/drawingml/2006/chart" r:id="rId2"/>
          </a:graphicData>
        </a:graphic>
      </p:graphicFrame>
      <p:graphicFrame>
        <p:nvGraphicFramePr>
          <p:cNvPr id="10" name="Chart 9"/>
          <p:cNvGraphicFramePr>
            <a:graphicFrameLocks noGrp="1"/>
          </p:cNvGraphicFramePr>
          <p:nvPr/>
        </p:nvGraphicFramePr>
        <p:xfrm>
          <a:off x="6217920" y="2240280"/>
          <a:ext cx="5577840" cy="3429000"/>
        </p:xfrm>
        <a:graphic>
          <a:graphicData uri="http://schemas.openxmlformats.org/drawingml/2006/chart">
            <c:chart xmlns:c="http://schemas.openxmlformats.org/drawingml/2006/chart" r:id="rId3"/>
          </a:graphicData>
        </a:graphic>
      </p:graphicFrame>
      <p:sp>
        <p:nvSpPr>
          <p:cNvPr id="11" name="TextBox 10"/>
          <p:cNvSpPr txBox="1"/>
          <p:nvPr/>
        </p:nvSpPr>
        <p:spPr>
          <a:xfrm>
            <a:off x="411480" y="5760720"/>
            <a:ext cx="11384280" cy="640080"/>
          </a:xfrm>
          <a:prstGeom prst="rect">
            <a:avLst/>
          </a:prstGeom>
          <a:noFill/>
        </p:spPr>
        <p:txBody>
          <a:bodyPr wrap="square" anchor="t" lIns="45720" rIns="45720">
            <a:spAutoFit/>
          </a:bodyPr>
          <a:lstStyle/>
          <a:p>
            <a:pPr algn="l">
              <a:spcAft>
                <a:spcPts val="600"/>
              </a:spcAft>
            </a:pPr>
            <a:r>
              <a:rPr sz="1400" b="1" i="0">
                <a:solidFill>
                  <a:srgbClr val="1A1A1A"/>
                </a:solidFill>
                <a:latin typeface="Times New Roman"/>
              </a:rPr>
              <a:t>Error balance: </a:t>
            </a:r>
            <a:r>
              <a:rPr sz="1400" b="0" i="0">
                <a:solidFill>
                  <a:srgbClr val="1A1A1A"/>
                </a:solidFill>
                <a:latin typeface="Times New Roman"/>
              </a:rPr>
              <a:t>false positives 0.41 % vs. false negatives 0.48 % of all pixels.   </a:t>
            </a:r>
            <a:r>
              <a:rPr sz="1400" b="1" i="0">
                <a:solidFill>
                  <a:srgbClr val="1A1A1A"/>
                </a:solidFill>
                <a:latin typeface="Times New Roman"/>
              </a:rPr>
              <a:t>No-change images: </a:t>
            </a:r>
            <a:r>
              <a:rPr sz="1400" b="0" i="0">
                <a:solidFill>
                  <a:srgbClr val="1A1A1A"/>
                </a:solidFill>
                <a:latin typeface="Times New Roman"/>
              </a:rPr>
              <a:t>0 false-alarm pixels on all 10.   </a:t>
            </a:r>
            <a:r>
              <a:rPr sz="1400" b="1" i="0">
                <a:solidFill>
                  <a:srgbClr val="1A1A1A"/>
                </a:solidFill>
                <a:latin typeface="Times New Roman"/>
              </a:rPr>
              <a:t>Threshold: </a:t>
            </a:r>
            <a:r>
              <a:rPr sz="1400" b="0" i="0">
                <a:solidFill>
                  <a:srgbClr val="1A1A1A"/>
                </a:solidFill>
                <a:latin typeface="Times New Roman"/>
              </a:rPr>
              <a:t>0.41, selected on the validation set only.</a:t>
            </a:r>
          </a:p>
        </p:txBody>
      </p:sp>
      <p:sp>
        <p:nvSpPr>
          <p:cNvPr id="12" name="Rectangle 11"/>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4" name="TextBox 13"/>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5" name="TextBox 14"/>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2206114</a:t>
            </a:r>
          </a:p>
        </p:txBody>
      </p:sp>
      <p:sp>
        <p:nvSpPr>
          <p:cNvPr id="16" name="TextBox 15"/>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798627F3-4168-4F44-8612-471744233DB6}" type="slidenum">
              <a:rPr lang="en-US" sz="1300" b="1">
                <a:solidFill>
                  <a:srgbClr val="FFFFFF"/>
                </a:solidFill>
                <a:latin typeface="Times New Roman"/>
              </a:rPr>
              <a:t>‹#›</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2891790" y="109728"/>
            <a:ext cx="6408115" cy="896112"/>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2891790" y="137160"/>
            <a:ext cx="6408115"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5.2 Investigations (PO(d))</a:t>
            </a:r>
          </a:p>
        </p:txBody>
      </p:sp>
      <p:sp>
        <p:nvSpPr>
          <p:cNvPr id="4" name="TextBox 3"/>
          <p:cNvSpPr txBox="1"/>
          <p:nvPr/>
        </p:nvSpPr>
        <p:spPr>
          <a:xfrm>
            <a:off x="2891790" y="576072"/>
            <a:ext cx="6408115" cy="365760"/>
          </a:xfrm>
          <a:prstGeom prst="rect">
            <a:avLst/>
          </a:prstGeom>
          <a:noFill/>
        </p:spPr>
        <p:txBody>
          <a:bodyPr wrap="square" anchor="ctr" lIns="18288" rIns="18288" tIns="18288" bIns="18288">
            <a:spAutoFit/>
          </a:bodyPr>
          <a:lstStyle/>
          <a:p>
            <a:pPr algn="ctr">
              <a:spcAft>
                <a:spcPts val="600"/>
              </a:spcAft>
            </a:pPr>
            <a:r>
              <a:rPr sz="1400" b="0" i="1">
                <a:solidFill>
                  <a:srgbClr val="FFFFFF"/>
                </a:solidFill>
                <a:latin typeface="Times New Roman"/>
              </a:rPr>
              <a:t>Controlled experiments on the same 128 test images, threshold 0.41</a:t>
            </a:r>
          </a:p>
        </p:txBody>
      </p:sp>
      <p:graphicFrame>
        <p:nvGraphicFramePr>
          <p:cNvPr id="5" name="Table 4"/>
          <p:cNvGraphicFramePr>
            <a:graphicFrameLocks noGrp="1"/>
          </p:cNvGraphicFramePr>
          <p:nvPr/>
        </p:nvGraphicFramePr>
        <p:xfrm>
          <a:off x="411480" y="1234440"/>
          <a:ext cx="6766560" cy="2377440"/>
        </p:xfrm>
        <a:graphic>
          <a:graphicData uri="http://schemas.openxmlformats.org/drawingml/2006/table">
            <a:tbl>
              <a:tblPr firstRow="1" bandRow="1">
                <a:tableStyleId>{5C22544A-7EE6-4342-B048-85BDC9FD1C3A}</a:tableStyleId>
              </a:tblPr>
              <a:tblGrid>
                <a:gridCol w="3200400"/>
                <a:gridCol w="1280160"/>
                <a:gridCol w="1143000"/>
                <a:gridCol w="1143000"/>
              </a:tblGrid>
              <a:tr h="475488">
                <a:tc>
                  <a:txBody>
                    <a:bodyPr/>
                    <a:lstStyle/>
                    <a:p>
                      <a:pPr algn="l"/>
                      <a:r>
                        <a:rPr sz="1400" b="1">
                          <a:solidFill>
                            <a:srgbClr val="FFFFFF"/>
                          </a:solidFill>
                          <a:latin typeface="Times New Roman"/>
                        </a:rPr>
                        <a:t>Configuration</a:t>
                      </a:r>
                    </a:p>
                  </a:txBody>
                  <a:tcPr marL="64008" marR="64008" anchor="ctr">
                    <a:solidFill>
                      <a:srgbClr val="1F497D"/>
                    </a:solidFill>
                  </a:tcPr>
                </a:tc>
                <a:tc>
                  <a:txBody>
                    <a:bodyPr/>
                    <a:lstStyle/>
                    <a:p>
                      <a:pPr algn="ctr"/>
                      <a:r>
                        <a:rPr sz="1400" b="1">
                          <a:solidFill>
                            <a:srgbClr val="FFFFFF"/>
                          </a:solidFill>
                          <a:latin typeface="Times New Roman"/>
                        </a:rPr>
                        <a:t>Input</a:t>
                      </a:r>
                    </a:p>
                  </a:txBody>
                  <a:tcPr marL="64008" marR="64008" anchor="ctr">
                    <a:solidFill>
                      <a:srgbClr val="1F497D"/>
                    </a:solidFill>
                  </a:tcPr>
                </a:tc>
                <a:tc>
                  <a:txBody>
                    <a:bodyPr/>
                    <a:lstStyle/>
                    <a:p>
                      <a:pPr algn="ctr"/>
                      <a:r>
                        <a:rPr sz="1400" b="1">
                          <a:solidFill>
                            <a:srgbClr val="FFFFFF"/>
                          </a:solidFill>
                          <a:latin typeface="Times New Roman"/>
                        </a:rPr>
                        <a:t>Test F1 (%)</a:t>
                      </a:r>
                    </a:p>
                  </a:txBody>
                  <a:tcPr marL="64008" marR="64008" anchor="ctr">
                    <a:solidFill>
                      <a:srgbClr val="1F497D"/>
                    </a:solidFill>
                  </a:tcPr>
                </a:tc>
                <a:tc>
                  <a:txBody>
                    <a:bodyPr/>
                    <a:lstStyle/>
                    <a:p>
                      <a:pPr algn="ctr"/>
                      <a:r>
                        <a:rPr sz="1400" b="1">
                          <a:solidFill>
                            <a:srgbClr val="FFFFFF"/>
                          </a:solidFill>
                          <a:latin typeface="Times New Roman"/>
                        </a:rPr>
                        <a:t>Test IoU (%)</a:t>
                      </a:r>
                    </a:p>
                  </a:txBody>
                  <a:tcPr marL="64008" marR="64008" anchor="ctr">
                    <a:solidFill>
                      <a:srgbClr val="1F497D"/>
                    </a:solidFill>
                  </a:tcPr>
                </a:tc>
              </a:tr>
              <a:tr h="475488">
                <a:tc>
                  <a:txBody>
                    <a:bodyPr/>
                    <a:lstStyle/>
                    <a:p>
                      <a:pPr algn="l"/>
                      <a:r>
                        <a:rPr sz="1400">
                          <a:solidFill>
                            <a:srgbClr val="1A1A1A"/>
                          </a:solidFill>
                          <a:latin typeface="Times New Roman"/>
                        </a:rPr>
                        <a:t>v1 – first model (resized 256², 3 bugs)</a:t>
                      </a:r>
                    </a:p>
                  </a:txBody>
                  <a:tcPr marL="64008" marR="64008" anchor="ctr">
                    <a:solidFill>
                      <a:srgbClr val="FFFFFF"/>
                    </a:solidFill>
                  </a:tcPr>
                </a:tc>
                <a:tc>
                  <a:txBody>
                    <a:bodyPr/>
                    <a:lstStyle/>
                    <a:p>
                      <a:pPr algn="ctr"/>
                      <a:r>
                        <a:rPr sz="1400">
                          <a:solidFill>
                            <a:srgbClr val="1A1A1A"/>
                          </a:solidFill>
                          <a:latin typeface="Times New Roman"/>
                        </a:rPr>
                        <a:t>RGB + Canny</a:t>
                      </a:r>
                    </a:p>
                  </a:txBody>
                  <a:tcPr marL="64008" marR="64008" anchor="ctr">
                    <a:solidFill>
                      <a:srgbClr val="FFFFFF"/>
                    </a:solidFill>
                  </a:tcPr>
                </a:tc>
                <a:tc>
                  <a:txBody>
                    <a:bodyPr/>
                    <a:lstStyle/>
                    <a:p>
                      <a:pPr algn="ctr"/>
                      <a:r>
                        <a:rPr sz="1400">
                          <a:solidFill>
                            <a:srgbClr val="1A1A1A"/>
                          </a:solidFill>
                          <a:latin typeface="Times New Roman"/>
                        </a:rPr>
                        <a:t>77.12</a:t>
                      </a:r>
                    </a:p>
                  </a:txBody>
                  <a:tcPr marL="64008" marR="64008" anchor="ctr">
                    <a:solidFill>
                      <a:srgbClr val="FFFFFF"/>
                    </a:solidFill>
                  </a:tcPr>
                </a:tc>
                <a:tc>
                  <a:txBody>
                    <a:bodyPr/>
                    <a:lstStyle/>
                    <a:p>
                      <a:pPr algn="ctr"/>
                      <a:r>
                        <a:rPr sz="1400">
                          <a:solidFill>
                            <a:srgbClr val="1A1A1A"/>
                          </a:solidFill>
                          <a:latin typeface="Times New Roman"/>
                        </a:rPr>
                        <a:t>62.76</a:t>
                      </a:r>
                    </a:p>
                  </a:txBody>
                  <a:tcPr marL="64008" marR="64008" anchor="ctr">
                    <a:solidFill>
                      <a:srgbClr val="FFFFFF"/>
                    </a:solidFill>
                  </a:tcPr>
                </a:tc>
              </a:tr>
              <a:tr h="475488">
                <a:tc>
                  <a:txBody>
                    <a:bodyPr/>
                    <a:lstStyle/>
                    <a:p>
                      <a:pPr algn="l"/>
                      <a:r>
                        <a:rPr sz="1400">
                          <a:solidFill>
                            <a:srgbClr val="1A1A1A"/>
                          </a:solidFill>
                          <a:latin typeface="Times New Roman"/>
                        </a:rPr>
                        <a:t>v2 – final model, no TTA</a:t>
                      </a:r>
                    </a:p>
                  </a:txBody>
                  <a:tcPr marL="64008" marR="64008" anchor="ctr">
                    <a:solidFill>
                      <a:srgbClr val="F2F2F2"/>
                    </a:solidFill>
                  </a:tcPr>
                </a:tc>
                <a:tc>
                  <a:txBody>
                    <a:bodyPr/>
                    <a:lstStyle/>
                    <a:p>
                      <a:pPr algn="ctr"/>
                      <a:r>
                        <a:rPr sz="1400">
                          <a:solidFill>
                            <a:srgbClr val="1A1A1A"/>
                          </a:solidFill>
                          <a:latin typeface="Times New Roman"/>
                        </a:rPr>
                        <a:t>RGB + Canny</a:t>
                      </a:r>
                    </a:p>
                  </a:txBody>
                  <a:tcPr marL="64008" marR="64008" anchor="ctr">
                    <a:solidFill>
                      <a:srgbClr val="F2F2F2"/>
                    </a:solidFill>
                  </a:tcPr>
                </a:tc>
                <a:tc>
                  <a:txBody>
                    <a:bodyPr/>
                    <a:lstStyle/>
                    <a:p>
                      <a:pPr algn="ctr"/>
                      <a:r>
                        <a:rPr sz="1400">
                          <a:solidFill>
                            <a:srgbClr val="1A1A1A"/>
                          </a:solidFill>
                          <a:latin typeface="Times New Roman"/>
                        </a:rPr>
                        <a:t>90.77</a:t>
                      </a:r>
                    </a:p>
                  </a:txBody>
                  <a:tcPr marL="64008" marR="64008" anchor="ctr">
                    <a:solidFill>
                      <a:srgbClr val="F2F2F2"/>
                    </a:solidFill>
                  </a:tcPr>
                </a:tc>
                <a:tc>
                  <a:txBody>
                    <a:bodyPr/>
                    <a:lstStyle/>
                    <a:p>
                      <a:pPr algn="ctr"/>
                      <a:r>
                        <a:rPr sz="1400">
                          <a:solidFill>
                            <a:srgbClr val="1A1A1A"/>
                          </a:solidFill>
                          <a:latin typeface="Times New Roman"/>
                        </a:rPr>
                        <a:t>83.10</a:t>
                      </a:r>
                    </a:p>
                  </a:txBody>
                  <a:tcPr marL="64008" marR="64008" anchor="ctr">
                    <a:solidFill>
                      <a:srgbClr val="F2F2F2"/>
                    </a:solidFill>
                  </a:tcPr>
                </a:tc>
              </a:tr>
              <a:tr h="475488">
                <a:tc>
                  <a:txBody>
                    <a:bodyPr/>
                    <a:lstStyle/>
                    <a:p>
                      <a:pPr algn="l"/>
                      <a:r>
                        <a:rPr sz="1400" b="1">
                          <a:solidFill>
                            <a:srgbClr val="1A1A1A"/>
                          </a:solidFill>
                          <a:latin typeface="Times New Roman"/>
                        </a:rPr>
                        <a:t>v2 – final model + TTA</a:t>
                      </a:r>
                    </a:p>
                  </a:txBody>
                  <a:tcPr marL="64008" marR="64008" anchor="ctr">
                    <a:solidFill>
                      <a:srgbClr val="FBE4E4"/>
                    </a:solidFill>
                  </a:tcPr>
                </a:tc>
                <a:tc>
                  <a:txBody>
                    <a:bodyPr/>
                    <a:lstStyle/>
                    <a:p>
                      <a:pPr algn="ctr"/>
                      <a:r>
                        <a:rPr sz="1400" b="1">
                          <a:solidFill>
                            <a:srgbClr val="1A1A1A"/>
                          </a:solidFill>
                          <a:latin typeface="Times New Roman"/>
                        </a:rPr>
                        <a:t>RGB + Canny</a:t>
                      </a:r>
                    </a:p>
                  </a:txBody>
                  <a:tcPr marL="64008" marR="64008" anchor="ctr">
                    <a:solidFill>
                      <a:srgbClr val="FBE4E4"/>
                    </a:solidFill>
                  </a:tcPr>
                </a:tc>
                <a:tc>
                  <a:txBody>
                    <a:bodyPr/>
                    <a:lstStyle/>
                    <a:p>
                      <a:pPr algn="ctr"/>
                      <a:r>
                        <a:rPr sz="1400" b="1">
                          <a:solidFill>
                            <a:srgbClr val="1A1A1A"/>
                          </a:solidFill>
                          <a:latin typeface="Times New Roman"/>
                        </a:rPr>
                        <a:t>91.17</a:t>
                      </a:r>
                    </a:p>
                  </a:txBody>
                  <a:tcPr marL="64008" marR="64008" anchor="ctr">
                    <a:solidFill>
                      <a:srgbClr val="FBE4E4"/>
                    </a:solidFill>
                  </a:tcPr>
                </a:tc>
                <a:tc>
                  <a:txBody>
                    <a:bodyPr/>
                    <a:lstStyle/>
                    <a:p>
                      <a:pPr algn="ctr"/>
                      <a:r>
                        <a:rPr sz="1400" b="1">
                          <a:solidFill>
                            <a:srgbClr val="1A1A1A"/>
                          </a:solidFill>
                          <a:latin typeface="Times New Roman"/>
                        </a:rPr>
                        <a:t>83.78</a:t>
                      </a:r>
                    </a:p>
                  </a:txBody>
                  <a:tcPr marL="64008" marR="64008" anchor="ctr">
                    <a:solidFill>
                      <a:srgbClr val="FBE4E4"/>
                    </a:solidFill>
                  </a:tcPr>
                </a:tc>
              </a:tr>
              <a:tr h="475488">
                <a:tc>
                  <a:txBody>
                    <a:bodyPr/>
                    <a:lstStyle/>
                    <a:p>
                      <a:pPr algn="l"/>
                      <a:r>
                        <a:rPr sz="1400">
                          <a:solidFill>
                            <a:srgbClr val="1A1A1A"/>
                          </a:solidFill>
                          <a:latin typeface="Times New Roman"/>
                        </a:rPr>
                        <a:t>v2 – DSP ablation + TTA</a:t>
                      </a:r>
                    </a:p>
                  </a:txBody>
                  <a:tcPr marL="64008" marR="64008" anchor="ctr">
                    <a:solidFill>
                      <a:srgbClr val="F2F2F2"/>
                    </a:solidFill>
                  </a:tcPr>
                </a:tc>
                <a:tc>
                  <a:txBody>
                    <a:bodyPr/>
                    <a:lstStyle/>
                    <a:p>
                      <a:pPr algn="ctr"/>
                      <a:r>
                        <a:rPr sz="1400">
                          <a:solidFill>
                            <a:srgbClr val="1A1A1A"/>
                          </a:solidFill>
                          <a:latin typeface="Times New Roman"/>
                        </a:rPr>
                        <a:t>RGB only</a:t>
                      </a:r>
                    </a:p>
                  </a:txBody>
                  <a:tcPr marL="64008" marR="64008" anchor="ctr">
                    <a:solidFill>
                      <a:srgbClr val="F2F2F2"/>
                    </a:solidFill>
                  </a:tcPr>
                </a:tc>
                <a:tc>
                  <a:txBody>
                    <a:bodyPr/>
                    <a:lstStyle/>
                    <a:p>
                      <a:pPr algn="ctr"/>
                      <a:r>
                        <a:rPr sz="1400">
                          <a:solidFill>
                            <a:srgbClr val="1A1A1A"/>
                          </a:solidFill>
                          <a:latin typeface="Times New Roman"/>
                        </a:rPr>
                        <a:t>91.63</a:t>
                      </a:r>
                    </a:p>
                  </a:txBody>
                  <a:tcPr marL="64008" marR="64008" anchor="ctr">
                    <a:solidFill>
                      <a:srgbClr val="F2F2F2"/>
                    </a:solidFill>
                  </a:tcPr>
                </a:tc>
                <a:tc>
                  <a:txBody>
                    <a:bodyPr/>
                    <a:lstStyle/>
                    <a:p>
                      <a:pPr algn="ctr"/>
                      <a:r>
                        <a:rPr sz="1400">
                          <a:solidFill>
                            <a:srgbClr val="1A1A1A"/>
                          </a:solidFill>
                          <a:latin typeface="Times New Roman"/>
                        </a:rPr>
                        <a:t>84.56</a:t>
                      </a:r>
                    </a:p>
                  </a:txBody>
                  <a:tcPr marL="64008" marR="64008" anchor="ctr">
                    <a:solidFill>
                      <a:srgbClr val="F2F2F2"/>
                    </a:solidFill>
                  </a:tcPr>
                </a:tc>
              </a:tr>
            </a:tbl>
          </a:graphicData>
        </a:graphic>
      </p:graphicFrame>
      <p:graphicFrame>
        <p:nvGraphicFramePr>
          <p:cNvPr id="6" name="Chart 5"/>
          <p:cNvGraphicFramePr>
            <a:graphicFrameLocks noGrp="1"/>
          </p:cNvGraphicFramePr>
          <p:nvPr/>
        </p:nvGraphicFramePr>
        <p:xfrm>
          <a:off x="411480" y="3749039"/>
          <a:ext cx="6766560" cy="2606040"/>
        </p:xfrm>
        <a:graphic>
          <a:graphicData uri="http://schemas.openxmlformats.org/drawingml/2006/chart">
            <c:chart xmlns:c="http://schemas.openxmlformats.org/drawingml/2006/chart" r:id="rId2"/>
          </a:graphicData>
        </a:graphic>
      </p:graphicFrame>
      <p:sp>
        <p:nvSpPr>
          <p:cNvPr id="7" name="Rounded Rectangle 6"/>
          <p:cNvSpPr/>
          <p:nvPr/>
        </p:nvSpPr>
        <p:spPr>
          <a:xfrm>
            <a:off x="7406640" y="1234440"/>
            <a:ext cx="4389120" cy="1069848"/>
          </a:xfrm>
          <a:prstGeom prst="roundRect">
            <a:avLst>
              <a:gd name="adj" fmla="val 8000"/>
            </a:avLst>
          </a:prstGeom>
          <a:solidFill>
            <a:srgbClr val="FBE4E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498079" y="1252728"/>
            <a:ext cx="4206240" cy="1033271"/>
          </a:xfrm>
          <a:prstGeom prst="rect">
            <a:avLst/>
          </a:prstGeom>
          <a:noFill/>
        </p:spPr>
        <p:txBody>
          <a:bodyPr wrap="square" anchor="ctr" lIns="45720" rIns="45720">
            <a:spAutoFit/>
          </a:bodyPr>
          <a:lstStyle/>
          <a:p>
            <a:pPr algn="l">
              <a:spcAft>
                <a:spcPts val="100"/>
              </a:spcAft>
            </a:pPr>
            <a:r>
              <a:rPr sz="1400" b="1" i="0">
                <a:solidFill>
                  <a:srgbClr val="C00000"/>
                </a:solidFill>
                <a:latin typeface="Times New Roman"/>
              </a:rPr>
              <a:t>DSP ablation</a:t>
            </a:r>
          </a:p>
          <a:p>
            <a:pPr algn="l">
              <a:spcAft>
                <a:spcPts val="100"/>
              </a:spcAft>
            </a:pPr>
            <a:r>
              <a:rPr sz="1200" b="0" i="0">
                <a:solidFill>
                  <a:srgbClr val="1A1A1A"/>
                </a:solidFill>
                <a:latin typeface="Times New Roman"/>
              </a:rPr>
              <a:t>Removing the Canny channel did not lower F1 (91.63 % vs 91.17 %). The fixed edge channel gives no measurable gain on LEVIR-CD – the ImageNet encoder's first layer already learns edge filters.</a:t>
            </a:r>
          </a:p>
        </p:txBody>
      </p:sp>
      <p:sp>
        <p:nvSpPr>
          <p:cNvPr id="9" name="Rounded Rectangle 8"/>
          <p:cNvSpPr/>
          <p:nvPr/>
        </p:nvSpPr>
        <p:spPr>
          <a:xfrm>
            <a:off x="7406640" y="2404872"/>
            <a:ext cx="4389120" cy="841248"/>
          </a:xfrm>
          <a:prstGeom prst="roundRect">
            <a:avLst>
              <a:gd name="adj" fmla="val 8000"/>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98079" y="2423160"/>
            <a:ext cx="4206240" cy="804672"/>
          </a:xfrm>
          <a:prstGeom prst="rect">
            <a:avLst/>
          </a:prstGeom>
          <a:noFill/>
        </p:spPr>
        <p:txBody>
          <a:bodyPr wrap="square" anchor="ctr" lIns="45720" rIns="45720">
            <a:spAutoFit/>
          </a:bodyPr>
          <a:lstStyle/>
          <a:p>
            <a:pPr algn="l">
              <a:spcAft>
                <a:spcPts val="100"/>
              </a:spcAft>
            </a:pPr>
            <a:r>
              <a:rPr sz="1400" b="1" i="0">
                <a:solidFill>
                  <a:srgbClr val="C00000"/>
                </a:solidFill>
                <a:latin typeface="Times New Roman"/>
              </a:rPr>
              <a:t>Bug fixes (v1 → v2)</a:t>
            </a:r>
          </a:p>
          <a:p>
            <a:pPr algn="l">
              <a:spcAft>
                <a:spcPts val="100"/>
              </a:spcAft>
            </a:pPr>
            <a:r>
              <a:rPr sz="1200" b="0" i="0">
                <a:solidFill>
                  <a:srgbClr val="1A1A1A"/>
                </a:solidFill>
                <a:latin typeface="Times New Roman"/>
              </a:rPr>
              <a:t>Batch-mixing in attention, a 255× weaker edge channel and 4× down-sampling: fixing them gave +14.05 F1.</a:t>
            </a:r>
          </a:p>
        </p:txBody>
      </p:sp>
      <p:sp>
        <p:nvSpPr>
          <p:cNvPr id="11" name="Rounded Rectangle 10"/>
          <p:cNvSpPr/>
          <p:nvPr/>
        </p:nvSpPr>
        <p:spPr>
          <a:xfrm>
            <a:off x="7406640" y="3346704"/>
            <a:ext cx="4389120" cy="841248"/>
          </a:xfrm>
          <a:prstGeom prst="roundRect">
            <a:avLst>
              <a:gd name="adj" fmla="val 8000"/>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79" y="3364992"/>
            <a:ext cx="4206240" cy="804672"/>
          </a:xfrm>
          <a:prstGeom prst="rect">
            <a:avLst/>
          </a:prstGeom>
          <a:noFill/>
        </p:spPr>
        <p:txBody>
          <a:bodyPr wrap="square" anchor="ctr" lIns="45720" rIns="45720">
            <a:spAutoFit/>
          </a:bodyPr>
          <a:lstStyle/>
          <a:p>
            <a:pPr algn="l">
              <a:spcAft>
                <a:spcPts val="100"/>
              </a:spcAft>
            </a:pPr>
            <a:r>
              <a:rPr sz="1400" b="1" i="0">
                <a:solidFill>
                  <a:srgbClr val="C00000"/>
                </a:solidFill>
                <a:latin typeface="Times New Roman"/>
              </a:rPr>
              <a:t>Test-time augmentation</a:t>
            </a:r>
          </a:p>
          <a:p>
            <a:pPr algn="l">
              <a:spcAft>
                <a:spcPts val="100"/>
              </a:spcAft>
            </a:pPr>
            <a:r>
              <a:rPr sz="1200" b="0" i="0">
                <a:solidFill>
                  <a:srgbClr val="1A1A1A"/>
                </a:solidFill>
                <a:latin typeface="Times New Roman"/>
              </a:rPr>
              <a:t>Averaging 4 flipped predictions: +0.40 F1, +0.68 IoU.</a:t>
            </a:r>
          </a:p>
        </p:txBody>
      </p:sp>
      <p:sp>
        <p:nvSpPr>
          <p:cNvPr id="13" name="Rounded Rectangle 12"/>
          <p:cNvSpPr/>
          <p:nvPr/>
        </p:nvSpPr>
        <p:spPr>
          <a:xfrm>
            <a:off x="7406640" y="4288536"/>
            <a:ext cx="4389120" cy="841248"/>
          </a:xfrm>
          <a:prstGeom prst="roundRect">
            <a:avLst>
              <a:gd name="adj" fmla="val 8000"/>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498079" y="4306824"/>
            <a:ext cx="4206240" cy="804672"/>
          </a:xfrm>
          <a:prstGeom prst="rect">
            <a:avLst/>
          </a:prstGeom>
          <a:noFill/>
        </p:spPr>
        <p:txBody>
          <a:bodyPr wrap="square" anchor="ctr" lIns="45720" rIns="45720">
            <a:spAutoFit/>
          </a:bodyPr>
          <a:lstStyle/>
          <a:p>
            <a:pPr algn="l">
              <a:spcAft>
                <a:spcPts val="100"/>
              </a:spcAft>
            </a:pPr>
            <a:r>
              <a:rPr sz="1400" b="1" i="0">
                <a:solidFill>
                  <a:srgbClr val="C00000"/>
                </a:solidFill>
                <a:latin typeface="Times New Roman"/>
              </a:rPr>
              <a:t>Theory vs experiment</a:t>
            </a:r>
          </a:p>
          <a:p>
            <a:pPr algn="l">
              <a:spcAft>
                <a:spcPts val="100"/>
              </a:spcAft>
            </a:pPr>
            <a:r>
              <a:rPr sz="1200" b="0" i="0">
                <a:solidFill>
                  <a:srgbClr val="1A1A1A"/>
                </a:solidFill>
                <a:latin typeface="Times New Roman"/>
              </a:rPr>
              <a:t>IoU = F1 / (2 − F1) = 0.9117 / 1.0883 = 0.8378, identical to the measured 0.8378.</a:t>
            </a:r>
          </a:p>
        </p:txBody>
      </p:sp>
      <p:sp>
        <p:nvSpPr>
          <p:cNvPr id="15" name="Rounded Rectangle 14"/>
          <p:cNvSpPr/>
          <p:nvPr/>
        </p:nvSpPr>
        <p:spPr>
          <a:xfrm>
            <a:off x="7406640" y="5230368"/>
            <a:ext cx="4389120" cy="841248"/>
          </a:xfrm>
          <a:prstGeom prst="roundRect">
            <a:avLst>
              <a:gd name="adj" fmla="val 8000"/>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498079" y="5248656"/>
            <a:ext cx="4206240" cy="804672"/>
          </a:xfrm>
          <a:prstGeom prst="rect">
            <a:avLst/>
          </a:prstGeom>
          <a:noFill/>
        </p:spPr>
        <p:txBody>
          <a:bodyPr wrap="square" anchor="ctr" lIns="45720" rIns="45720">
            <a:spAutoFit/>
          </a:bodyPr>
          <a:lstStyle/>
          <a:p>
            <a:pPr algn="l">
              <a:spcAft>
                <a:spcPts val="100"/>
              </a:spcAft>
            </a:pPr>
            <a:r>
              <a:rPr sz="1400" b="1" i="0">
                <a:solidFill>
                  <a:srgbClr val="C00000"/>
                </a:solidFill>
                <a:latin typeface="Times New Roman"/>
              </a:rPr>
              <a:t>Threshold transfer</a:t>
            </a:r>
          </a:p>
          <a:p>
            <a:pPr algn="l">
              <a:spcAft>
                <a:spcPts val="100"/>
              </a:spcAft>
            </a:pPr>
            <a:r>
              <a:rPr sz="1200" b="0" i="0">
                <a:solidFill>
                  <a:srgbClr val="1A1A1A"/>
                </a:solidFill>
                <a:latin typeface="Times New Roman"/>
              </a:rPr>
              <a:t>Validation-chosen 0.41 gives 0.9117 F1; best possible on test is 0.9118.</a:t>
            </a:r>
          </a:p>
        </p:txBody>
      </p:sp>
      <p:sp>
        <p:nvSpPr>
          <p:cNvPr id="17" name="Rectangle 16"/>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9" name="TextBox 18"/>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20" name="TextBox 19"/>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2206114</a:t>
            </a:r>
          </a:p>
        </p:txBody>
      </p:sp>
      <p:sp>
        <p:nvSpPr>
          <p:cNvPr id="21" name="TextBox 20"/>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33836776-7AEE-473E-A3D6-AB4243267A2D}" type="slidenum">
              <a:rPr lang="en-US" sz="1300" b="1">
                <a:solidFill>
                  <a:srgbClr val="FFFFFF"/>
                </a:solidFill>
                <a:latin typeface="Times New Roman"/>
              </a:rPr>
              <a:t>‹#›</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604314" y="109728"/>
            <a:ext cx="8983065" cy="896112"/>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604314" y="137160"/>
            <a:ext cx="8983065"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5.3 Old vs New Model · 3-Channel vs 4-Channel Input</a:t>
            </a:r>
          </a:p>
        </p:txBody>
      </p:sp>
      <p:sp>
        <p:nvSpPr>
          <p:cNvPr id="4" name="TextBox 3"/>
          <p:cNvSpPr txBox="1"/>
          <p:nvPr/>
        </p:nvSpPr>
        <p:spPr>
          <a:xfrm>
            <a:off x="1604314" y="576072"/>
            <a:ext cx="8983065" cy="365760"/>
          </a:xfrm>
          <a:prstGeom prst="rect">
            <a:avLst/>
          </a:prstGeom>
          <a:noFill/>
        </p:spPr>
        <p:txBody>
          <a:bodyPr wrap="square" anchor="ctr" lIns="18288" rIns="18288" tIns="18288" bIns="18288">
            <a:spAutoFit/>
          </a:bodyPr>
          <a:lstStyle/>
          <a:p>
            <a:pPr algn="ctr">
              <a:spcAft>
                <a:spcPts val="600"/>
              </a:spcAft>
            </a:pPr>
            <a:r>
              <a:rPr sz="1400" b="0" i="1">
                <a:solidFill>
                  <a:srgbClr val="FFFFFF"/>
                </a:solidFill>
                <a:latin typeface="Times New Roman"/>
              </a:rPr>
              <a:t>Same protocol: full resolution, thresholds from LEVIR-CD validation; WHU-CD never seen in training</a:t>
            </a:r>
          </a:p>
        </p:txBody>
      </p:sp>
      <p:graphicFrame>
        <p:nvGraphicFramePr>
          <p:cNvPr id="5" name="Table 4"/>
          <p:cNvGraphicFramePr>
            <a:graphicFrameLocks noGrp="1"/>
          </p:cNvGraphicFramePr>
          <p:nvPr/>
        </p:nvGraphicFramePr>
        <p:xfrm>
          <a:off x="411480" y="1188720"/>
          <a:ext cx="6812280" cy="2514600"/>
        </p:xfrm>
        <a:graphic>
          <a:graphicData uri="http://schemas.openxmlformats.org/drawingml/2006/table">
            <a:tbl>
              <a:tblPr firstRow="1" bandRow="1">
                <a:tableStyleId>{5C22544A-7EE6-4342-B048-85BDC9FD1C3A}</a:tableStyleId>
              </a:tblPr>
              <a:tblGrid>
                <a:gridCol w="1783080"/>
                <a:gridCol w="1737360"/>
                <a:gridCol w="822960"/>
                <a:gridCol w="822960"/>
                <a:gridCol w="822960"/>
                <a:gridCol w="822960"/>
              </a:tblGrid>
              <a:tr h="419100">
                <a:tc>
                  <a:txBody>
                    <a:bodyPr/>
                    <a:lstStyle/>
                    <a:p>
                      <a:pPr algn="l"/>
                      <a:r>
                        <a:rPr sz="1300" b="1">
                          <a:solidFill>
                            <a:srgbClr val="FFFFFF"/>
                          </a:solidFill>
                          <a:latin typeface="Times New Roman"/>
                        </a:rPr>
                        <a:t>Model</a:t>
                      </a:r>
                    </a:p>
                  </a:txBody>
                  <a:tcPr marL="64008" marR="64008" anchor="ctr">
                    <a:solidFill>
                      <a:srgbClr val="1F497D"/>
                    </a:solidFill>
                  </a:tcPr>
                </a:tc>
                <a:tc>
                  <a:txBody>
                    <a:bodyPr/>
                    <a:lstStyle/>
                    <a:p>
                      <a:pPr algn="l"/>
                      <a:r>
                        <a:rPr sz="1300" b="1">
                          <a:solidFill>
                            <a:srgbClr val="FFFFFF"/>
                          </a:solidFill>
                          <a:latin typeface="Times New Roman"/>
                        </a:rPr>
                        <a:t>Input</a:t>
                      </a:r>
                    </a:p>
                  </a:txBody>
                  <a:tcPr marL="64008" marR="64008" anchor="ctr">
                    <a:solidFill>
                      <a:srgbClr val="1F497D"/>
                    </a:solidFill>
                  </a:tcPr>
                </a:tc>
                <a:tc>
                  <a:txBody>
                    <a:bodyPr/>
                    <a:lstStyle/>
                    <a:p>
                      <a:pPr algn="ctr"/>
                      <a:r>
                        <a:rPr sz="1300" b="1">
                          <a:solidFill>
                            <a:srgbClr val="FFFFFF"/>
                          </a:solidFill>
                          <a:latin typeface="Times New Roman"/>
                        </a:rPr>
                        <a:t>LEVIR F1</a:t>
                      </a:r>
                    </a:p>
                  </a:txBody>
                  <a:tcPr marL="64008" marR="64008" anchor="ctr">
                    <a:solidFill>
                      <a:srgbClr val="1F497D"/>
                    </a:solidFill>
                  </a:tcPr>
                </a:tc>
                <a:tc>
                  <a:txBody>
                    <a:bodyPr/>
                    <a:lstStyle/>
                    <a:p>
                      <a:pPr algn="ctr"/>
                      <a:r>
                        <a:rPr sz="1300" b="1">
                          <a:solidFill>
                            <a:srgbClr val="FFFFFF"/>
                          </a:solidFill>
                          <a:latin typeface="Times New Roman"/>
                        </a:rPr>
                        <a:t>LEVIR IoU</a:t>
                      </a:r>
                    </a:p>
                  </a:txBody>
                  <a:tcPr marL="64008" marR="64008" anchor="ctr">
                    <a:solidFill>
                      <a:srgbClr val="1F497D"/>
                    </a:solidFill>
                  </a:tcPr>
                </a:tc>
                <a:tc>
                  <a:txBody>
                    <a:bodyPr/>
                    <a:lstStyle/>
                    <a:p>
                      <a:pPr algn="ctr"/>
                      <a:r>
                        <a:rPr sz="1300" b="1">
                          <a:solidFill>
                            <a:srgbClr val="FFFFFF"/>
                          </a:solidFill>
                          <a:latin typeface="Times New Roman"/>
                        </a:rPr>
                        <a:t>WHU F1</a:t>
                      </a:r>
                    </a:p>
                  </a:txBody>
                  <a:tcPr marL="64008" marR="64008" anchor="ctr">
                    <a:solidFill>
                      <a:srgbClr val="1F497D"/>
                    </a:solidFill>
                  </a:tcPr>
                </a:tc>
                <a:tc>
                  <a:txBody>
                    <a:bodyPr/>
                    <a:lstStyle/>
                    <a:p>
                      <a:pPr algn="ctr"/>
                      <a:r>
                        <a:rPr sz="1300" b="1">
                          <a:solidFill>
                            <a:srgbClr val="FFFFFF"/>
                          </a:solidFill>
                          <a:latin typeface="Times New Roman"/>
                        </a:rPr>
                        <a:t>WHU IoU</a:t>
                      </a:r>
                    </a:p>
                  </a:txBody>
                  <a:tcPr marL="64008" marR="64008" anchor="ctr">
                    <a:solidFill>
                      <a:srgbClr val="1F497D"/>
                    </a:solidFill>
                  </a:tcPr>
                </a:tc>
              </a:tr>
              <a:tr h="419100">
                <a:tc>
                  <a:txBody>
                    <a:bodyPr/>
                    <a:lstStyle/>
                    <a:p>
                      <a:pPr algn="l"/>
                      <a:r>
                        <a:rPr sz="1300">
                          <a:solidFill>
                            <a:srgbClr val="1A1A1A"/>
                          </a:solidFill>
                          <a:latin typeface="Times New Roman"/>
                        </a:rPr>
                        <a:t>v1 – old (256 px)</a:t>
                      </a:r>
                    </a:p>
                  </a:txBody>
                  <a:tcPr marL="64008" marR="64008" anchor="ctr">
                    <a:solidFill>
                      <a:srgbClr val="FFFFFF"/>
                    </a:solidFill>
                  </a:tcPr>
                </a:tc>
                <a:tc>
                  <a:txBody>
                    <a:bodyPr/>
                    <a:lstStyle/>
                    <a:p>
                      <a:pPr algn="l"/>
                      <a:r>
                        <a:rPr sz="1300">
                          <a:solidFill>
                            <a:srgbClr val="1A1A1A"/>
                          </a:solidFill>
                          <a:latin typeface="Times New Roman"/>
                        </a:rPr>
                        <a:t>raw RGB + Canny</a:t>
                      </a:r>
                    </a:p>
                  </a:txBody>
                  <a:tcPr marL="64008" marR="64008" anchor="ctr">
                    <a:solidFill>
                      <a:srgbClr val="FFFFFF"/>
                    </a:solidFill>
                  </a:tcPr>
                </a:tc>
                <a:tc>
                  <a:txBody>
                    <a:bodyPr/>
                    <a:lstStyle/>
                    <a:p>
                      <a:pPr algn="ctr"/>
                      <a:r>
                        <a:rPr sz="1300">
                          <a:solidFill>
                            <a:srgbClr val="1A1A1A"/>
                          </a:solidFill>
                          <a:latin typeface="Times New Roman"/>
                        </a:rPr>
                        <a:t>78.21</a:t>
                      </a:r>
                    </a:p>
                  </a:txBody>
                  <a:tcPr marL="64008" marR="64008" anchor="ctr">
                    <a:solidFill>
                      <a:srgbClr val="FFFFFF"/>
                    </a:solidFill>
                  </a:tcPr>
                </a:tc>
                <a:tc>
                  <a:txBody>
                    <a:bodyPr/>
                    <a:lstStyle/>
                    <a:p>
                      <a:pPr algn="ctr"/>
                      <a:r>
                        <a:rPr sz="1300">
                          <a:solidFill>
                            <a:srgbClr val="1A1A1A"/>
                          </a:solidFill>
                          <a:latin typeface="Times New Roman"/>
                        </a:rPr>
                        <a:t>64.21</a:t>
                      </a:r>
                    </a:p>
                  </a:txBody>
                  <a:tcPr marL="64008" marR="64008" anchor="ctr">
                    <a:solidFill>
                      <a:srgbClr val="FFFFFF"/>
                    </a:solidFill>
                  </a:tcPr>
                </a:tc>
                <a:tc>
                  <a:txBody>
                    <a:bodyPr/>
                    <a:lstStyle/>
                    <a:p>
                      <a:pPr algn="ctr"/>
                      <a:r>
                        <a:rPr sz="1300">
                          <a:solidFill>
                            <a:srgbClr val="1A1A1A"/>
                          </a:solidFill>
                          <a:latin typeface="Times New Roman"/>
                        </a:rPr>
                        <a:t>66.72</a:t>
                      </a:r>
                    </a:p>
                  </a:txBody>
                  <a:tcPr marL="64008" marR="64008" anchor="ctr">
                    <a:solidFill>
                      <a:srgbClr val="FFFFFF"/>
                    </a:solidFill>
                  </a:tcPr>
                </a:tc>
                <a:tc>
                  <a:txBody>
                    <a:bodyPr/>
                    <a:lstStyle/>
                    <a:p>
                      <a:pPr algn="ctr"/>
                      <a:r>
                        <a:rPr sz="1300">
                          <a:solidFill>
                            <a:srgbClr val="1A1A1A"/>
                          </a:solidFill>
                          <a:latin typeface="Times New Roman"/>
                        </a:rPr>
                        <a:t>50.06</a:t>
                      </a:r>
                    </a:p>
                  </a:txBody>
                  <a:tcPr marL="64008" marR="64008" anchor="ctr">
                    <a:solidFill>
                      <a:srgbClr val="FFFFFF"/>
                    </a:solidFill>
                  </a:tcPr>
                </a:tc>
              </a:tr>
              <a:tr h="419100">
                <a:tc>
                  <a:txBody>
                    <a:bodyPr/>
                    <a:lstStyle/>
                    <a:p>
                      <a:pPr algn="l"/>
                      <a:r>
                        <a:rPr sz="1300" b="1">
                          <a:solidFill>
                            <a:srgbClr val="1A1A1A"/>
                          </a:solidFill>
                          <a:latin typeface="Times New Roman"/>
                        </a:rPr>
                        <a:t>v2 – final</a:t>
                      </a:r>
                    </a:p>
                  </a:txBody>
                  <a:tcPr marL="64008" marR="64008" anchor="ctr">
                    <a:solidFill>
                      <a:srgbClr val="FBE4E4"/>
                    </a:solidFill>
                  </a:tcPr>
                </a:tc>
                <a:tc>
                  <a:txBody>
                    <a:bodyPr/>
                    <a:lstStyle/>
                    <a:p>
                      <a:pPr algn="l"/>
                      <a:r>
                        <a:rPr sz="1300" b="1">
                          <a:solidFill>
                            <a:srgbClr val="1A1A1A"/>
                          </a:solidFill>
                          <a:latin typeface="Times New Roman"/>
                        </a:rPr>
                        <a:t>RGB + Canny (4-ch)</a:t>
                      </a:r>
                    </a:p>
                  </a:txBody>
                  <a:tcPr marL="64008" marR="64008" anchor="ctr">
                    <a:solidFill>
                      <a:srgbClr val="FBE4E4"/>
                    </a:solidFill>
                  </a:tcPr>
                </a:tc>
                <a:tc>
                  <a:txBody>
                    <a:bodyPr/>
                    <a:lstStyle/>
                    <a:p>
                      <a:pPr algn="ctr"/>
                      <a:r>
                        <a:rPr sz="1300" b="1">
                          <a:solidFill>
                            <a:srgbClr val="1A1A1A"/>
                          </a:solidFill>
                          <a:latin typeface="Times New Roman"/>
                        </a:rPr>
                        <a:t>91.17</a:t>
                      </a:r>
                    </a:p>
                  </a:txBody>
                  <a:tcPr marL="64008" marR="64008" anchor="ctr">
                    <a:solidFill>
                      <a:srgbClr val="FBE4E4"/>
                    </a:solidFill>
                  </a:tcPr>
                </a:tc>
                <a:tc>
                  <a:txBody>
                    <a:bodyPr/>
                    <a:lstStyle/>
                    <a:p>
                      <a:pPr algn="ctr"/>
                      <a:r>
                        <a:rPr sz="1300" b="1">
                          <a:solidFill>
                            <a:srgbClr val="1A1A1A"/>
                          </a:solidFill>
                          <a:latin typeface="Times New Roman"/>
                        </a:rPr>
                        <a:t>83.78</a:t>
                      </a:r>
                    </a:p>
                  </a:txBody>
                  <a:tcPr marL="64008" marR="64008" anchor="ctr">
                    <a:solidFill>
                      <a:srgbClr val="FBE4E4"/>
                    </a:solidFill>
                  </a:tcPr>
                </a:tc>
                <a:tc>
                  <a:txBody>
                    <a:bodyPr/>
                    <a:lstStyle/>
                    <a:p>
                      <a:pPr algn="ctr"/>
                      <a:r>
                        <a:rPr sz="1300" b="1">
                          <a:solidFill>
                            <a:srgbClr val="1A1A1A"/>
                          </a:solidFill>
                          <a:latin typeface="Times New Roman"/>
                        </a:rPr>
                        <a:t>82.85</a:t>
                      </a:r>
                    </a:p>
                  </a:txBody>
                  <a:tcPr marL="64008" marR="64008" anchor="ctr">
                    <a:solidFill>
                      <a:srgbClr val="FBE4E4"/>
                    </a:solidFill>
                  </a:tcPr>
                </a:tc>
                <a:tc>
                  <a:txBody>
                    <a:bodyPr/>
                    <a:lstStyle/>
                    <a:p>
                      <a:pPr algn="ctr"/>
                      <a:r>
                        <a:rPr sz="1300" b="1">
                          <a:solidFill>
                            <a:srgbClr val="1A1A1A"/>
                          </a:solidFill>
                          <a:latin typeface="Times New Roman"/>
                        </a:rPr>
                        <a:t>70.72</a:t>
                      </a:r>
                    </a:p>
                  </a:txBody>
                  <a:tcPr marL="64008" marR="64008" anchor="ctr">
                    <a:solidFill>
                      <a:srgbClr val="FBE4E4"/>
                    </a:solidFill>
                  </a:tcPr>
                </a:tc>
              </a:tr>
              <a:tr h="419100">
                <a:tc>
                  <a:txBody>
                    <a:bodyPr/>
                    <a:lstStyle/>
                    <a:p>
                      <a:pPr algn="l"/>
                      <a:r>
                        <a:rPr sz="1300">
                          <a:solidFill>
                            <a:srgbClr val="1A1A1A"/>
                          </a:solidFill>
                          <a:latin typeface="Times New Roman"/>
                        </a:rPr>
                        <a:t>v2 – ablation</a:t>
                      </a:r>
                    </a:p>
                  </a:txBody>
                  <a:tcPr marL="64008" marR="64008" anchor="ctr">
                    <a:solidFill>
                      <a:srgbClr val="FFFFFF"/>
                    </a:solidFill>
                  </a:tcPr>
                </a:tc>
                <a:tc>
                  <a:txBody>
                    <a:bodyPr/>
                    <a:lstStyle/>
                    <a:p>
                      <a:pPr algn="l"/>
                      <a:r>
                        <a:rPr sz="1300">
                          <a:solidFill>
                            <a:srgbClr val="1A1A1A"/>
                          </a:solidFill>
                          <a:latin typeface="Times New Roman"/>
                        </a:rPr>
                        <a:t>RGB only (3-ch)</a:t>
                      </a:r>
                    </a:p>
                  </a:txBody>
                  <a:tcPr marL="64008" marR="64008" anchor="ctr">
                    <a:solidFill>
                      <a:srgbClr val="FFFFFF"/>
                    </a:solidFill>
                  </a:tcPr>
                </a:tc>
                <a:tc>
                  <a:txBody>
                    <a:bodyPr/>
                    <a:lstStyle/>
                    <a:p>
                      <a:pPr algn="ctr"/>
                      <a:r>
                        <a:rPr sz="1300">
                          <a:solidFill>
                            <a:srgbClr val="1A1A1A"/>
                          </a:solidFill>
                          <a:latin typeface="Times New Roman"/>
                        </a:rPr>
                        <a:t>91.69</a:t>
                      </a:r>
                    </a:p>
                  </a:txBody>
                  <a:tcPr marL="64008" marR="64008" anchor="ctr">
                    <a:solidFill>
                      <a:srgbClr val="FFFFFF"/>
                    </a:solidFill>
                  </a:tcPr>
                </a:tc>
                <a:tc>
                  <a:txBody>
                    <a:bodyPr/>
                    <a:lstStyle/>
                    <a:p>
                      <a:pPr algn="ctr"/>
                      <a:r>
                        <a:rPr sz="1300">
                          <a:solidFill>
                            <a:srgbClr val="1A1A1A"/>
                          </a:solidFill>
                          <a:latin typeface="Times New Roman"/>
                        </a:rPr>
                        <a:t>84.65</a:t>
                      </a:r>
                    </a:p>
                  </a:txBody>
                  <a:tcPr marL="64008" marR="64008" anchor="ctr">
                    <a:solidFill>
                      <a:srgbClr val="FFFFFF"/>
                    </a:solidFill>
                  </a:tcPr>
                </a:tc>
                <a:tc>
                  <a:txBody>
                    <a:bodyPr/>
                    <a:lstStyle/>
                    <a:p>
                      <a:pPr algn="ctr"/>
                      <a:r>
                        <a:rPr sz="1300">
                          <a:solidFill>
                            <a:srgbClr val="1A1A1A"/>
                          </a:solidFill>
                          <a:latin typeface="Times New Roman"/>
                        </a:rPr>
                        <a:t>83.09</a:t>
                      </a:r>
                    </a:p>
                  </a:txBody>
                  <a:tcPr marL="64008" marR="64008" anchor="ctr">
                    <a:solidFill>
                      <a:srgbClr val="FFFFFF"/>
                    </a:solidFill>
                  </a:tcPr>
                </a:tc>
                <a:tc>
                  <a:txBody>
                    <a:bodyPr/>
                    <a:lstStyle/>
                    <a:p>
                      <a:pPr algn="ctr"/>
                      <a:r>
                        <a:rPr sz="1300">
                          <a:solidFill>
                            <a:srgbClr val="1A1A1A"/>
                          </a:solidFill>
                          <a:latin typeface="Times New Roman"/>
                        </a:rPr>
                        <a:t>71.07</a:t>
                      </a:r>
                    </a:p>
                  </a:txBody>
                  <a:tcPr marL="64008" marR="64008" anchor="ctr">
                    <a:solidFill>
                      <a:srgbClr val="FFFFFF"/>
                    </a:solidFill>
                  </a:tcPr>
                </a:tc>
              </a:tr>
              <a:tr h="419100">
                <a:tc>
                  <a:txBody>
                    <a:bodyPr/>
                    <a:lstStyle/>
                    <a:p>
                      <a:pPr algn="l"/>
                      <a:r>
                        <a:rPr sz="1300">
                          <a:solidFill>
                            <a:srgbClr val="1A1A1A"/>
                          </a:solidFill>
                          <a:latin typeface="Times New Roman"/>
                        </a:rPr>
                        <a:t>Ensemble average</a:t>
                      </a:r>
                    </a:p>
                  </a:txBody>
                  <a:tcPr marL="64008" marR="64008" anchor="ctr">
                    <a:solidFill>
                      <a:srgbClr val="F2F2F2"/>
                    </a:solidFill>
                  </a:tcPr>
                </a:tc>
                <a:tc>
                  <a:txBody>
                    <a:bodyPr/>
                    <a:lstStyle/>
                    <a:p>
                      <a:pPr algn="l"/>
                      <a:r>
                        <a:rPr sz="1300">
                          <a:solidFill>
                            <a:srgbClr val="1A1A1A"/>
                          </a:solidFill>
                          <a:latin typeface="Times New Roman"/>
                        </a:rPr>
                        <a:t>v1 + v2</a:t>
                      </a:r>
                    </a:p>
                  </a:txBody>
                  <a:tcPr marL="64008" marR="64008" anchor="ctr">
                    <a:solidFill>
                      <a:srgbClr val="F2F2F2"/>
                    </a:solidFill>
                  </a:tcPr>
                </a:tc>
                <a:tc>
                  <a:txBody>
                    <a:bodyPr/>
                    <a:lstStyle/>
                    <a:p>
                      <a:pPr algn="ctr"/>
                      <a:r>
                        <a:rPr sz="1300">
                          <a:solidFill>
                            <a:srgbClr val="1A1A1A"/>
                          </a:solidFill>
                          <a:latin typeface="Times New Roman"/>
                        </a:rPr>
                        <a:t>89.13</a:t>
                      </a:r>
                    </a:p>
                  </a:txBody>
                  <a:tcPr marL="64008" marR="64008" anchor="ctr">
                    <a:solidFill>
                      <a:srgbClr val="F2F2F2"/>
                    </a:solidFill>
                  </a:tcPr>
                </a:tc>
                <a:tc>
                  <a:txBody>
                    <a:bodyPr/>
                    <a:lstStyle/>
                    <a:p>
                      <a:pPr algn="ctr"/>
                      <a:r>
                        <a:rPr sz="1300">
                          <a:solidFill>
                            <a:srgbClr val="1A1A1A"/>
                          </a:solidFill>
                          <a:latin typeface="Times New Roman"/>
                        </a:rPr>
                        <a:t>80.39</a:t>
                      </a:r>
                    </a:p>
                  </a:txBody>
                  <a:tcPr marL="64008" marR="64008" anchor="ctr">
                    <a:solidFill>
                      <a:srgbClr val="F2F2F2"/>
                    </a:solidFill>
                  </a:tcPr>
                </a:tc>
                <a:tc>
                  <a:txBody>
                    <a:bodyPr/>
                    <a:lstStyle/>
                    <a:p>
                      <a:pPr algn="ctr"/>
                      <a:r>
                        <a:rPr sz="1300">
                          <a:solidFill>
                            <a:srgbClr val="1A1A1A"/>
                          </a:solidFill>
                          <a:latin typeface="Times New Roman"/>
                        </a:rPr>
                        <a:t>83.01</a:t>
                      </a:r>
                    </a:p>
                  </a:txBody>
                  <a:tcPr marL="64008" marR="64008" anchor="ctr">
                    <a:solidFill>
                      <a:srgbClr val="F2F2F2"/>
                    </a:solidFill>
                  </a:tcPr>
                </a:tc>
                <a:tc>
                  <a:txBody>
                    <a:bodyPr/>
                    <a:lstStyle/>
                    <a:p>
                      <a:pPr algn="ctr"/>
                      <a:r>
                        <a:rPr sz="1300">
                          <a:solidFill>
                            <a:srgbClr val="1A1A1A"/>
                          </a:solidFill>
                          <a:latin typeface="Times New Roman"/>
                        </a:rPr>
                        <a:t>70.95</a:t>
                      </a:r>
                    </a:p>
                  </a:txBody>
                  <a:tcPr marL="64008" marR="64008" anchor="ctr">
                    <a:solidFill>
                      <a:srgbClr val="F2F2F2"/>
                    </a:solidFill>
                  </a:tcPr>
                </a:tc>
              </a:tr>
              <a:tr h="419100">
                <a:tc>
                  <a:txBody>
                    <a:bodyPr/>
                    <a:lstStyle/>
                    <a:p>
                      <a:pPr algn="l"/>
                      <a:r>
                        <a:rPr sz="1300">
                          <a:solidFill>
                            <a:srgbClr val="1A1A1A"/>
                          </a:solidFill>
                          <a:latin typeface="Times New Roman"/>
                        </a:rPr>
                        <a:t>Ensemble max (union)</a:t>
                      </a:r>
                    </a:p>
                  </a:txBody>
                  <a:tcPr marL="64008" marR="64008" anchor="ctr">
                    <a:solidFill>
                      <a:srgbClr val="FFFFFF"/>
                    </a:solidFill>
                  </a:tcPr>
                </a:tc>
                <a:tc>
                  <a:txBody>
                    <a:bodyPr/>
                    <a:lstStyle/>
                    <a:p>
                      <a:pPr algn="l"/>
                      <a:r>
                        <a:rPr sz="1300">
                          <a:solidFill>
                            <a:srgbClr val="1A1A1A"/>
                          </a:solidFill>
                          <a:latin typeface="Times New Roman"/>
                        </a:rPr>
                        <a:t>v1 + v2</a:t>
                      </a:r>
                    </a:p>
                  </a:txBody>
                  <a:tcPr marL="64008" marR="64008" anchor="ctr">
                    <a:solidFill>
                      <a:srgbClr val="FFFFFF"/>
                    </a:solidFill>
                  </a:tcPr>
                </a:tc>
                <a:tc>
                  <a:txBody>
                    <a:bodyPr/>
                    <a:lstStyle/>
                    <a:p>
                      <a:pPr algn="ctr"/>
                      <a:r>
                        <a:rPr sz="1300">
                          <a:solidFill>
                            <a:srgbClr val="1A1A1A"/>
                          </a:solidFill>
                          <a:latin typeface="Times New Roman"/>
                        </a:rPr>
                        <a:t>87.18</a:t>
                      </a:r>
                    </a:p>
                  </a:txBody>
                  <a:tcPr marL="64008" marR="64008" anchor="ctr">
                    <a:solidFill>
                      <a:srgbClr val="FFFFFF"/>
                    </a:solidFill>
                  </a:tcPr>
                </a:tc>
                <a:tc>
                  <a:txBody>
                    <a:bodyPr/>
                    <a:lstStyle/>
                    <a:p>
                      <a:pPr algn="ctr"/>
                      <a:r>
                        <a:rPr sz="1300">
                          <a:solidFill>
                            <a:srgbClr val="1A1A1A"/>
                          </a:solidFill>
                          <a:latin typeface="Times New Roman"/>
                        </a:rPr>
                        <a:t>77.27</a:t>
                      </a:r>
                    </a:p>
                  </a:txBody>
                  <a:tcPr marL="64008" marR="64008" anchor="ctr">
                    <a:solidFill>
                      <a:srgbClr val="FFFFFF"/>
                    </a:solidFill>
                  </a:tcPr>
                </a:tc>
                <a:tc>
                  <a:txBody>
                    <a:bodyPr/>
                    <a:lstStyle/>
                    <a:p>
                      <a:pPr algn="ctr"/>
                      <a:r>
                        <a:rPr sz="1300">
                          <a:solidFill>
                            <a:srgbClr val="1A1A1A"/>
                          </a:solidFill>
                          <a:latin typeface="Times New Roman"/>
                        </a:rPr>
                        <a:t>76.81</a:t>
                      </a:r>
                    </a:p>
                  </a:txBody>
                  <a:tcPr marL="64008" marR="64008" anchor="ctr">
                    <a:solidFill>
                      <a:srgbClr val="FFFFFF"/>
                    </a:solidFill>
                  </a:tcPr>
                </a:tc>
                <a:tc>
                  <a:txBody>
                    <a:bodyPr/>
                    <a:lstStyle/>
                    <a:p>
                      <a:pPr algn="ctr"/>
                      <a:r>
                        <a:rPr sz="1300">
                          <a:solidFill>
                            <a:srgbClr val="1A1A1A"/>
                          </a:solidFill>
                          <a:latin typeface="Times New Roman"/>
                        </a:rPr>
                        <a:t>62.35</a:t>
                      </a:r>
                    </a:p>
                  </a:txBody>
                  <a:tcPr marL="64008" marR="64008" anchor="ctr">
                    <a:solidFill>
                      <a:srgbClr val="FFFFFF"/>
                    </a:solidFill>
                  </a:tcPr>
                </a:tc>
              </a:tr>
            </a:tbl>
          </a:graphicData>
        </a:graphic>
      </p:graphicFrame>
      <p:graphicFrame>
        <p:nvGraphicFramePr>
          <p:cNvPr id="6" name="Chart 5"/>
          <p:cNvGraphicFramePr>
            <a:graphicFrameLocks noGrp="1"/>
          </p:cNvGraphicFramePr>
          <p:nvPr/>
        </p:nvGraphicFramePr>
        <p:xfrm>
          <a:off x="7406640" y="1143000"/>
          <a:ext cx="4389120" cy="3063240"/>
        </p:xfrm>
        <a:graphic>
          <a:graphicData uri="http://schemas.openxmlformats.org/drawingml/2006/chart">
            <c:chart xmlns:c="http://schemas.openxmlformats.org/drawingml/2006/chart" r:id="rId2"/>
          </a:graphicData>
        </a:graphic>
      </p:graphicFrame>
      <p:sp>
        <p:nvSpPr>
          <p:cNvPr id="7" name="Rounded Rectangle 6"/>
          <p:cNvSpPr/>
          <p:nvPr/>
        </p:nvSpPr>
        <p:spPr>
          <a:xfrm>
            <a:off x="411480" y="4315968"/>
            <a:ext cx="3657600" cy="160020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02920" y="4352544"/>
            <a:ext cx="3474720" cy="1527048"/>
          </a:xfrm>
          <a:prstGeom prst="rect">
            <a:avLst/>
          </a:prstGeom>
          <a:noFill/>
        </p:spPr>
        <p:txBody>
          <a:bodyPr wrap="square" anchor="ctr" lIns="45720" rIns="45720">
            <a:spAutoFit/>
          </a:bodyPr>
          <a:lstStyle/>
          <a:p>
            <a:pPr algn="l">
              <a:spcAft>
                <a:spcPts val="200"/>
              </a:spcAft>
            </a:pPr>
            <a:r>
              <a:rPr sz="1500" b="1" i="0">
                <a:solidFill>
                  <a:srgbClr val="C00000"/>
                </a:solidFill>
                <a:latin typeface="Times New Roman"/>
              </a:rPr>
              <a:t>Old model (v1)</a:t>
            </a:r>
          </a:p>
          <a:p>
            <a:pPr algn="l">
              <a:spcAft>
                <a:spcPts val="200"/>
              </a:spcAft>
            </a:pPr>
            <a:r>
              <a:rPr sz="1300" b="0" i="0">
                <a:solidFill>
                  <a:srgbClr val="1A1A1A"/>
                </a:solidFill>
                <a:latin typeface="Times New Roman"/>
              </a:rPr>
              <a:t>Lowest F1 on both labelled sets. On WHU-CD its precision is only 57 % – many false alarms.</a:t>
            </a:r>
          </a:p>
        </p:txBody>
      </p:sp>
      <p:sp>
        <p:nvSpPr>
          <p:cNvPr id="9" name="Rounded Rectangle 8"/>
          <p:cNvSpPr/>
          <p:nvPr/>
        </p:nvSpPr>
        <p:spPr>
          <a:xfrm>
            <a:off x="4224528" y="4315968"/>
            <a:ext cx="3657600" cy="1600200"/>
          </a:xfrm>
          <a:prstGeom prst="roundRect">
            <a:avLst>
              <a:gd name="adj" fmla="val 8000"/>
            </a:avLst>
          </a:prstGeom>
          <a:solidFill>
            <a:srgbClr val="FBE4E4"/>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315968" y="4352544"/>
            <a:ext cx="3474720" cy="1527048"/>
          </a:xfrm>
          <a:prstGeom prst="rect">
            <a:avLst/>
          </a:prstGeom>
          <a:noFill/>
        </p:spPr>
        <p:txBody>
          <a:bodyPr wrap="square" anchor="ctr" lIns="45720" rIns="45720">
            <a:spAutoFit/>
          </a:bodyPr>
          <a:lstStyle/>
          <a:p>
            <a:pPr algn="l">
              <a:spcAft>
                <a:spcPts val="200"/>
              </a:spcAft>
            </a:pPr>
            <a:r>
              <a:rPr sz="1500" b="1" i="0">
                <a:solidFill>
                  <a:srgbClr val="C00000"/>
                </a:solidFill>
                <a:latin typeface="Times New Roman"/>
              </a:rPr>
              <a:t>3 vs 4 channels</a:t>
            </a:r>
          </a:p>
          <a:p>
            <a:pPr algn="l">
              <a:spcAft>
                <a:spcPts val="200"/>
              </a:spcAft>
            </a:pPr>
            <a:r>
              <a:rPr sz="1300" b="0" i="0">
                <a:solidFill>
                  <a:srgbClr val="1A1A1A"/>
                </a:solidFill>
                <a:latin typeface="Times New Roman"/>
              </a:rPr>
              <a:t>RGB only matches or beats RGB + Canny (+0.5 F1 on LEVIR-CD, +0.2 on WHU-CD): the fixed Canny channel adds no information.</a:t>
            </a:r>
          </a:p>
        </p:txBody>
      </p:sp>
      <p:sp>
        <p:nvSpPr>
          <p:cNvPr id="11" name="Rounded Rectangle 10"/>
          <p:cNvSpPr/>
          <p:nvPr/>
        </p:nvSpPr>
        <p:spPr>
          <a:xfrm>
            <a:off x="8037575" y="4315968"/>
            <a:ext cx="3657600" cy="160020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29015" y="4352544"/>
            <a:ext cx="3474720" cy="1527048"/>
          </a:xfrm>
          <a:prstGeom prst="rect">
            <a:avLst/>
          </a:prstGeom>
          <a:noFill/>
        </p:spPr>
        <p:txBody>
          <a:bodyPr wrap="square" anchor="ctr" lIns="45720" rIns="45720">
            <a:spAutoFit/>
          </a:bodyPr>
          <a:lstStyle/>
          <a:p>
            <a:pPr algn="l">
              <a:spcAft>
                <a:spcPts val="200"/>
              </a:spcAft>
            </a:pPr>
            <a:r>
              <a:rPr sz="1500" b="1" i="0">
                <a:solidFill>
                  <a:srgbClr val="C00000"/>
                </a:solidFill>
                <a:latin typeface="Times New Roman"/>
              </a:rPr>
              <a:t>Ensembles</a:t>
            </a:r>
          </a:p>
          <a:p>
            <a:pPr algn="l">
              <a:spcAft>
                <a:spcPts val="200"/>
              </a:spcAft>
            </a:pPr>
            <a:r>
              <a:rPr sz="1300" b="0" i="0">
                <a:solidFill>
                  <a:srgbClr val="1A1A1A"/>
                </a:solidFill>
                <a:latin typeface="Times New Roman"/>
              </a:rPr>
              <a:t>Averaging v1 + v2 gives no real gain (−2.0 F1 on LEVIR-CD, +0.2 on WHU-CD); the union adds false alarms. Matching WHU's 0.3 m/px resolution gives v2 +1.8 F1.</a:t>
            </a:r>
          </a:p>
        </p:txBody>
      </p:sp>
      <p:sp>
        <p:nvSpPr>
          <p:cNvPr id="13" name="TextBox 12"/>
          <p:cNvSpPr txBox="1"/>
          <p:nvPr/>
        </p:nvSpPr>
        <p:spPr>
          <a:xfrm>
            <a:off x="411480" y="5961888"/>
            <a:ext cx="11384280" cy="411480"/>
          </a:xfrm>
          <a:prstGeom prst="rect">
            <a:avLst/>
          </a:prstGeom>
          <a:noFill/>
        </p:spPr>
        <p:txBody>
          <a:bodyPr wrap="square" anchor="t" lIns="45720" rIns="45720">
            <a:spAutoFit/>
          </a:bodyPr>
          <a:lstStyle/>
          <a:p>
            <a:pPr algn="l">
              <a:spcAft>
                <a:spcPts val="600"/>
              </a:spcAft>
            </a:pPr>
            <a:r>
              <a:rPr sz="1100" b="0" i="1">
                <a:solidFill>
                  <a:srgbClr val="555B63"/>
                </a:solidFill>
                <a:latin typeface="Times New Roman"/>
              </a:rPr>
              <a:t>WHU-CD: 638 labelled 512-px tiles, Christchurch, 0.3 m/px. v1 scores 77.12 % on LEVIR-CD when measured at 256 × 256 (5.2); here every model is scored at full resolution. RGB-only uses its own validation threshold (0.47).</a:t>
            </a:r>
          </a:p>
        </p:txBody>
      </p:sp>
      <p:sp>
        <p:nvSpPr>
          <p:cNvPr id="14" name="Rectangle 13"/>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6" name="TextBox 15"/>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7" name="TextBox 16"/>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2206119</a:t>
            </a:r>
          </a:p>
        </p:txBody>
      </p:sp>
      <p:sp>
        <p:nvSpPr>
          <p:cNvPr id="18" name="TextBox 17"/>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922EAED6-B9F6-425F-9AD1-E3F684FDDC82}" type="slidenum">
              <a:rPr lang="en-US" sz="1300" b="1">
                <a:solidFill>
                  <a:srgbClr val="FFFFFF"/>
                </a:solidFill>
                <a:latin typeface="Times New Roman"/>
              </a:rPr>
              <a:t>‹#›</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2054199" y="109728"/>
            <a:ext cx="8083296" cy="566928"/>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2054199" y="137160"/>
            <a:ext cx="8083296"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5.4 Limitations of Tools &amp; Failure Modes (PO(e))</a:t>
            </a:r>
          </a:p>
        </p:txBody>
      </p:sp>
      <p:sp>
        <p:nvSpPr>
          <p:cNvPr id="4" name="TextBox 3"/>
          <p:cNvSpPr txBox="1"/>
          <p:nvPr/>
        </p:nvSpPr>
        <p:spPr>
          <a:xfrm>
            <a:off x="411480" y="868680"/>
            <a:ext cx="3657600" cy="1737360"/>
          </a:xfrm>
          <a:prstGeom prst="rect">
            <a:avLst/>
          </a:prstGeom>
          <a:noFill/>
        </p:spPr>
        <p:txBody>
          <a:bodyPr wrap="square" anchor="t" lIns="45720" rIns="45720">
            <a:spAutoFit/>
          </a:bodyPr>
          <a:lstStyle/>
          <a:p>
            <a:pPr algn="l">
              <a:spcAft>
                <a:spcPts val="0"/>
              </a:spcAft>
            </a:pPr>
            <a:r>
              <a:rPr sz="1700" b="1" i="0">
                <a:solidFill>
                  <a:srgbClr val="1A1A1A"/>
                </a:solidFill>
                <a:latin typeface="Times New Roman"/>
              </a:rPr>
              <a:t>1. Small-structure misses</a:t>
            </a:r>
          </a:p>
          <a:p>
            <a:pPr algn="l">
              <a:spcAft>
                <a:spcPts val="400"/>
              </a:spcAft>
            </a:pPr>
            <a:r>
              <a:rPr sz="1200" b="1" i="0">
                <a:solidFill>
                  <a:srgbClr val="C00000"/>
                </a:solidFill>
                <a:latin typeface="Times New Roman"/>
              </a:rPr>
              <a:t>FN-dominated</a:t>
            </a:r>
          </a:p>
          <a:p>
            <a:pPr algn="l">
              <a:spcAft>
                <a:spcPts val="200"/>
              </a:spcAft>
            </a:pPr>
            <a:r>
              <a:rPr sz="1400" b="0" i="0">
                <a:solidFill>
                  <a:srgbClr val="1A1A1A"/>
                </a:solidFill>
                <a:latin typeface="Times New Roman"/>
              </a:rPr>
              <a:t>Mobile homes only 3–5 px (1.5–2.5 m) wide are missed; the network needs ≈ 4 × 4 px to respond.</a:t>
            </a:r>
          </a:p>
        </p:txBody>
      </p:sp>
      <p:sp>
        <p:nvSpPr>
          <p:cNvPr id="5" name="TextBox 4"/>
          <p:cNvSpPr txBox="1"/>
          <p:nvPr/>
        </p:nvSpPr>
        <p:spPr>
          <a:xfrm>
            <a:off x="4251960" y="868680"/>
            <a:ext cx="3657600" cy="1737360"/>
          </a:xfrm>
          <a:prstGeom prst="rect">
            <a:avLst/>
          </a:prstGeom>
          <a:noFill/>
        </p:spPr>
        <p:txBody>
          <a:bodyPr wrap="square" anchor="t" lIns="45720" rIns="45720">
            <a:spAutoFit/>
          </a:bodyPr>
          <a:lstStyle/>
          <a:p>
            <a:pPr algn="l">
              <a:spcAft>
                <a:spcPts val="0"/>
              </a:spcAft>
            </a:pPr>
            <a:r>
              <a:rPr sz="1700" b="1" i="0">
                <a:solidFill>
                  <a:srgbClr val="1A1A1A"/>
                </a:solidFill>
                <a:latin typeface="Times New Roman"/>
              </a:rPr>
              <a:t>2. Pseudo-change alarms</a:t>
            </a:r>
          </a:p>
          <a:p>
            <a:pPr algn="l">
              <a:spcAft>
                <a:spcPts val="400"/>
              </a:spcAft>
            </a:pPr>
            <a:r>
              <a:rPr sz="1200" b="1" i="0">
                <a:solidFill>
                  <a:srgbClr val="C00000"/>
                </a:solidFill>
                <a:latin typeface="Times New Roman"/>
              </a:rPr>
              <a:t>FP-dominated</a:t>
            </a:r>
          </a:p>
          <a:p>
            <a:pPr algn="l">
              <a:spcAft>
                <a:spcPts val="200"/>
              </a:spcAft>
            </a:pPr>
            <a:r>
              <a:rPr sz="1400" b="0" i="0">
                <a:solidFill>
                  <a:srgbClr val="1A1A1A"/>
                </a:solidFill>
                <a:latin typeface="Times New Roman"/>
              </a:rPr>
              <a:t>Re-roofed or resurfaced buildings look new between dates (label noise also contributes).</a:t>
            </a:r>
          </a:p>
        </p:txBody>
      </p:sp>
      <p:sp>
        <p:nvSpPr>
          <p:cNvPr id="6" name="TextBox 5"/>
          <p:cNvSpPr txBox="1"/>
          <p:nvPr/>
        </p:nvSpPr>
        <p:spPr>
          <a:xfrm>
            <a:off x="8092440" y="868680"/>
            <a:ext cx="3657600" cy="1737360"/>
          </a:xfrm>
          <a:prstGeom prst="rect">
            <a:avLst/>
          </a:prstGeom>
          <a:noFill/>
        </p:spPr>
        <p:txBody>
          <a:bodyPr wrap="square" anchor="t" lIns="45720" rIns="45720">
            <a:spAutoFit/>
          </a:bodyPr>
          <a:lstStyle/>
          <a:p>
            <a:pPr algn="l">
              <a:spcAft>
                <a:spcPts val="0"/>
              </a:spcAft>
            </a:pPr>
            <a:r>
              <a:rPr sz="1700" b="1" i="0">
                <a:solidFill>
                  <a:srgbClr val="1A1A1A"/>
                </a:solidFill>
                <a:latin typeface="Times New Roman"/>
              </a:rPr>
              <a:t>3. Tool &amp; data limits</a:t>
            </a:r>
          </a:p>
          <a:p>
            <a:pPr algn="l">
              <a:spcAft>
                <a:spcPts val="400"/>
              </a:spcAft>
            </a:pPr>
            <a:r>
              <a:rPr sz="1200" b="1" i="0">
                <a:solidFill>
                  <a:srgbClr val="C00000"/>
                </a:solidFill>
                <a:latin typeface="Times New Roman"/>
              </a:rPr>
              <a:t>Scope</a:t>
            </a:r>
          </a:p>
          <a:p>
            <a:pPr algn="l">
              <a:spcAft>
                <a:spcPts val="200"/>
              </a:spcAft>
            </a:pPr>
            <a:r>
              <a:rPr sz="1400" b="0" i="0">
                <a:solidFill>
                  <a:srgbClr val="1A1A1A"/>
                </a:solidFill>
                <a:latin typeface="Times New Roman"/>
              </a:rPr>
              <a:t>Trained on US suburbs only (0.5 m/px); no labels for Bangladeshi scenes; laptop GPU → batch 4, ≈ 5 h per run.</a:t>
            </a:r>
          </a:p>
        </p:txBody>
      </p:sp>
      <p:graphicFrame>
        <p:nvGraphicFramePr>
          <p:cNvPr id="7" name="Chart 6"/>
          <p:cNvGraphicFramePr>
            <a:graphicFrameLocks noGrp="1"/>
          </p:cNvGraphicFramePr>
          <p:nvPr/>
        </p:nvGraphicFramePr>
        <p:xfrm>
          <a:off x="411480" y="2697480"/>
          <a:ext cx="3657600" cy="324612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4251960" y="2697480"/>
          <a:ext cx="3657600" cy="3246120"/>
        </p:xfrm>
        <a:graphic>
          <a:graphicData uri="http://schemas.openxmlformats.org/drawingml/2006/chart">
            <c:chart xmlns:c="http://schemas.openxmlformats.org/drawingml/2006/chart" r:id="rId3"/>
          </a:graphicData>
        </a:graphic>
      </p:graphicFrame>
      <p:pic>
        <p:nvPicPr>
          <p:cNvPr id="9" name="Picture 8" descr="fail_p1.jpg"/>
          <p:cNvPicPr>
            <a:picLocks noChangeAspect="1"/>
          </p:cNvPicPr>
          <p:nvPr/>
        </p:nvPicPr>
        <p:blipFill>
          <a:blip r:embed="rId4"/>
          <a:stretch>
            <a:fillRect/>
          </a:stretch>
        </p:blipFill>
        <p:spPr>
          <a:xfrm>
            <a:off x="8092440" y="2971800"/>
            <a:ext cx="1828800" cy="1842181"/>
          </a:xfrm>
          <a:prstGeom prst="rect">
            <a:avLst/>
          </a:prstGeom>
        </p:spPr>
      </p:pic>
      <p:sp>
        <p:nvSpPr>
          <p:cNvPr id="10" name="TextBox 9"/>
          <p:cNvSpPr txBox="1"/>
          <p:nvPr/>
        </p:nvSpPr>
        <p:spPr>
          <a:xfrm>
            <a:off x="8092440" y="4846320"/>
            <a:ext cx="1828800" cy="274320"/>
          </a:xfrm>
          <a:prstGeom prst="rect">
            <a:avLst/>
          </a:prstGeom>
          <a:noFill/>
        </p:spPr>
        <p:txBody>
          <a:bodyPr wrap="square" anchor="t" lIns="0" rIns="0" tIns="0" bIns="0">
            <a:spAutoFit/>
          </a:bodyPr>
          <a:lstStyle/>
          <a:p>
            <a:pPr algn="ctr">
              <a:spcAft>
                <a:spcPts val="600"/>
              </a:spcAft>
            </a:pPr>
            <a:r>
              <a:rPr sz="1200" b="1" i="0">
                <a:solidFill>
                  <a:srgbClr val="1A1A1A"/>
                </a:solidFill>
                <a:latin typeface="Times New Roman"/>
              </a:rPr>
              <a:t>After (T₂)</a:t>
            </a:r>
          </a:p>
        </p:txBody>
      </p:sp>
      <p:pic>
        <p:nvPicPr>
          <p:cNvPr id="11" name="Picture 10" descr="fail_p5.jpg"/>
          <p:cNvPicPr>
            <a:picLocks noChangeAspect="1"/>
          </p:cNvPicPr>
          <p:nvPr/>
        </p:nvPicPr>
        <p:blipFill>
          <a:blip r:embed="rId5"/>
          <a:stretch>
            <a:fillRect/>
          </a:stretch>
        </p:blipFill>
        <p:spPr>
          <a:xfrm>
            <a:off x="9994392" y="2971800"/>
            <a:ext cx="1828800" cy="1837699"/>
          </a:xfrm>
          <a:prstGeom prst="rect">
            <a:avLst/>
          </a:prstGeom>
        </p:spPr>
      </p:pic>
      <p:sp>
        <p:nvSpPr>
          <p:cNvPr id="12" name="TextBox 11"/>
          <p:cNvSpPr txBox="1"/>
          <p:nvPr/>
        </p:nvSpPr>
        <p:spPr>
          <a:xfrm>
            <a:off x="9994392" y="4846320"/>
            <a:ext cx="1828800" cy="274320"/>
          </a:xfrm>
          <a:prstGeom prst="rect">
            <a:avLst/>
          </a:prstGeom>
          <a:noFill/>
        </p:spPr>
        <p:txBody>
          <a:bodyPr wrap="square" anchor="t" lIns="0" rIns="0" tIns="0" bIns="0">
            <a:spAutoFit/>
          </a:bodyPr>
          <a:lstStyle/>
          <a:p>
            <a:pPr algn="ctr">
              <a:spcAft>
                <a:spcPts val="600"/>
              </a:spcAft>
            </a:pPr>
            <a:r>
              <a:rPr sz="1200" b="1" i="0">
                <a:solidFill>
                  <a:srgbClr val="1A1A1A"/>
                </a:solidFill>
                <a:latin typeface="Times New Roman"/>
              </a:rPr>
              <a:t>Errors: red FP, cyan FN</a:t>
            </a:r>
          </a:p>
        </p:txBody>
      </p:sp>
      <p:sp>
        <p:nvSpPr>
          <p:cNvPr id="13" name="TextBox 12"/>
          <p:cNvSpPr txBox="1"/>
          <p:nvPr/>
        </p:nvSpPr>
        <p:spPr>
          <a:xfrm>
            <a:off x="8092440" y="5257800"/>
            <a:ext cx="3730752" cy="274320"/>
          </a:xfrm>
          <a:prstGeom prst="rect">
            <a:avLst/>
          </a:prstGeom>
          <a:noFill/>
        </p:spPr>
        <p:txBody>
          <a:bodyPr wrap="square" anchor="t" lIns="0" rIns="0" tIns="0" bIns="0">
            <a:spAutoFit/>
          </a:bodyPr>
          <a:lstStyle/>
          <a:p>
            <a:pPr algn="ctr">
              <a:spcAft>
                <a:spcPts val="600"/>
              </a:spcAft>
            </a:pPr>
            <a:r>
              <a:rPr sz="1200" b="0" i="1">
                <a:solidFill>
                  <a:srgbClr val="1A1A1A"/>
                </a:solidFill>
                <a:latin typeface="Times New Roman"/>
              </a:rPr>
              <a:t>Worst test image (test_103, F1 0.46)</a:t>
            </a:r>
          </a:p>
        </p:txBody>
      </p:sp>
      <p:sp>
        <p:nvSpPr>
          <p:cNvPr id="14" name="TextBox 13"/>
          <p:cNvSpPr txBox="1"/>
          <p:nvPr/>
        </p:nvSpPr>
        <p:spPr>
          <a:xfrm>
            <a:off x="411480" y="5989320"/>
            <a:ext cx="7498079" cy="274320"/>
          </a:xfrm>
          <a:prstGeom prst="rect">
            <a:avLst/>
          </a:prstGeom>
          <a:noFill/>
        </p:spPr>
        <p:txBody>
          <a:bodyPr wrap="square" anchor="t" lIns="0" rIns="0" tIns="0" bIns="0">
            <a:spAutoFit/>
          </a:bodyPr>
          <a:lstStyle/>
          <a:p>
            <a:pPr algn="ctr">
              <a:spcAft>
                <a:spcPts val="600"/>
              </a:spcAft>
            </a:pPr>
            <a:r>
              <a:rPr sz="1200" b="0" i="1">
                <a:solidFill>
                  <a:srgbClr val="1A1A1A"/>
                </a:solidFill>
                <a:latin typeface="Times New Roman"/>
              </a:rPr>
              <a:t>Most images have &lt; 0.5 % false-positive and &lt; 0.5 % false-negative pixels.</a:t>
            </a:r>
          </a:p>
        </p:txBody>
      </p:sp>
      <p:sp>
        <p:nvSpPr>
          <p:cNvPr id="15" name="Rectangle 14"/>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7" name="TextBox 16"/>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8" name="TextBox 17"/>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2206114</a:t>
            </a:r>
          </a:p>
        </p:txBody>
      </p:sp>
      <p:sp>
        <p:nvSpPr>
          <p:cNvPr id="19" name="TextBox 18"/>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3039C83A-C9FC-4A78-A00C-5BF3E95C3FBB}" type="slidenum">
              <a:rPr lang="en-US" sz="1300" b="1">
                <a:solidFill>
                  <a:srgbClr val="FFFFFF"/>
                </a:solidFill>
                <a:latin typeface="Times New Roman"/>
              </a:rPr>
              <a:t>‹#›</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17189" y="109728"/>
            <a:ext cx="5957316" cy="566928"/>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117189" y="137160"/>
            <a:ext cx="5957316"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5.5 Design Considerations (PO(c))</a:t>
            </a:r>
          </a:p>
        </p:txBody>
      </p:sp>
      <p:sp>
        <p:nvSpPr>
          <p:cNvPr id="4" name="Rounded Rectangle 3"/>
          <p:cNvSpPr/>
          <p:nvPr/>
        </p:nvSpPr>
        <p:spPr>
          <a:xfrm>
            <a:off x="411480" y="914400"/>
            <a:ext cx="3657600" cy="416052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48640" y="1005840"/>
            <a:ext cx="3383280" cy="3977639"/>
          </a:xfrm>
          <a:prstGeom prst="rect">
            <a:avLst/>
          </a:prstGeom>
          <a:noFill/>
        </p:spPr>
        <p:txBody>
          <a:bodyPr wrap="square" anchor="t" lIns="45720" rIns="45720">
            <a:spAutoFit/>
          </a:bodyPr>
          <a:lstStyle/>
          <a:p>
            <a:pPr algn="l">
              <a:spcAft>
                <a:spcPts val="1000"/>
              </a:spcAft>
            </a:pPr>
            <a:r>
              <a:rPr sz="1800" b="1" i="0">
                <a:solidFill>
                  <a:srgbClr val="C00000"/>
                </a:solidFill>
                <a:latin typeface="Times New Roman"/>
              </a:rPr>
              <a:t>5.5.1 Public health &amp; safety</a:t>
            </a:r>
          </a:p>
          <a:p>
            <a:pPr algn="l" marL="256032" indent="-219456">
              <a:spcAft>
                <a:spcPts val="1000"/>
              </a:spcAft>
              <a:buClr>
                <a:srgbClr val="C00000"/>
              </a:buClr>
              <a:buChar char="▪"/>
            </a:pPr>
            <a:r>
              <a:rPr sz="1600" b="0" i="0">
                <a:solidFill>
                  <a:srgbClr val="1A1A1A"/>
                </a:solidFill>
                <a:latin typeface="Times New Roman"/>
              </a:rPr>
              <a:t>Flags unauthorised construction in flood-prone and earthquake-risk zones</a:t>
            </a:r>
          </a:p>
          <a:p>
            <a:pPr algn="l" marL="256032" indent="-219456">
              <a:spcAft>
                <a:spcPts val="1000"/>
              </a:spcAft>
              <a:buClr>
                <a:srgbClr val="C00000"/>
              </a:buClr>
              <a:buChar char="▪"/>
            </a:pPr>
            <a:r>
              <a:rPr sz="1600" b="0" i="0">
                <a:solidFill>
                  <a:srgbClr val="1A1A1A"/>
                </a:solidFill>
                <a:latin typeface="Times New Roman"/>
              </a:rPr>
              <a:t>Rapid damage mapping after floods or cyclones</a:t>
            </a:r>
          </a:p>
          <a:p>
            <a:pPr algn="l" marL="256032" indent="-219456">
              <a:spcAft>
                <a:spcPts val="1000"/>
              </a:spcAft>
              <a:buClr>
                <a:srgbClr val="C00000"/>
              </a:buClr>
              <a:buChar char="▪"/>
            </a:pPr>
            <a:r>
              <a:rPr sz="1600" b="0" i="0">
                <a:solidFill>
                  <a:srgbClr val="1A1A1A"/>
                </a:solidFill>
                <a:latin typeface="Times New Roman"/>
              </a:rPr>
              <a:t>A miss can hide a hazard → output is decision support; a human verifies</a:t>
            </a:r>
          </a:p>
        </p:txBody>
      </p:sp>
      <p:sp>
        <p:nvSpPr>
          <p:cNvPr id="6" name="Rounded Rectangle 5"/>
          <p:cNvSpPr/>
          <p:nvPr/>
        </p:nvSpPr>
        <p:spPr>
          <a:xfrm>
            <a:off x="4251960" y="914400"/>
            <a:ext cx="3657600" cy="416052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389120" y="1005840"/>
            <a:ext cx="3383280" cy="3977639"/>
          </a:xfrm>
          <a:prstGeom prst="rect">
            <a:avLst/>
          </a:prstGeom>
          <a:noFill/>
        </p:spPr>
        <p:txBody>
          <a:bodyPr wrap="square" anchor="t" lIns="45720" rIns="45720">
            <a:spAutoFit/>
          </a:bodyPr>
          <a:lstStyle/>
          <a:p>
            <a:pPr algn="l">
              <a:spcAft>
                <a:spcPts val="1000"/>
              </a:spcAft>
            </a:pPr>
            <a:r>
              <a:rPr sz="1800" b="1" i="0">
                <a:solidFill>
                  <a:srgbClr val="C00000"/>
                </a:solidFill>
                <a:latin typeface="Times New Roman"/>
              </a:rPr>
              <a:t>5.5.2 Environment</a:t>
            </a:r>
          </a:p>
          <a:p>
            <a:pPr algn="l" marL="256032" indent="-219456">
              <a:spcAft>
                <a:spcPts val="1000"/>
              </a:spcAft>
              <a:buClr>
                <a:srgbClr val="C00000"/>
              </a:buClr>
              <a:buChar char="▪"/>
            </a:pPr>
            <a:r>
              <a:rPr sz="1600" b="0" i="0">
                <a:solidFill>
                  <a:srgbClr val="1A1A1A"/>
                </a:solidFill>
                <a:latin typeface="Times New Roman"/>
              </a:rPr>
              <a:t>Monitors encroachment on wetlands, farmland and green cover</a:t>
            </a:r>
          </a:p>
          <a:p>
            <a:pPr algn="l" marL="256032" indent="-219456">
              <a:spcAft>
                <a:spcPts val="1000"/>
              </a:spcAft>
              <a:buClr>
                <a:srgbClr val="C00000"/>
              </a:buClr>
              <a:buChar char="▪"/>
            </a:pPr>
            <a:r>
              <a:rPr sz="1600" b="0" i="0">
                <a:solidFill>
                  <a:srgbClr val="1A1A1A"/>
                </a:solidFill>
                <a:latin typeface="Times New Roman"/>
              </a:rPr>
              <a:t>Replaces field-survey trips with remote analysis</a:t>
            </a:r>
          </a:p>
          <a:p>
            <a:pPr algn="l" marL="256032" indent="-219456">
              <a:spcAft>
                <a:spcPts val="1000"/>
              </a:spcAft>
              <a:buClr>
                <a:srgbClr val="C00000"/>
              </a:buClr>
              <a:buChar char="▪"/>
            </a:pPr>
            <a:r>
              <a:rPr sz="1600" b="0" i="0">
                <a:solidFill>
                  <a:srgbClr val="1A1A1A"/>
                </a:solidFill>
                <a:latin typeface="Times New Roman"/>
              </a:rPr>
              <a:t>Trained on a laptop GPU in ≈ 5 h – small energy footprint</a:t>
            </a:r>
          </a:p>
        </p:txBody>
      </p:sp>
      <p:sp>
        <p:nvSpPr>
          <p:cNvPr id="8" name="Rounded Rectangle 7"/>
          <p:cNvSpPr/>
          <p:nvPr/>
        </p:nvSpPr>
        <p:spPr>
          <a:xfrm>
            <a:off x="8092440" y="914400"/>
            <a:ext cx="3657600" cy="416052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229600" y="1005840"/>
            <a:ext cx="3383280" cy="3977639"/>
          </a:xfrm>
          <a:prstGeom prst="rect">
            <a:avLst/>
          </a:prstGeom>
          <a:noFill/>
        </p:spPr>
        <p:txBody>
          <a:bodyPr wrap="square" anchor="t" lIns="45720" rIns="45720">
            <a:spAutoFit/>
          </a:bodyPr>
          <a:lstStyle/>
          <a:p>
            <a:pPr algn="l">
              <a:spcAft>
                <a:spcPts val="1000"/>
              </a:spcAft>
            </a:pPr>
            <a:r>
              <a:rPr sz="1800" b="1" i="0">
                <a:solidFill>
                  <a:srgbClr val="C00000"/>
                </a:solidFill>
                <a:latin typeface="Times New Roman"/>
              </a:rPr>
              <a:t>5.5.3 Cultural &amp; societal needs</a:t>
            </a:r>
          </a:p>
          <a:p>
            <a:pPr algn="l" marL="256032" indent="-219456">
              <a:spcAft>
                <a:spcPts val="1000"/>
              </a:spcAft>
              <a:buClr>
                <a:srgbClr val="C00000"/>
              </a:buClr>
              <a:buChar char="▪"/>
            </a:pPr>
            <a:r>
              <a:rPr sz="1600" b="0" i="0">
                <a:solidFill>
                  <a:srgbClr val="1A1A1A"/>
                </a:solidFill>
                <a:latin typeface="Times New Roman"/>
              </a:rPr>
              <a:t>Supports city planners (e.g. RAJUK) with current maps</a:t>
            </a:r>
          </a:p>
          <a:p>
            <a:pPr algn="l" marL="256032" indent="-219456">
              <a:spcAft>
                <a:spcPts val="1000"/>
              </a:spcAft>
              <a:buClr>
                <a:srgbClr val="C00000"/>
              </a:buClr>
              <a:buChar char="▪"/>
            </a:pPr>
            <a:r>
              <a:rPr sz="1600" b="0" i="0">
                <a:solidFill>
                  <a:srgbClr val="1A1A1A"/>
                </a:solidFill>
                <a:latin typeface="Times New Roman"/>
              </a:rPr>
              <a:t>Threshold slider trades false alarms against misses</a:t>
            </a:r>
          </a:p>
          <a:p>
            <a:pPr algn="l" marL="256032" indent="-219456">
              <a:spcAft>
                <a:spcPts val="1000"/>
              </a:spcAft>
              <a:buClr>
                <a:srgbClr val="C00000"/>
              </a:buClr>
              <a:buChar char="▪"/>
            </a:pPr>
            <a:r>
              <a:rPr sz="1600" b="0" i="0">
                <a:solidFill>
                  <a:srgbClr val="1A1A1A"/>
                </a:solidFill>
                <a:latin typeface="Times New Roman"/>
              </a:rPr>
              <a:t>Must not be used to target informal settlements</a:t>
            </a:r>
          </a:p>
        </p:txBody>
      </p:sp>
      <p:sp>
        <p:nvSpPr>
          <p:cNvPr id="10" name="Rounded Rectangle 9"/>
          <p:cNvSpPr/>
          <p:nvPr/>
        </p:nvSpPr>
        <p:spPr>
          <a:xfrm>
            <a:off x="411480" y="5257800"/>
            <a:ext cx="11338560" cy="960120"/>
          </a:xfrm>
          <a:prstGeom prst="roundRect">
            <a:avLst>
              <a:gd name="adj" fmla="val 8000"/>
            </a:avLst>
          </a:prstGeom>
          <a:solidFill>
            <a:srgbClr val="1F497D"/>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700" b="1" i="0">
                <a:solidFill>
                  <a:srgbClr val="FFFFFF"/>
                </a:solidFill>
                <a:latin typeface="Times New Roman"/>
              </a:rPr>
              <a:t>Design response: human-in-the-loop threshold, polygon output for GIS, fully offline on an ordinary laptop.</a:t>
            </a:r>
          </a:p>
        </p:txBody>
      </p:sp>
      <p:sp>
        <p:nvSpPr>
          <p:cNvPr id="11" name="Rectangle 10"/>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3" name="TextBox 12"/>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4" name="TextBox 13"/>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2206104</a:t>
            </a:r>
          </a:p>
        </p:txBody>
      </p:sp>
      <p:sp>
        <p:nvSpPr>
          <p:cNvPr id="15" name="TextBox 14"/>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FF0AB0E7-F6EC-493E-84BC-70A6CA674CF4}" type="slidenum">
              <a:rPr lang="en-US" sz="1300" b="1">
                <a:solidFill>
                  <a:srgbClr val="FFFFFF"/>
                </a:solidFill>
                <a:latin typeface="Times New Roman"/>
              </a:rPr>
              <a:t>‹#›</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61207" y="109728"/>
            <a:ext cx="5669280" cy="566928"/>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261207" y="137160"/>
            <a:ext cx="5669280"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5.6 Ethical Issues (PO(h))</a:t>
            </a:r>
          </a:p>
        </p:txBody>
      </p:sp>
      <p:sp>
        <p:nvSpPr>
          <p:cNvPr id="4" name="Oval 3"/>
          <p:cNvSpPr/>
          <p:nvPr/>
        </p:nvSpPr>
        <p:spPr>
          <a:xfrm>
            <a:off x="502920" y="114300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Times New Roman"/>
              </a:rPr>
              <a:t>1</a:t>
            </a:r>
          </a:p>
        </p:txBody>
      </p:sp>
      <p:sp>
        <p:nvSpPr>
          <p:cNvPr id="5" name="TextBox 4"/>
          <p:cNvSpPr txBox="1"/>
          <p:nvPr/>
        </p:nvSpPr>
        <p:spPr>
          <a:xfrm>
            <a:off x="1463040" y="960120"/>
            <a:ext cx="10241280" cy="1143000"/>
          </a:xfrm>
          <a:prstGeom prst="rect">
            <a:avLst/>
          </a:prstGeom>
          <a:noFill/>
        </p:spPr>
        <p:txBody>
          <a:bodyPr wrap="square" anchor="ctr" lIns="45720" rIns="45720">
            <a:spAutoFit/>
          </a:bodyPr>
          <a:lstStyle/>
          <a:p>
            <a:pPr algn="l">
              <a:spcAft>
                <a:spcPts val="200"/>
              </a:spcAft>
            </a:pPr>
            <a:r>
              <a:rPr sz="2000" b="1" i="0">
                <a:solidFill>
                  <a:srgbClr val="1A1A1A"/>
                </a:solidFill>
                <a:latin typeface="Times New Roman"/>
              </a:rPr>
              <a:t>Data and credit</a:t>
            </a:r>
          </a:p>
          <a:p>
            <a:pPr algn="l">
              <a:spcAft>
                <a:spcPts val="200"/>
              </a:spcAft>
            </a:pPr>
            <a:r>
              <a:rPr sz="1700" b="0" i="0">
                <a:solidFill>
                  <a:srgbClr val="555B63"/>
                </a:solidFill>
                <a:latin typeface="Times New Roman"/>
              </a:rPr>
              <a:t>Public LEVIR-CD used under its academic licence; every dataset, paper and library is cited.</a:t>
            </a:r>
          </a:p>
        </p:txBody>
      </p:sp>
      <p:sp>
        <p:nvSpPr>
          <p:cNvPr id="6" name="Oval 5"/>
          <p:cNvSpPr/>
          <p:nvPr/>
        </p:nvSpPr>
        <p:spPr>
          <a:xfrm>
            <a:off x="502920" y="246888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Times New Roman"/>
              </a:rPr>
              <a:t>2</a:t>
            </a:r>
          </a:p>
        </p:txBody>
      </p:sp>
      <p:sp>
        <p:nvSpPr>
          <p:cNvPr id="7" name="TextBox 6"/>
          <p:cNvSpPr txBox="1"/>
          <p:nvPr/>
        </p:nvSpPr>
        <p:spPr>
          <a:xfrm>
            <a:off x="1463040" y="2286000"/>
            <a:ext cx="10241280" cy="1143000"/>
          </a:xfrm>
          <a:prstGeom prst="rect">
            <a:avLst/>
          </a:prstGeom>
          <a:noFill/>
        </p:spPr>
        <p:txBody>
          <a:bodyPr wrap="square" anchor="ctr" lIns="45720" rIns="45720">
            <a:spAutoFit/>
          </a:bodyPr>
          <a:lstStyle/>
          <a:p>
            <a:pPr algn="l">
              <a:spcAft>
                <a:spcPts val="200"/>
              </a:spcAft>
            </a:pPr>
            <a:r>
              <a:rPr sz="2000" b="1" i="0">
                <a:solidFill>
                  <a:srgbClr val="1A1A1A"/>
                </a:solidFill>
                <a:latin typeface="Times New Roman"/>
              </a:rPr>
              <a:t>Privacy and dual use</a:t>
            </a:r>
          </a:p>
          <a:p>
            <a:pPr algn="l">
              <a:spcAft>
                <a:spcPts val="200"/>
              </a:spcAft>
            </a:pPr>
            <a:r>
              <a:rPr sz="1700" b="0" i="0">
                <a:solidFill>
                  <a:srgbClr val="555B63"/>
                </a:solidFill>
                <a:latin typeface="Times New Roman"/>
              </a:rPr>
              <a:t>High-resolution imagery reveals private property – intended for planning and disaster response, not surveillance or forced eviction.</a:t>
            </a:r>
          </a:p>
        </p:txBody>
      </p:sp>
      <p:sp>
        <p:nvSpPr>
          <p:cNvPr id="8" name="Oval 7"/>
          <p:cNvSpPr/>
          <p:nvPr/>
        </p:nvSpPr>
        <p:spPr>
          <a:xfrm>
            <a:off x="502920" y="37947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Times New Roman"/>
              </a:rPr>
              <a:t>3</a:t>
            </a:r>
          </a:p>
        </p:txBody>
      </p:sp>
      <p:sp>
        <p:nvSpPr>
          <p:cNvPr id="9" name="TextBox 8"/>
          <p:cNvSpPr txBox="1"/>
          <p:nvPr/>
        </p:nvSpPr>
        <p:spPr>
          <a:xfrm>
            <a:off x="1463040" y="3611880"/>
            <a:ext cx="10241280" cy="1143000"/>
          </a:xfrm>
          <a:prstGeom prst="rect">
            <a:avLst/>
          </a:prstGeom>
          <a:noFill/>
        </p:spPr>
        <p:txBody>
          <a:bodyPr wrap="square" anchor="ctr" lIns="45720" rIns="45720">
            <a:spAutoFit/>
          </a:bodyPr>
          <a:lstStyle/>
          <a:p>
            <a:pPr algn="l">
              <a:spcAft>
                <a:spcPts val="200"/>
              </a:spcAft>
            </a:pPr>
            <a:r>
              <a:rPr sz="2000" b="1" i="0">
                <a:solidFill>
                  <a:srgbClr val="1A1A1A"/>
                </a:solidFill>
                <a:latin typeface="Times New Roman"/>
              </a:rPr>
              <a:t>Honest evaluation</a:t>
            </a:r>
          </a:p>
          <a:p>
            <a:pPr algn="l">
              <a:spcAft>
                <a:spcPts val="200"/>
              </a:spcAft>
            </a:pPr>
            <a:r>
              <a:rPr sz="1700" b="0" i="0">
                <a:solidFill>
                  <a:srgbClr val="555B63"/>
                </a:solidFill>
                <a:latin typeface="Times New Roman"/>
              </a:rPr>
              <a:t>Test set never used for tuning; threshold chosen on validation; the v1 bugs, the negative DSP ablation and the failure cases are reported openly.</a:t>
            </a:r>
          </a:p>
        </p:txBody>
      </p:sp>
      <p:sp>
        <p:nvSpPr>
          <p:cNvPr id="10" name="Oval 9"/>
          <p:cNvSpPr/>
          <p:nvPr/>
        </p:nvSpPr>
        <p:spPr>
          <a:xfrm>
            <a:off x="502920" y="512064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Times New Roman"/>
              </a:rPr>
              <a:t>4</a:t>
            </a:r>
          </a:p>
        </p:txBody>
      </p:sp>
      <p:sp>
        <p:nvSpPr>
          <p:cNvPr id="11" name="TextBox 10"/>
          <p:cNvSpPr txBox="1"/>
          <p:nvPr/>
        </p:nvSpPr>
        <p:spPr>
          <a:xfrm>
            <a:off x="1463040" y="4937759"/>
            <a:ext cx="10241280" cy="1143000"/>
          </a:xfrm>
          <a:prstGeom prst="rect">
            <a:avLst/>
          </a:prstGeom>
          <a:noFill/>
        </p:spPr>
        <p:txBody>
          <a:bodyPr wrap="square" anchor="ctr" lIns="45720" rIns="45720">
            <a:spAutoFit/>
          </a:bodyPr>
          <a:lstStyle/>
          <a:p>
            <a:pPr algn="l">
              <a:spcAft>
                <a:spcPts val="200"/>
              </a:spcAft>
            </a:pPr>
            <a:r>
              <a:rPr sz="2000" b="1" i="0">
                <a:solidFill>
                  <a:srgbClr val="1A1A1A"/>
                </a:solidFill>
                <a:latin typeface="Times New Roman"/>
              </a:rPr>
              <a:t>Transparency</a:t>
            </a:r>
          </a:p>
          <a:p>
            <a:pPr algn="l">
              <a:spcAft>
                <a:spcPts val="200"/>
              </a:spcAft>
            </a:pPr>
            <a:r>
              <a:rPr sz="1700" b="0" i="0">
                <a:solidFill>
                  <a:srgbClr val="555B63"/>
                </a:solidFill>
                <a:latin typeface="Times New Roman"/>
              </a:rPr>
              <a:t>Code and model are shared publicly; use of AI coding assistance is disclosed in the report.</a:t>
            </a:r>
          </a:p>
        </p:txBody>
      </p:sp>
      <p:sp>
        <p:nvSpPr>
          <p:cNvPr id="12" name="Rectangle 11"/>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4" name="TextBox 13"/>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5" name="TextBox 14"/>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2206104</a:t>
            </a:r>
          </a:p>
        </p:txBody>
      </p:sp>
      <p:sp>
        <p:nvSpPr>
          <p:cNvPr id="16" name="TextBox 15"/>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C1F1292A-A489-4E06-945C-592C4E837190}" type="slidenum">
              <a:rPr lang="en-US" sz="1300" b="1">
                <a:solidFill>
                  <a:srgbClr val="FFFFFF"/>
                </a:solidFill>
                <a:latin typeface="Times New Roman"/>
              </a:rPr>
              <a:t>‹#›</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2266797" y="109728"/>
            <a:ext cx="7658100" cy="566928"/>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2266797" y="137160"/>
            <a:ext cx="7658100"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6. Individual Contribution &amp; Teamwork (PO(i))</a:t>
            </a:r>
          </a:p>
        </p:txBody>
      </p:sp>
      <p:graphicFrame>
        <p:nvGraphicFramePr>
          <p:cNvPr id="4" name="Table 3"/>
          <p:cNvGraphicFramePr>
            <a:graphicFrameLocks noGrp="1"/>
          </p:cNvGraphicFramePr>
          <p:nvPr/>
        </p:nvGraphicFramePr>
        <p:xfrm>
          <a:off x="411480" y="914400"/>
          <a:ext cx="11338560" cy="3017520"/>
        </p:xfrm>
        <a:graphic>
          <a:graphicData uri="http://schemas.openxmlformats.org/drawingml/2006/table">
            <a:tbl>
              <a:tblPr firstRow="1" bandRow="1">
                <a:tableStyleId>{5C22544A-7EE6-4342-B048-85BDC9FD1C3A}</a:tableStyleId>
              </a:tblPr>
              <a:tblGrid>
                <a:gridCol w="2834640"/>
                <a:gridCol w="1463040"/>
                <a:gridCol w="7040880"/>
              </a:tblGrid>
              <a:tr h="603504">
                <a:tc>
                  <a:txBody>
                    <a:bodyPr/>
                    <a:lstStyle/>
                    <a:p>
                      <a:pPr algn="l"/>
                      <a:r>
                        <a:rPr sz="1600" b="1">
                          <a:solidFill>
                            <a:srgbClr val="FFFFFF"/>
                          </a:solidFill>
                          <a:latin typeface="Times New Roman"/>
                        </a:rPr>
                        <a:t>Member</a:t>
                      </a:r>
                    </a:p>
                  </a:txBody>
                  <a:tcPr marL="64008" marR="64008" anchor="ctr">
                    <a:solidFill>
                      <a:srgbClr val="1F497D"/>
                    </a:solidFill>
                  </a:tcPr>
                </a:tc>
                <a:tc>
                  <a:txBody>
                    <a:bodyPr/>
                    <a:lstStyle/>
                    <a:p>
                      <a:pPr algn="ctr"/>
                      <a:r>
                        <a:rPr sz="1600" b="1">
                          <a:solidFill>
                            <a:srgbClr val="FFFFFF"/>
                          </a:solidFill>
                          <a:latin typeface="Times New Roman"/>
                        </a:rPr>
                        <a:t>Student ID</a:t>
                      </a:r>
                    </a:p>
                  </a:txBody>
                  <a:tcPr marL="64008" marR="64008" anchor="ctr">
                    <a:solidFill>
                      <a:srgbClr val="1F497D"/>
                    </a:solidFill>
                  </a:tcPr>
                </a:tc>
                <a:tc>
                  <a:txBody>
                    <a:bodyPr/>
                    <a:lstStyle/>
                    <a:p>
                      <a:pPr algn="l"/>
                      <a:r>
                        <a:rPr sz="1600" b="1">
                          <a:solidFill>
                            <a:srgbClr val="FFFFFF"/>
                          </a:solidFill>
                          <a:latin typeface="Times New Roman"/>
                        </a:rPr>
                        <a:t>Main contributions</a:t>
                      </a:r>
                    </a:p>
                  </a:txBody>
                  <a:tcPr marL="64008" marR="64008" anchor="ctr">
                    <a:solidFill>
                      <a:srgbClr val="1F497D"/>
                    </a:solidFill>
                  </a:tcPr>
                </a:tc>
              </a:tr>
              <a:tr h="603504">
                <a:tc>
                  <a:txBody>
                    <a:bodyPr/>
                    <a:lstStyle/>
                    <a:p>
                      <a:pPr algn="l"/>
                      <a:r>
                        <a:rPr sz="1600">
                          <a:solidFill>
                            <a:srgbClr val="1A1A1A"/>
                          </a:solidFill>
                          <a:latin typeface="Times New Roman"/>
                        </a:rPr>
                        <a:t>Mustasin Rahman</a:t>
                      </a:r>
                    </a:p>
                  </a:txBody>
                  <a:tcPr marL="64008" marR="64008" anchor="ctr">
                    <a:solidFill>
                      <a:srgbClr val="FFFFFF"/>
                    </a:solidFill>
                  </a:tcPr>
                </a:tc>
                <a:tc>
                  <a:txBody>
                    <a:bodyPr/>
                    <a:lstStyle/>
                    <a:p>
                      <a:pPr algn="ctr"/>
                      <a:r>
                        <a:rPr sz="1600">
                          <a:solidFill>
                            <a:srgbClr val="1A1A1A"/>
                          </a:solidFill>
                          <a:latin typeface="Times New Roman"/>
                        </a:rPr>
                        <a:t>2206104</a:t>
                      </a:r>
                    </a:p>
                  </a:txBody>
                  <a:tcPr marL="64008" marR="64008" anchor="ctr">
                    <a:solidFill>
                      <a:srgbClr val="FFFFFF"/>
                    </a:solidFill>
                  </a:tcPr>
                </a:tc>
                <a:tc>
                  <a:txBody>
                    <a:bodyPr/>
                    <a:lstStyle/>
                    <a:p>
                      <a:pPr algn="l"/>
                      <a:r>
                        <a:rPr sz="1600">
                          <a:solidFill>
                            <a:srgbClr val="1A1A1A"/>
                          </a:solidFill>
                          <a:latin typeface="Times New Roman"/>
                        </a:rPr>
                        <a:t>Dataset preparation, DSP pre-processing (grayscale, Gaussian, Canny), augmentation</a:t>
                      </a:r>
                    </a:p>
                  </a:txBody>
                  <a:tcPr marL="64008" marR="64008" anchor="ctr">
                    <a:solidFill>
                      <a:srgbClr val="FFFFFF"/>
                    </a:solidFill>
                  </a:tcPr>
                </a:tc>
              </a:tr>
              <a:tr h="603504">
                <a:tc>
                  <a:txBody>
                    <a:bodyPr/>
                    <a:lstStyle/>
                    <a:p>
                      <a:pPr algn="l"/>
                      <a:r>
                        <a:rPr sz="1600">
                          <a:solidFill>
                            <a:srgbClr val="1A1A1A"/>
                          </a:solidFill>
                          <a:latin typeface="Times New Roman"/>
                        </a:rPr>
                        <a:t>Fahim Shahriyar</a:t>
                      </a:r>
                    </a:p>
                  </a:txBody>
                  <a:tcPr marL="64008" marR="64008" anchor="ctr">
                    <a:solidFill>
                      <a:srgbClr val="F2F2F2"/>
                    </a:solidFill>
                  </a:tcPr>
                </a:tc>
                <a:tc>
                  <a:txBody>
                    <a:bodyPr/>
                    <a:lstStyle/>
                    <a:p>
                      <a:pPr algn="ctr"/>
                      <a:r>
                        <a:rPr sz="1600">
                          <a:solidFill>
                            <a:srgbClr val="1A1A1A"/>
                          </a:solidFill>
                          <a:latin typeface="Times New Roman"/>
                        </a:rPr>
                        <a:t>2206114</a:t>
                      </a:r>
                    </a:p>
                  </a:txBody>
                  <a:tcPr marL="64008" marR="64008" anchor="ctr">
                    <a:solidFill>
                      <a:srgbClr val="F2F2F2"/>
                    </a:solidFill>
                  </a:tcPr>
                </a:tc>
                <a:tc>
                  <a:txBody>
                    <a:bodyPr/>
                    <a:lstStyle/>
                    <a:p>
                      <a:pPr algn="l"/>
                      <a:r>
                        <a:rPr sz="1600">
                          <a:solidFill>
                            <a:srgbClr val="1A1A1A"/>
                          </a:solidFill>
                          <a:latin typeface="Times New Roman"/>
                        </a:rPr>
                        <a:t>Literature review, results &amp; error analysis, failure-mode study, report writing</a:t>
                      </a:r>
                    </a:p>
                  </a:txBody>
                  <a:tcPr marL="64008" marR="64008" anchor="ctr">
                    <a:solidFill>
                      <a:srgbClr val="F2F2F2"/>
                    </a:solidFill>
                  </a:tcPr>
                </a:tc>
              </a:tr>
              <a:tr h="603504">
                <a:tc>
                  <a:txBody>
                    <a:bodyPr/>
                    <a:lstStyle/>
                    <a:p>
                      <a:pPr algn="l"/>
                      <a:r>
                        <a:rPr sz="1600">
                          <a:solidFill>
                            <a:srgbClr val="1A1A1A"/>
                          </a:solidFill>
                          <a:latin typeface="Times New Roman"/>
                        </a:rPr>
                        <a:t>Md. Ahasan Habib Kawsar</a:t>
                      </a:r>
                    </a:p>
                  </a:txBody>
                  <a:tcPr marL="64008" marR="64008" anchor="ctr">
                    <a:solidFill>
                      <a:srgbClr val="FFFFFF"/>
                    </a:solidFill>
                  </a:tcPr>
                </a:tc>
                <a:tc>
                  <a:txBody>
                    <a:bodyPr/>
                    <a:lstStyle/>
                    <a:p>
                      <a:pPr algn="ctr"/>
                      <a:r>
                        <a:rPr sz="1600">
                          <a:solidFill>
                            <a:srgbClr val="1A1A1A"/>
                          </a:solidFill>
                          <a:latin typeface="Times New Roman"/>
                        </a:rPr>
                        <a:t>2206119</a:t>
                      </a:r>
                    </a:p>
                  </a:txBody>
                  <a:tcPr marL="64008" marR="64008" anchor="ctr">
                    <a:solidFill>
                      <a:srgbClr val="FFFFFF"/>
                    </a:solidFill>
                  </a:tcPr>
                </a:tc>
                <a:tc>
                  <a:txBody>
                    <a:bodyPr/>
                    <a:lstStyle/>
                    <a:p>
                      <a:pPr algn="l"/>
                      <a:r>
                        <a:rPr sz="1600">
                          <a:solidFill>
                            <a:srgbClr val="1A1A1A"/>
                          </a:solidFill>
                          <a:latin typeface="Times New Roman"/>
                        </a:rPr>
                        <a:t>Network architecture, training pipeline, v2 debugging, evaluation &amp; ablations</a:t>
                      </a:r>
                    </a:p>
                  </a:txBody>
                  <a:tcPr marL="64008" marR="64008" anchor="ctr">
                    <a:solidFill>
                      <a:srgbClr val="FFFFFF"/>
                    </a:solidFill>
                  </a:tcPr>
                </a:tc>
              </a:tr>
              <a:tr h="603504">
                <a:tc>
                  <a:txBody>
                    <a:bodyPr/>
                    <a:lstStyle/>
                    <a:p>
                      <a:pPr algn="l"/>
                      <a:r>
                        <a:rPr sz="1600">
                          <a:solidFill>
                            <a:srgbClr val="1A1A1A"/>
                          </a:solidFill>
                          <a:latin typeface="Times New Roman"/>
                        </a:rPr>
                        <a:t>Md. Kawsar Ahmed</a:t>
                      </a:r>
                    </a:p>
                  </a:txBody>
                  <a:tcPr marL="64008" marR="64008" anchor="ctr">
                    <a:solidFill>
                      <a:srgbClr val="F2F2F2"/>
                    </a:solidFill>
                  </a:tcPr>
                </a:tc>
                <a:tc>
                  <a:txBody>
                    <a:bodyPr/>
                    <a:lstStyle/>
                    <a:p>
                      <a:pPr algn="ctr"/>
                      <a:r>
                        <a:rPr sz="1600">
                          <a:solidFill>
                            <a:srgbClr val="1A1A1A"/>
                          </a:solidFill>
                          <a:latin typeface="Times New Roman"/>
                        </a:rPr>
                        <a:t>2206122</a:t>
                      </a:r>
                    </a:p>
                  </a:txBody>
                  <a:tcPr marL="64008" marR="64008" anchor="ctr">
                    <a:solidFill>
                      <a:srgbClr val="F2F2F2"/>
                    </a:solidFill>
                  </a:tcPr>
                </a:tc>
                <a:tc>
                  <a:txBody>
                    <a:bodyPr/>
                    <a:lstStyle/>
                    <a:p>
                      <a:pPr algn="l"/>
                      <a:r>
                        <a:rPr sz="1600">
                          <a:solidFill>
                            <a:srgbClr val="1A1A1A"/>
                          </a:solidFill>
                          <a:latin typeface="Times New Roman"/>
                        </a:rPr>
                        <a:t>PyQt5 GUI, inference &amp; post-processing, video, GitHub and presentation</a:t>
                      </a:r>
                    </a:p>
                  </a:txBody>
                  <a:tcPr marL="64008" marR="64008" anchor="ctr">
                    <a:solidFill>
                      <a:srgbClr val="F2F2F2"/>
                    </a:solidFill>
                  </a:tcPr>
                </a:tc>
              </a:tr>
            </a:tbl>
          </a:graphicData>
        </a:graphic>
      </p:graphicFrame>
      <p:sp>
        <p:nvSpPr>
          <p:cNvPr id="5" name="TextBox 4"/>
          <p:cNvSpPr txBox="1"/>
          <p:nvPr/>
        </p:nvSpPr>
        <p:spPr>
          <a:xfrm>
            <a:off x="411480" y="4206240"/>
            <a:ext cx="11338560" cy="2103120"/>
          </a:xfrm>
          <a:prstGeom prst="rect">
            <a:avLst/>
          </a:prstGeom>
          <a:noFill/>
        </p:spPr>
        <p:txBody>
          <a:bodyPr wrap="square" anchor="t" lIns="45720" rIns="45720">
            <a:spAutoFit/>
          </a:bodyPr>
          <a:lstStyle/>
          <a:p>
            <a:pPr algn="l">
              <a:spcAft>
                <a:spcPts val="600"/>
              </a:spcAft>
            </a:pPr>
            <a:r>
              <a:rPr sz="1900" b="1" i="0">
                <a:solidFill>
                  <a:srgbClr val="C00000"/>
                </a:solidFill>
                <a:latin typeface="Times New Roman"/>
              </a:rPr>
              <a:t>Mode of teamwork</a:t>
            </a:r>
          </a:p>
          <a:p>
            <a:pPr algn="l" marL="256032" indent="-219456">
              <a:spcAft>
                <a:spcPts val="600"/>
              </a:spcAft>
              <a:buClr>
                <a:srgbClr val="C00000"/>
              </a:buClr>
              <a:buChar char="▪"/>
            </a:pPr>
            <a:r>
              <a:rPr sz="1700" b="0" i="0">
                <a:solidFill>
                  <a:srgbClr val="1A1A1A"/>
                </a:solidFill>
                <a:latin typeface="Times New Roman"/>
              </a:rPr>
              <a:t>Weekly meetings with a shared task list and one shared code folder</a:t>
            </a:r>
          </a:p>
          <a:p>
            <a:pPr algn="l" marL="256032" indent="-219456">
              <a:spcAft>
                <a:spcPts val="600"/>
              </a:spcAft>
              <a:buClr>
                <a:srgbClr val="C00000"/>
              </a:buClr>
              <a:buChar char="▪"/>
            </a:pPr>
            <a:r>
              <a:rPr sz="1700" b="0" i="0">
                <a:solidFill>
                  <a:srgbClr val="1A1A1A"/>
                </a:solidFill>
                <a:latin typeface="Times New Roman"/>
              </a:rPr>
              <a:t>Every module reviewed and tested by a second member before merging</a:t>
            </a:r>
          </a:p>
          <a:p>
            <a:pPr algn="l" marL="256032" indent="-219456">
              <a:spcAft>
                <a:spcPts val="600"/>
              </a:spcAft>
              <a:buClr>
                <a:srgbClr val="C00000"/>
              </a:buClr>
              <a:buChar char="▪"/>
            </a:pPr>
            <a:r>
              <a:rPr sz="1700" b="0" i="0">
                <a:solidFill>
                  <a:srgbClr val="1A1A1A"/>
                </a:solidFill>
                <a:latin typeface="Times New Roman"/>
              </a:rPr>
              <a:t>Training runs shared across members' laptops; decisions recorded in the project logbook</a:t>
            </a:r>
          </a:p>
        </p:txBody>
      </p:sp>
      <p:sp>
        <p:nvSpPr>
          <p:cNvPr id="6" name="Rectangle 5"/>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8" name="TextBox 7"/>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9" name="TextBox 8"/>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2206122</a:t>
            </a:r>
          </a:p>
        </p:txBody>
      </p:sp>
      <p:sp>
        <p:nvSpPr>
          <p:cNvPr id="10" name="TextBox 9"/>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1DB761C5-12FB-4D20-B26B-EE2028197258}" type="slidenum">
              <a:rPr lang="en-US" sz="1300" b="1">
                <a:solidFill>
                  <a:srgbClr val="FFFFFF"/>
                </a:solidFill>
                <a:latin typeface="Times New Roman"/>
              </a:rPr>
              <a:t>‹#›</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983333" y="109728"/>
            <a:ext cx="8225027" cy="566928"/>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983333" y="137160"/>
            <a:ext cx="8225027"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7. Communication to External Stakeholders (PO(j))</a:t>
            </a:r>
          </a:p>
        </p:txBody>
      </p:sp>
      <p:sp>
        <p:nvSpPr>
          <p:cNvPr id="4" name="Rounded Rectangle 3"/>
          <p:cNvSpPr/>
          <p:nvPr/>
        </p:nvSpPr>
        <p:spPr>
          <a:xfrm>
            <a:off x="411480" y="960120"/>
            <a:ext cx="11338560" cy="109728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40080" y="1005840"/>
            <a:ext cx="10972800" cy="1005840"/>
          </a:xfrm>
          <a:prstGeom prst="rect">
            <a:avLst/>
          </a:prstGeom>
          <a:noFill/>
        </p:spPr>
        <p:txBody>
          <a:bodyPr wrap="square" anchor="ctr" lIns="45720" rIns="45720">
            <a:spAutoFit/>
          </a:bodyPr>
          <a:lstStyle/>
          <a:p>
            <a:pPr algn="l">
              <a:spcAft>
                <a:spcPts val="200"/>
              </a:spcAft>
            </a:pPr>
            <a:r>
              <a:rPr sz="1900" b="1" i="0">
                <a:solidFill>
                  <a:srgbClr val="C00000"/>
                </a:solidFill>
                <a:latin typeface="Times New Roman"/>
              </a:rPr>
              <a:t>GitHub repository</a:t>
            </a:r>
          </a:p>
          <a:p>
            <a:pPr algn="l">
              <a:spcAft>
                <a:spcPts val="200"/>
              </a:spcAft>
            </a:pPr>
            <a:r>
              <a:rPr sz="1700" b="0" i="0">
                <a:solidFill>
                  <a:srgbClr val="1A1A1A"/>
                </a:solidFill>
                <a:latin typeface="Times New Roman"/>
              </a:rPr>
              <a:t>github.com/ahasanhabibkawsar/EEE-312-Group-04-Urban-change-detection-DSP-deep-learning-  —  code, model (Releases), user manual</a:t>
            </a:r>
          </a:p>
        </p:txBody>
      </p:sp>
      <p:sp>
        <p:nvSpPr>
          <p:cNvPr id="6" name="Rounded Rectangle 5"/>
          <p:cNvSpPr/>
          <p:nvPr/>
        </p:nvSpPr>
        <p:spPr>
          <a:xfrm>
            <a:off x="411480" y="2286000"/>
            <a:ext cx="11338560" cy="109728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0080" y="2331720"/>
            <a:ext cx="10972800" cy="1005840"/>
          </a:xfrm>
          <a:prstGeom prst="rect">
            <a:avLst/>
          </a:prstGeom>
          <a:noFill/>
        </p:spPr>
        <p:txBody>
          <a:bodyPr wrap="square" anchor="ctr" lIns="45720" rIns="45720">
            <a:spAutoFit/>
          </a:bodyPr>
          <a:lstStyle/>
          <a:p>
            <a:pPr algn="l">
              <a:spcAft>
                <a:spcPts val="200"/>
              </a:spcAft>
            </a:pPr>
            <a:r>
              <a:rPr sz="1900" b="1" i="0">
                <a:solidFill>
                  <a:srgbClr val="C00000"/>
                </a:solidFill>
                <a:latin typeface="Times New Roman"/>
              </a:rPr>
              <a:t>YouTube video</a:t>
            </a:r>
          </a:p>
          <a:p>
            <a:pPr algn="l">
              <a:spcAft>
                <a:spcPts val="200"/>
              </a:spcAft>
            </a:pPr>
            <a:r>
              <a:rPr sz="1700" b="0" i="0">
                <a:solidFill>
                  <a:srgbClr val="1A1A1A"/>
                </a:solidFill>
                <a:latin typeface="Times New Roman"/>
              </a:rPr>
              <a:t>youtu.be/&lt;video-id&gt;  —  10-minute project presentation</a:t>
            </a:r>
          </a:p>
        </p:txBody>
      </p:sp>
      <p:sp>
        <p:nvSpPr>
          <p:cNvPr id="8" name="Rounded Rectangle 7"/>
          <p:cNvSpPr/>
          <p:nvPr/>
        </p:nvSpPr>
        <p:spPr>
          <a:xfrm>
            <a:off x="411480" y="3611880"/>
            <a:ext cx="11338560" cy="109728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0080" y="3657600"/>
            <a:ext cx="10972800" cy="1005840"/>
          </a:xfrm>
          <a:prstGeom prst="rect">
            <a:avLst/>
          </a:prstGeom>
          <a:noFill/>
        </p:spPr>
        <p:txBody>
          <a:bodyPr wrap="square" anchor="ctr" lIns="45720" rIns="45720">
            <a:spAutoFit/>
          </a:bodyPr>
          <a:lstStyle/>
          <a:p>
            <a:pPr algn="l">
              <a:spcAft>
                <a:spcPts val="200"/>
              </a:spcAft>
            </a:pPr>
            <a:r>
              <a:rPr sz="1900" b="1" i="0">
                <a:solidFill>
                  <a:srgbClr val="C00000"/>
                </a:solidFill>
                <a:latin typeface="Times New Roman"/>
              </a:rPr>
              <a:t>Video title</a:t>
            </a:r>
          </a:p>
          <a:p>
            <a:pPr algn="l">
              <a:spcAft>
                <a:spcPts val="200"/>
              </a:spcAft>
            </a:pPr>
            <a:r>
              <a:rPr sz="1700" b="0" i="0">
                <a:solidFill>
                  <a:srgbClr val="1A1A1A"/>
                </a:solidFill>
                <a:latin typeface="Times New Roman"/>
              </a:rPr>
              <a:t>Urban Change Detection with DSP &amp; Deep Learning | B2.04 | EEE 312 (Jan 2026) Project | Dept of EEE, BUET</a:t>
            </a:r>
          </a:p>
        </p:txBody>
      </p:sp>
      <p:sp>
        <p:nvSpPr>
          <p:cNvPr id="10" name="TextBox 9"/>
          <p:cNvSpPr txBox="1"/>
          <p:nvPr/>
        </p:nvSpPr>
        <p:spPr>
          <a:xfrm>
            <a:off x="411480" y="5029200"/>
            <a:ext cx="11338560" cy="1188720"/>
          </a:xfrm>
          <a:prstGeom prst="rect">
            <a:avLst/>
          </a:prstGeom>
          <a:noFill/>
        </p:spPr>
        <p:txBody>
          <a:bodyPr wrap="square" anchor="t" lIns="45720" rIns="45720">
            <a:spAutoFit/>
          </a:bodyPr>
          <a:lstStyle/>
          <a:p>
            <a:pPr algn="l" marL="256032" indent="-219456">
              <a:spcAft>
                <a:spcPts val="600"/>
              </a:spcAft>
              <a:buClr>
                <a:srgbClr val="C00000"/>
              </a:buClr>
              <a:buChar char="▪"/>
            </a:pPr>
            <a:r>
              <a:rPr sz="1700" b="0" i="0">
                <a:solidFill>
                  <a:srgbClr val="1A1A1A"/>
                </a:solidFill>
                <a:latin typeface="Times New Roman"/>
              </a:rPr>
              <a:t>Deliverables: detailed report, user manual (installation and GUI usage), recorded presentation, source code with a sanity-check script.</a:t>
            </a:r>
          </a:p>
        </p:txBody>
      </p:sp>
      <p:sp>
        <p:nvSpPr>
          <p:cNvPr id="11" name="Rectangle 10"/>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13" name="TextBox 12"/>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14" name="TextBox 13"/>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2206122</a:t>
            </a:r>
          </a:p>
        </p:txBody>
      </p:sp>
      <p:sp>
        <p:nvSpPr>
          <p:cNvPr id="15" name="TextBox 14"/>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DA1A7F19-72A2-4EA0-933B-C2269C890D88}" type="slidenum">
              <a:rPr lang="en-US" sz="1300" b="1">
                <a:solidFill>
                  <a:srgbClr val="FFFFFF"/>
                </a:solidFill>
                <a:latin typeface="Times New Roman"/>
              </a:rPr>
              <a:t>‹#›</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61207" y="109728"/>
            <a:ext cx="5669280" cy="566928"/>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261207" y="137160"/>
            <a:ext cx="5669280"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8. Future Work (PO(l))</a:t>
            </a:r>
          </a:p>
        </p:txBody>
      </p:sp>
      <p:sp>
        <p:nvSpPr>
          <p:cNvPr id="4" name="Rounded Rectangle 3"/>
          <p:cNvSpPr/>
          <p:nvPr/>
        </p:nvSpPr>
        <p:spPr>
          <a:xfrm>
            <a:off x="411480" y="914400"/>
            <a:ext cx="5577840" cy="160020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Oval 4"/>
          <p:cNvSpPr/>
          <p:nvPr/>
        </p:nvSpPr>
        <p:spPr>
          <a:xfrm>
            <a:off x="594360" y="1371600"/>
            <a:ext cx="658368" cy="658368"/>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000" b="1" i="0">
                <a:solidFill>
                  <a:srgbClr val="FFFFFF"/>
                </a:solidFill>
                <a:latin typeface="Times New Roman"/>
              </a:rPr>
              <a:t>1</a:t>
            </a:r>
          </a:p>
        </p:txBody>
      </p:sp>
      <p:sp>
        <p:nvSpPr>
          <p:cNvPr id="6" name="TextBox 5"/>
          <p:cNvSpPr txBox="1"/>
          <p:nvPr/>
        </p:nvSpPr>
        <p:spPr>
          <a:xfrm>
            <a:off x="1417320" y="1005840"/>
            <a:ext cx="4434840" cy="1417320"/>
          </a:xfrm>
          <a:prstGeom prst="rect">
            <a:avLst/>
          </a:prstGeom>
          <a:noFill/>
        </p:spPr>
        <p:txBody>
          <a:bodyPr wrap="square" anchor="ctr" lIns="45720" rIns="45720">
            <a:spAutoFit/>
          </a:bodyPr>
          <a:lstStyle/>
          <a:p>
            <a:pPr algn="l">
              <a:spcAft>
                <a:spcPts val="300"/>
              </a:spcAft>
            </a:pPr>
            <a:r>
              <a:rPr sz="1800" b="1" i="0">
                <a:solidFill>
                  <a:srgbClr val="1A1A1A"/>
                </a:solidFill>
                <a:latin typeface="Times New Roman"/>
              </a:rPr>
              <a:t>Local dataset creation</a:t>
            </a:r>
          </a:p>
          <a:p>
            <a:pPr algn="l">
              <a:spcAft>
                <a:spcPts val="300"/>
              </a:spcAft>
            </a:pPr>
            <a:r>
              <a:rPr sz="1500" b="0" i="0">
                <a:solidFill>
                  <a:srgbClr val="555B63"/>
                </a:solidFill>
                <a:latin typeface="Times New Roman"/>
              </a:rPr>
              <a:t>Collect and annotate bi-temporal imagery of Dhaka to build a region-specific benchmark.</a:t>
            </a:r>
          </a:p>
        </p:txBody>
      </p:sp>
      <p:sp>
        <p:nvSpPr>
          <p:cNvPr id="7" name="Rounded Rectangle 6"/>
          <p:cNvSpPr/>
          <p:nvPr/>
        </p:nvSpPr>
        <p:spPr>
          <a:xfrm>
            <a:off x="6172200" y="914400"/>
            <a:ext cx="5577840" cy="160020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6355080" y="1371600"/>
            <a:ext cx="658368" cy="658368"/>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000" b="1" i="0">
                <a:solidFill>
                  <a:srgbClr val="FFFFFF"/>
                </a:solidFill>
                <a:latin typeface="Times New Roman"/>
              </a:rPr>
              <a:t>2</a:t>
            </a:r>
          </a:p>
        </p:txBody>
      </p:sp>
      <p:sp>
        <p:nvSpPr>
          <p:cNvPr id="9" name="TextBox 8"/>
          <p:cNvSpPr txBox="1"/>
          <p:nvPr/>
        </p:nvSpPr>
        <p:spPr>
          <a:xfrm>
            <a:off x="7178040" y="1005840"/>
            <a:ext cx="4434840" cy="1417320"/>
          </a:xfrm>
          <a:prstGeom prst="rect">
            <a:avLst/>
          </a:prstGeom>
          <a:noFill/>
        </p:spPr>
        <p:txBody>
          <a:bodyPr wrap="square" anchor="ctr" lIns="45720" rIns="45720">
            <a:spAutoFit/>
          </a:bodyPr>
          <a:lstStyle/>
          <a:p>
            <a:pPr algn="l">
              <a:spcAft>
                <a:spcPts val="300"/>
              </a:spcAft>
            </a:pPr>
            <a:r>
              <a:rPr sz="1800" b="1" i="0">
                <a:solidFill>
                  <a:srgbClr val="1A1A1A"/>
                </a:solidFill>
                <a:latin typeface="Times New Roman"/>
              </a:rPr>
              <a:t>Fine-tuning &amp; domain adaptation</a:t>
            </a:r>
          </a:p>
          <a:p>
            <a:pPr algn="l">
              <a:spcAft>
                <a:spcPts val="300"/>
              </a:spcAft>
            </a:pPr>
            <a:r>
              <a:rPr sz="1500" b="0" i="0">
                <a:solidFill>
                  <a:srgbClr val="555B63"/>
                </a:solidFill>
                <a:latin typeface="Times New Roman"/>
              </a:rPr>
              <a:t>Label Purbachal pairs and fine-tune v2; v1 flags 5× more change there, but it cannot be scored without labels.</a:t>
            </a:r>
          </a:p>
        </p:txBody>
      </p:sp>
      <p:sp>
        <p:nvSpPr>
          <p:cNvPr id="10" name="Rounded Rectangle 9"/>
          <p:cNvSpPr/>
          <p:nvPr/>
        </p:nvSpPr>
        <p:spPr>
          <a:xfrm>
            <a:off x="411480" y="2697480"/>
            <a:ext cx="5577840" cy="160020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594360" y="3154680"/>
            <a:ext cx="658368" cy="658368"/>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000" b="1" i="0">
                <a:solidFill>
                  <a:srgbClr val="FFFFFF"/>
                </a:solidFill>
                <a:latin typeface="Times New Roman"/>
              </a:rPr>
              <a:t>3</a:t>
            </a:r>
          </a:p>
        </p:txBody>
      </p:sp>
      <p:sp>
        <p:nvSpPr>
          <p:cNvPr id="12" name="TextBox 11"/>
          <p:cNvSpPr txBox="1"/>
          <p:nvPr/>
        </p:nvSpPr>
        <p:spPr>
          <a:xfrm>
            <a:off x="1417320" y="2788920"/>
            <a:ext cx="4434840" cy="1417320"/>
          </a:xfrm>
          <a:prstGeom prst="rect">
            <a:avLst/>
          </a:prstGeom>
          <a:noFill/>
        </p:spPr>
        <p:txBody>
          <a:bodyPr wrap="square" anchor="ctr" lIns="45720" rIns="45720">
            <a:spAutoFit/>
          </a:bodyPr>
          <a:lstStyle/>
          <a:p>
            <a:pPr algn="l">
              <a:spcAft>
                <a:spcPts val="300"/>
              </a:spcAft>
            </a:pPr>
            <a:r>
              <a:rPr sz="1800" b="1" i="0">
                <a:solidFill>
                  <a:srgbClr val="1A1A1A"/>
                </a:solidFill>
                <a:latin typeface="Times New Roman"/>
              </a:rPr>
              <a:t>Adaptive DSP features</a:t>
            </a:r>
          </a:p>
          <a:p>
            <a:pPr algn="l">
              <a:spcAft>
                <a:spcPts val="300"/>
              </a:spcAft>
            </a:pPr>
            <a:r>
              <a:rPr sz="1500" b="0" i="0">
                <a:solidFill>
                  <a:srgbClr val="555B63"/>
                </a:solidFill>
                <a:latin typeface="Times New Roman"/>
              </a:rPr>
              <a:t>Replace fixed Canny thresholds with learnable, multi-scale edge filters – the fixed channel gave no gain.</a:t>
            </a:r>
          </a:p>
        </p:txBody>
      </p:sp>
      <p:sp>
        <p:nvSpPr>
          <p:cNvPr id="13" name="Rounded Rectangle 12"/>
          <p:cNvSpPr/>
          <p:nvPr/>
        </p:nvSpPr>
        <p:spPr>
          <a:xfrm>
            <a:off x="6172200" y="2697480"/>
            <a:ext cx="5577840" cy="160020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6355080" y="3154680"/>
            <a:ext cx="658368" cy="658368"/>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000" b="1" i="0">
                <a:solidFill>
                  <a:srgbClr val="FFFFFF"/>
                </a:solidFill>
                <a:latin typeface="Times New Roman"/>
              </a:rPr>
              <a:t>4</a:t>
            </a:r>
          </a:p>
        </p:txBody>
      </p:sp>
      <p:sp>
        <p:nvSpPr>
          <p:cNvPr id="15" name="TextBox 14"/>
          <p:cNvSpPr txBox="1"/>
          <p:nvPr/>
        </p:nvSpPr>
        <p:spPr>
          <a:xfrm>
            <a:off x="7178040" y="2788920"/>
            <a:ext cx="4434840" cy="1417320"/>
          </a:xfrm>
          <a:prstGeom prst="rect">
            <a:avLst/>
          </a:prstGeom>
          <a:noFill/>
        </p:spPr>
        <p:txBody>
          <a:bodyPr wrap="square" anchor="ctr" lIns="45720" rIns="45720">
            <a:spAutoFit/>
          </a:bodyPr>
          <a:lstStyle/>
          <a:p>
            <a:pPr algn="l">
              <a:spcAft>
                <a:spcPts val="300"/>
              </a:spcAft>
            </a:pPr>
            <a:r>
              <a:rPr sz="1800" b="1" i="0">
                <a:solidFill>
                  <a:srgbClr val="1A1A1A"/>
                </a:solidFill>
                <a:latin typeface="Times New Roman"/>
              </a:rPr>
              <a:t>Dense &amp; high-rise scenes</a:t>
            </a:r>
          </a:p>
          <a:p>
            <a:pPr algn="l">
              <a:spcAft>
                <a:spcPts val="300"/>
              </a:spcAft>
            </a:pPr>
            <a:r>
              <a:rPr sz="1500" b="0" i="0">
                <a:solidFill>
                  <a:srgbClr val="555B63"/>
                </a:solidFill>
                <a:latin typeface="Times New Roman"/>
              </a:rPr>
              <a:t>Improve robustness to shadows, off-nadir views and tightly packed buildings.</a:t>
            </a:r>
          </a:p>
        </p:txBody>
      </p:sp>
      <p:sp>
        <p:nvSpPr>
          <p:cNvPr id="16" name="Rounded Rectangle 15"/>
          <p:cNvSpPr/>
          <p:nvPr/>
        </p:nvSpPr>
        <p:spPr>
          <a:xfrm>
            <a:off x="411480" y="4480560"/>
            <a:ext cx="5577840" cy="160020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594360" y="4937760"/>
            <a:ext cx="658368" cy="658368"/>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000" b="1" i="0">
                <a:solidFill>
                  <a:srgbClr val="FFFFFF"/>
                </a:solidFill>
                <a:latin typeface="Times New Roman"/>
              </a:rPr>
              <a:t>5</a:t>
            </a:r>
          </a:p>
        </p:txBody>
      </p:sp>
      <p:sp>
        <p:nvSpPr>
          <p:cNvPr id="18" name="TextBox 17"/>
          <p:cNvSpPr txBox="1"/>
          <p:nvPr/>
        </p:nvSpPr>
        <p:spPr>
          <a:xfrm>
            <a:off x="1417320" y="4572000"/>
            <a:ext cx="4434840" cy="1417320"/>
          </a:xfrm>
          <a:prstGeom prst="rect">
            <a:avLst/>
          </a:prstGeom>
          <a:noFill/>
        </p:spPr>
        <p:txBody>
          <a:bodyPr wrap="square" anchor="ctr" lIns="45720" rIns="45720">
            <a:spAutoFit/>
          </a:bodyPr>
          <a:lstStyle/>
          <a:p>
            <a:pPr algn="l">
              <a:spcAft>
                <a:spcPts val="300"/>
              </a:spcAft>
            </a:pPr>
            <a:r>
              <a:rPr sz="1800" b="1" i="0">
                <a:solidFill>
                  <a:srgbClr val="1A1A1A"/>
                </a:solidFill>
                <a:latin typeface="Times New Roman"/>
              </a:rPr>
              <a:t>Semantic change detection</a:t>
            </a:r>
          </a:p>
          <a:p>
            <a:pPr algn="l">
              <a:spcAft>
                <a:spcPts val="300"/>
              </a:spcAft>
            </a:pPr>
            <a:r>
              <a:rPr sz="1500" b="0" i="0">
                <a:solidFill>
                  <a:srgbClr val="555B63"/>
                </a:solidFill>
                <a:latin typeface="Times New Roman"/>
              </a:rPr>
              <a:t>Classify the change type: new construction, demolition, extension.</a:t>
            </a:r>
          </a:p>
        </p:txBody>
      </p:sp>
      <p:sp>
        <p:nvSpPr>
          <p:cNvPr id="19" name="Rounded Rectangle 18"/>
          <p:cNvSpPr/>
          <p:nvPr/>
        </p:nvSpPr>
        <p:spPr>
          <a:xfrm>
            <a:off x="6172200" y="4480560"/>
            <a:ext cx="5577840" cy="1600200"/>
          </a:xfrm>
          <a:prstGeom prst="roundRect">
            <a:avLst>
              <a:gd name="adj" fmla="val 8000"/>
            </a:avLst>
          </a:prstGeom>
          <a:solidFill>
            <a:srgbClr val="F2F2F2"/>
          </a:solidFill>
          <a:ln w="12700">
            <a:solidFill>
              <a:srgbClr val="BFC5C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6355080" y="4937760"/>
            <a:ext cx="658368" cy="658368"/>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000" b="1" i="0">
                <a:solidFill>
                  <a:srgbClr val="FFFFFF"/>
                </a:solidFill>
                <a:latin typeface="Times New Roman"/>
              </a:rPr>
              <a:t>6</a:t>
            </a:r>
          </a:p>
        </p:txBody>
      </p:sp>
      <p:sp>
        <p:nvSpPr>
          <p:cNvPr id="21" name="TextBox 20"/>
          <p:cNvSpPr txBox="1"/>
          <p:nvPr/>
        </p:nvSpPr>
        <p:spPr>
          <a:xfrm>
            <a:off x="7178040" y="4572000"/>
            <a:ext cx="4434840" cy="1417320"/>
          </a:xfrm>
          <a:prstGeom prst="rect">
            <a:avLst/>
          </a:prstGeom>
          <a:noFill/>
        </p:spPr>
        <p:txBody>
          <a:bodyPr wrap="square" anchor="ctr" lIns="45720" rIns="45720">
            <a:spAutoFit/>
          </a:bodyPr>
          <a:lstStyle/>
          <a:p>
            <a:pPr algn="l">
              <a:spcAft>
                <a:spcPts val="300"/>
              </a:spcAft>
            </a:pPr>
            <a:r>
              <a:rPr sz="1800" b="1" i="0">
                <a:solidFill>
                  <a:srgbClr val="1A1A1A"/>
                </a:solidFill>
                <a:latin typeface="Times New Roman"/>
              </a:rPr>
              <a:t>Efficient deployment</a:t>
            </a:r>
          </a:p>
          <a:p>
            <a:pPr algn="l">
              <a:spcAft>
                <a:spcPts val="300"/>
              </a:spcAft>
            </a:pPr>
            <a:r>
              <a:rPr sz="1500" b="0" i="0">
                <a:solidFill>
                  <a:srgbClr val="555B63"/>
                </a:solidFill>
                <a:latin typeface="Times New Roman"/>
              </a:rPr>
              <a:t>Faster inference for large satellite scenes; GIS plug-in with polygon export.</a:t>
            </a:r>
          </a:p>
        </p:txBody>
      </p:sp>
      <p:sp>
        <p:nvSpPr>
          <p:cNvPr id="22" name="Rectangle 21"/>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24" name="TextBox 23"/>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25" name="TextBox 24"/>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2206122</a:t>
            </a:r>
          </a:p>
        </p:txBody>
      </p:sp>
      <p:sp>
        <p:nvSpPr>
          <p:cNvPr id="26" name="TextBox 25"/>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CCC54180-A997-4BFB-9B69-B09F14FFC208}" type="slidenum">
              <a:rPr lang="en-US" sz="1300" b="1">
                <a:solidFill>
                  <a:srgbClr val="FFFFFF"/>
                </a:solidFill>
                <a:latin typeface="Times New Roman"/>
              </a:rPr>
              <a:t>‹#›</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61207" y="109728"/>
            <a:ext cx="5669280" cy="566928"/>
          </a:xfrm>
          <a:prstGeom prst="roundRect">
            <a:avLst>
              <a:gd name="adj" fmla="val 12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261207" y="137160"/>
            <a:ext cx="5669280" cy="457200"/>
          </a:xfrm>
          <a:prstGeom prst="rect">
            <a:avLst/>
          </a:prstGeom>
          <a:noFill/>
        </p:spPr>
        <p:txBody>
          <a:bodyPr wrap="square" anchor="ctr" lIns="18288" rIns="18288" tIns="18288" bIns="18288">
            <a:spAutoFit/>
          </a:bodyPr>
          <a:lstStyle/>
          <a:p>
            <a:pPr algn="ctr">
              <a:spcAft>
                <a:spcPts val="600"/>
              </a:spcAft>
            </a:pPr>
            <a:r>
              <a:rPr sz="2400" b="1" i="0">
                <a:solidFill>
                  <a:srgbClr val="FFFFFF"/>
                </a:solidFill>
                <a:latin typeface="Cambria"/>
              </a:rPr>
              <a:t>9. References</a:t>
            </a:r>
          </a:p>
        </p:txBody>
      </p:sp>
      <p:sp>
        <p:nvSpPr>
          <p:cNvPr id="4" name="TextBox 3"/>
          <p:cNvSpPr txBox="1"/>
          <p:nvPr/>
        </p:nvSpPr>
        <p:spPr>
          <a:xfrm>
            <a:off x="411480" y="868680"/>
            <a:ext cx="11384280" cy="5486400"/>
          </a:xfrm>
          <a:prstGeom prst="rect">
            <a:avLst/>
          </a:prstGeom>
          <a:noFill/>
        </p:spPr>
        <p:txBody>
          <a:bodyPr wrap="square" anchor="t" lIns="45720" rIns="45720">
            <a:spAutoFit/>
          </a:bodyPr>
          <a:lstStyle/>
          <a:p>
            <a:pPr algn="l">
              <a:spcAft>
                <a:spcPts val="300"/>
              </a:spcAft>
            </a:pPr>
            <a:r>
              <a:rPr sz="1400" b="1" i="0">
                <a:solidFill>
                  <a:srgbClr val="C00000"/>
                </a:solidFill>
                <a:latin typeface="Times New Roman"/>
              </a:rPr>
              <a:t>[1]  </a:t>
            </a:r>
            <a:r>
              <a:rPr sz="1400" b="0" i="0">
                <a:solidFill>
                  <a:srgbClr val="1A1A1A"/>
                </a:solidFill>
                <a:latin typeface="Times New Roman"/>
              </a:rPr>
              <a:t>H. Chen and Z. Shi, “A spatial-temporal attention-based method and a new dataset for remote sensing image change detection,” Remote Sensing, vol. 12, no. 10, p. 1662, 2020.</a:t>
            </a:r>
          </a:p>
          <a:p>
            <a:pPr algn="l">
              <a:spcAft>
                <a:spcPts val="300"/>
              </a:spcAft>
            </a:pPr>
            <a:r>
              <a:rPr sz="1400" b="1" i="0">
                <a:solidFill>
                  <a:srgbClr val="C00000"/>
                </a:solidFill>
                <a:latin typeface="Times New Roman"/>
              </a:rPr>
              <a:t>[2]  </a:t>
            </a:r>
            <a:r>
              <a:rPr sz="1400" b="0" i="0">
                <a:solidFill>
                  <a:srgbClr val="1A1A1A"/>
                </a:solidFill>
                <a:latin typeface="Times New Roman"/>
              </a:rPr>
              <a:t>ITU-R Recommendation BT.601-7, “Studio encoding parameters of digital television for standard 4:3 and wide-screen 16:9 aspect ratios,” 2011.</a:t>
            </a:r>
          </a:p>
          <a:p>
            <a:pPr algn="l">
              <a:spcAft>
                <a:spcPts val="300"/>
              </a:spcAft>
            </a:pPr>
            <a:r>
              <a:rPr sz="1400" b="1" i="0">
                <a:solidFill>
                  <a:srgbClr val="C00000"/>
                </a:solidFill>
                <a:latin typeface="Times New Roman"/>
              </a:rPr>
              <a:t>[3]  </a:t>
            </a:r>
            <a:r>
              <a:rPr sz="1400" b="0" i="0">
                <a:solidFill>
                  <a:srgbClr val="1A1A1A"/>
                </a:solidFill>
                <a:latin typeface="Times New Roman"/>
              </a:rPr>
              <a:t>J. Canny, “A computational approach to edge detection,” IEEE Trans. Pattern Anal. Mach. Intell., vol. PAMI-8, no. 6, pp. 679–698, 1986.</a:t>
            </a:r>
          </a:p>
          <a:p>
            <a:pPr algn="l">
              <a:spcAft>
                <a:spcPts val="300"/>
              </a:spcAft>
            </a:pPr>
            <a:r>
              <a:rPr sz="1400" b="1" i="0">
                <a:solidFill>
                  <a:srgbClr val="C00000"/>
                </a:solidFill>
                <a:latin typeface="Times New Roman"/>
              </a:rPr>
              <a:t>[4]  </a:t>
            </a:r>
            <a:r>
              <a:rPr sz="1400" b="0" i="0">
                <a:solidFill>
                  <a:srgbClr val="1A1A1A"/>
                </a:solidFill>
                <a:latin typeface="Times New Roman"/>
              </a:rPr>
              <a:t>D. Marr and E. Hildreth, “Theory of edge detection,” Proc. R. Soc. Lond. B, vol. 207, no. 1167, pp. 187–217, 1980.</a:t>
            </a:r>
          </a:p>
          <a:p>
            <a:pPr algn="l">
              <a:spcAft>
                <a:spcPts val="300"/>
              </a:spcAft>
            </a:pPr>
            <a:r>
              <a:rPr sz="1400" b="1" i="0">
                <a:solidFill>
                  <a:srgbClr val="C00000"/>
                </a:solidFill>
                <a:latin typeface="Times New Roman"/>
              </a:rPr>
              <a:t>[5]  </a:t>
            </a:r>
            <a:r>
              <a:rPr sz="1400" b="0" i="0">
                <a:solidFill>
                  <a:srgbClr val="1A1A1A"/>
                </a:solidFill>
                <a:latin typeface="Times New Roman"/>
              </a:rPr>
              <a:t>R. C. Daudt, B. Le Saux, and A. Boulch, “Fully convolutional Siamese networks for change detection,” in Proc. IEEE ICIP, 2018.</a:t>
            </a:r>
          </a:p>
          <a:p>
            <a:pPr algn="l">
              <a:spcAft>
                <a:spcPts val="300"/>
              </a:spcAft>
            </a:pPr>
            <a:r>
              <a:rPr sz="1400" b="1" i="0">
                <a:solidFill>
                  <a:srgbClr val="C00000"/>
                </a:solidFill>
                <a:latin typeface="Times New Roman"/>
              </a:rPr>
              <a:t>[6]  </a:t>
            </a:r>
            <a:r>
              <a:rPr sz="1400" b="0" i="0">
                <a:solidFill>
                  <a:srgbClr val="1A1A1A"/>
                </a:solidFill>
                <a:latin typeface="Times New Roman"/>
              </a:rPr>
              <a:t>H. Chen, Z. Qi, and Z. Shi, “Remote sensing image change detection with transformers,” IEEE Trans. Geosci. Remote Sens., vol. 60, 2022.</a:t>
            </a:r>
          </a:p>
          <a:p>
            <a:pPr algn="l">
              <a:spcAft>
                <a:spcPts val="300"/>
              </a:spcAft>
            </a:pPr>
            <a:r>
              <a:rPr sz="1400" b="1" i="0">
                <a:solidFill>
                  <a:srgbClr val="C00000"/>
                </a:solidFill>
                <a:latin typeface="Times New Roman"/>
              </a:rPr>
              <a:t>[7]  </a:t>
            </a:r>
            <a:r>
              <a:rPr sz="1400" b="0" i="0">
                <a:solidFill>
                  <a:srgbClr val="1A1A1A"/>
                </a:solidFill>
                <a:latin typeface="Times New Roman"/>
              </a:rPr>
              <a:t>W. G. C. Bandara and V. M. Patel, “A transformer-based Siamese network for change detection,” in Proc. IEEE IGARSS, 2022.</a:t>
            </a:r>
          </a:p>
          <a:p>
            <a:pPr algn="l">
              <a:spcAft>
                <a:spcPts val="300"/>
              </a:spcAft>
            </a:pPr>
            <a:r>
              <a:rPr sz="1400" b="1" i="0">
                <a:solidFill>
                  <a:srgbClr val="C00000"/>
                </a:solidFill>
                <a:latin typeface="Times New Roman"/>
              </a:rPr>
              <a:t>[8]  </a:t>
            </a:r>
            <a:r>
              <a:rPr sz="1400" b="0" i="0">
                <a:solidFill>
                  <a:srgbClr val="1A1A1A"/>
                </a:solidFill>
                <a:latin typeface="Times New Roman"/>
              </a:rPr>
              <a:t>K. He, X. Zhang, S. Ren, and J. Sun, “Deep residual learning for image recognition,” in Proc. IEEE CVPR, 2016.</a:t>
            </a:r>
          </a:p>
          <a:p>
            <a:pPr algn="l">
              <a:spcAft>
                <a:spcPts val="300"/>
              </a:spcAft>
            </a:pPr>
            <a:r>
              <a:rPr sz="1400" b="1" i="0">
                <a:solidFill>
                  <a:srgbClr val="C00000"/>
                </a:solidFill>
                <a:latin typeface="Times New Roman"/>
              </a:rPr>
              <a:t>[9]  </a:t>
            </a:r>
            <a:r>
              <a:rPr sz="1400" b="0" i="0">
                <a:solidFill>
                  <a:srgbClr val="1A1A1A"/>
                </a:solidFill>
                <a:latin typeface="Times New Roman"/>
              </a:rPr>
              <a:t>O. Ronneberger, P. Fischer, and T. Brox, “U-Net: Convolutional networks for biomedical image segmentation,” in Proc. MICCAI, 2015.</a:t>
            </a:r>
          </a:p>
          <a:p>
            <a:pPr algn="l">
              <a:spcAft>
                <a:spcPts val="300"/>
              </a:spcAft>
            </a:pPr>
            <a:r>
              <a:rPr sz="1400" b="1" i="0">
                <a:solidFill>
                  <a:srgbClr val="C00000"/>
                </a:solidFill>
                <a:latin typeface="Times New Roman"/>
              </a:rPr>
              <a:t>[10]  </a:t>
            </a:r>
            <a:r>
              <a:rPr sz="1400" b="0" i="0">
                <a:solidFill>
                  <a:srgbClr val="1A1A1A"/>
                </a:solidFill>
                <a:latin typeface="Times New Roman"/>
              </a:rPr>
              <a:t>S. Xie and Z. Tu, “Holistically-nested edge detection,” in Proc. IEEE ICCV, 2015.</a:t>
            </a:r>
          </a:p>
          <a:p>
            <a:pPr algn="l">
              <a:spcAft>
                <a:spcPts val="300"/>
              </a:spcAft>
            </a:pPr>
            <a:r>
              <a:rPr sz="1400" b="1" i="0">
                <a:solidFill>
                  <a:srgbClr val="C00000"/>
                </a:solidFill>
                <a:latin typeface="Times New Roman"/>
              </a:rPr>
              <a:t>[11]  </a:t>
            </a:r>
            <a:r>
              <a:rPr sz="1400" b="0" i="0">
                <a:solidFill>
                  <a:srgbClr val="1A1A1A"/>
                </a:solidFill>
                <a:latin typeface="Times New Roman"/>
              </a:rPr>
              <a:t>F. Milletari, N. Navab, and S.-A. Ahmadi, “V-Net: Fully convolutional neural networks for volumetric medical image segmentation,” in Proc. 3DV, 2016.</a:t>
            </a:r>
          </a:p>
          <a:p>
            <a:pPr algn="l">
              <a:spcAft>
                <a:spcPts val="300"/>
              </a:spcAft>
            </a:pPr>
            <a:r>
              <a:rPr sz="1400" b="1" i="0">
                <a:solidFill>
                  <a:srgbClr val="C00000"/>
                </a:solidFill>
                <a:latin typeface="Times New Roman"/>
              </a:rPr>
              <a:t>[12]  </a:t>
            </a:r>
            <a:r>
              <a:rPr sz="1400" b="0" i="0">
                <a:solidFill>
                  <a:srgbClr val="1A1A1A"/>
                </a:solidFill>
                <a:latin typeface="Times New Roman"/>
              </a:rPr>
              <a:t>A. Paszke et al., “PyTorch: An imperative style, high-performance deep learning library,” in Proc. NeurIPS, 2019.</a:t>
            </a:r>
          </a:p>
          <a:p>
            <a:pPr algn="l">
              <a:spcAft>
                <a:spcPts val="300"/>
              </a:spcAft>
            </a:pPr>
            <a:r>
              <a:rPr sz="1400" b="1" i="0">
                <a:solidFill>
                  <a:srgbClr val="C00000"/>
                </a:solidFill>
                <a:latin typeface="Times New Roman"/>
              </a:rPr>
              <a:t>[13]  </a:t>
            </a:r>
            <a:r>
              <a:rPr sz="1400" b="0" i="0">
                <a:solidFill>
                  <a:srgbClr val="1A1A1A"/>
                </a:solidFill>
                <a:latin typeface="Times New Roman"/>
              </a:rPr>
              <a:t>G. Bradski, “The OpenCV library,” Dr. Dobb’s Journal of Software Tools, 2000.</a:t>
            </a:r>
          </a:p>
        </p:txBody>
      </p:sp>
      <p:sp>
        <p:nvSpPr>
          <p:cNvPr id="5" name="Rectangle 4"/>
          <p:cNvSpPr/>
          <p:nvPr/>
        </p:nvSpPr>
        <p:spPr>
          <a:xfrm>
            <a:off x="0" y="6437376"/>
            <a:ext cx="12192609" cy="420624"/>
          </a:xfrm>
          <a:prstGeom prst="rect">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9728" y="6437376"/>
            <a:ext cx="3840480" cy="420624"/>
          </a:xfrm>
          <a:prstGeom prst="rect">
            <a:avLst/>
          </a:prstGeom>
          <a:noFill/>
        </p:spPr>
        <p:txBody>
          <a:bodyPr wrap="square" anchor="ctr" lIns="18288" rIns="18288" tIns="18288" bIns="18288">
            <a:spAutoFit/>
          </a:bodyPr>
          <a:lstStyle/>
          <a:p>
            <a:pPr algn="l">
              <a:spcAft>
                <a:spcPts val="600"/>
              </a:spcAft>
            </a:pPr>
            <a:r>
              <a:rPr sz="1300" b="0" i="0">
                <a:solidFill>
                  <a:srgbClr val="FFFFFF"/>
                </a:solidFill>
                <a:latin typeface="Times New Roman"/>
              </a:rPr>
              <a:t>EEE 312 (Jan 2026) — Section B2 — Group 04</a:t>
            </a:r>
          </a:p>
        </p:txBody>
      </p:sp>
      <p:sp>
        <p:nvSpPr>
          <p:cNvPr id="7" name="TextBox 6"/>
          <p:cNvSpPr txBox="1"/>
          <p:nvPr/>
        </p:nvSpPr>
        <p:spPr>
          <a:xfrm>
            <a:off x="3749039" y="6437376"/>
            <a:ext cx="5029200" cy="420624"/>
          </a:xfrm>
          <a:prstGeom prst="rect">
            <a:avLst/>
          </a:prstGeom>
          <a:noFill/>
        </p:spPr>
        <p:txBody>
          <a:bodyPr wrap="square" anchor="ctr" lIns="18288" rIns="18288" tIns="18288" bIns="18288">
            <a:spAutoFit/>
          </a:bodyPr>
          <a:lstStyle/>
          <a:p>
            <a:pPr algn="ctr">
              <a:spcAft>
                <a:spcPts val="600"/>
              </a:spcAft>
            </a:pPr>
            <a:r>
              <a:rPr sz="1300" b="1" i="0">
                <a:solidFill>
                  <a:srgbClr val="FFFFFF"/>
                </a:solidFill>
                <a:latin typeface="Times New Roman"/>
              </a:rPr>
              <a:t>DSP &amp; Deep Learning-Based Urban Change Detection</a:t>
            </a:r>
          </a:p>
        </p:txBody>
      </p:sp>
      <p:sp>
        <p:nvSpPr>
          <p:cNvPr id="8" name="TextBox 7"/>
          <p:cNvSpPr txBox="1"/>
          <p:nvPr/>
        </p:nvSpPr>
        <p:spPr>
          <a:xfrm>
            <a:off x="8778240" y="6437376"/>
            <a:ext cx="2788920" cy="420624"/>
          </a:xfrm>
          <a:prstGeom prst="rect">
            <a:avLst/>
          </a:prstGeom>
          <a:noFill/>
        </p:spPr>
        <p:txBody>
          <a:bodyPr wrap="square" anchor="ctr" lIns="18288" rIns="18288" tIns="18288" bIns="18288">
            <a:spAutoFit/>
          </a:bodyPr>
          <a:lstStyle/>
          <a:p>
            <a:pPr algn="r">
              <a:spcAft>
                <a:spcPts val="600"/>
              </a:spcAft>
            </a:pPr>
            <a:r>
              <a:rPr sz="1300" b="1" i="1">
                <a:solidFill>
                  <a:srgbClr val="FFFF00"/>
                </a:solidFill>
                <a:latin typeface="Times New Roman"/>
              </a:rPr>
              <a:t>Presented by: 2206122</a:t>
            </a:r>
          </a:p>
        </p:txBody>
      </p:sp>
      <p:sp>
        <p:nvSpPr>
          <p:cNvPr id="9" name="TextBox 8"/>
          <p:cNvSpPr txBox="1"/>
          <p:nvPr/>
        </p:nvSpPr>
        <p:spPr>
          <a:xfrm>
            <a:off x="11594592" y="6437376"/>
            <a:ext cx="502920" cy="420624"/>
          </a:xfrm>
          <a:prstGeom prst="rect">
            <a:avLst/>
          </a:prstGeom>
          <a:noFill/>
        </p:spPr>
        <p:txBody>
          <a:bodyPr wrap="square" anchor="ctr" lIns="18288" rIns="18288" tIns="18288" bIns="18288">
            <a:spAutoFit/>
          </a:bodyPr>
          <a:lstStyle/>
          <a:p>
            <a:pPr algn="r">
              <a:spcAft>
                <a:spcPts val="600"/>
              </a:spcAft>
            </a:pPr>
            <a:fld id="{FB35DAC8-9832-4B76-B6A2-70E9515F9816}" type="slidenum">
              <a:rPr lang="en-US" sz="1300" b="1">
                <a:solidFill>
                  <a:srgbClr val="FFFFFF"/>
                </a:solidFill>
                <a:latin typeface="Times New Roman"/>
              </a:rPr>
              <a:t>‹#›</a:t>
            </a:fld>
          </a:p>
        </p:txBody>
      </p:sp>
    </p:spTree>
  </p:cSld>
  <p:clrMapOvr>
    <a:masterClrMapping/>
  </p:clrMapOvr>
</p:sld>
</file>

<file path=ppt/theme/theme1.xml><?xml version="1.0" encoding="utf-8"?>
<a:theme xmlns:a="http://schemas.openxmlformats.org/drawingml/2006/main" name="Office Theme">
  <a:themeElements>
    <a:clrScheme name="Aspect">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374</TotalTime>
  <Words>2917</Words>
  <Application>Microsoft Macintosh PowerPoint</Application>
  <PresentationFormat>Widescreen</PresentationFormat>
  <Paragraphs>356</Paragraphs>
  <Slides>21</Slides>
  <Notes>15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21</vt:i4>
      </vt:variant>
    </vt:vector>
  </HeadingPairs>
  <TitlesOfParts>
    <vt:vector size="34" baseType="lpstr">
      <vt:lpstr>Andalus</vt:lpstr>
      <vt:lpstr>Angsana New</vt:lpstr>
      <vt:lpstr>Aparajita</vt:lpstr>
      <vt:lpstr>Aptos</vt:lpstr>
      <vt:lpstr>Arial</vt:lpstr>
      <vt:lpstr>Arial Narrow</vt:lpstr>
      <vt:lpstr>Cambria</vt:lpstr>
      <vt:lpstr>Cambria Math</vt:lpstr>
      <vt:lpstr>Century Gothic</vt:lpstr>
      <vt:lpstr>Noto Serif KR Black</vt:lpstr>
      <vt:lpstr>Times New Roman</vt:lpstr>
      <vt:lpstr>Wingdings</vt:lpstr>
      <vt:lpstr>Office Theme</vt:lpstr>
      <vt:lpstr>Digital Signal Processing and Deep Learning-Based Urban Change Detection Using Satellite Imagery</vt:lpstr>
      <vt:lpstr>Outline</vt:lpstr>
      <vt:lpstr>1.Abstract</vt:lpstr>
      <vt:lpstr>2.Introduction</vt:lpstr>
      <vt:lpstr>3.1 Design: Literature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3.2.4 Design Methods:The Siamese U-Net Architecture</vt:lpstr>
      <vt:lpstr>.</vt:lpstr>
      <vt:lpstr>3.3 Design: Training and Inference</vt:lpstr>
      <vt:lpstr>.</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2206119 - Md. Ahasan Habib Kawsar</cp:lastModifiedBy>
  <cp:revision>96</cp:revision>
  <cp:lastPrinted>2026-09-29T06:32:06Z</cp:lastPrinted>
  <dcterms:created xsi:type="dcterms:W3CDTF">2026-09-17T11:20:37Z</dcterms:created>
  <dcterms:modified xsi:type="dcterms:W3CDTF">2026-09-29T07:13:29Z</dcterms:modified>
</cp:coreProperties>
</file>